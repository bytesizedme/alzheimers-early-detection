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8.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000ee08-9da8-8f03-ddab-59d232c4bbe9}">
          <p14:sldIdLst>
            <p14:sldId id="256"/>
            <p14:sldId id="257"/>
          </p14:sldIdLst>
        </p14:section>
        <p14:section name="Malhar Srivatsav" id="{49e29e83-b335-779c-53b2-301c6eafd574}">
          <p14:sldIdLst>
            <p14:sldId id="258"/>
            <p14:sldId id="259"/>
          </p14:sldIdLst>
        </p14:section>
        <p14:section name="Sathwik Hejamady Bhat" id="{1cb32254-b525-0ebb-ec77-a7badfd26709}">
          <p14:sldIdLst>
            <p14:sldId id="260"/>
            <p14:sldId id="261"/>
          </p14:sldIdLst>
        </p14:section>
        <p14:section name="Harit Raval" id="{9b34469b-483a-0629-3e47-0b55dc8ea815}">
          <p14:sldIdLst>
            <p14:sldId id="262"/>
            <p14:sldId id="263"/>
          </p14:sldIdLst>
        </p14:section>
        <p14:section name="Shreya Jain" id="{d9d137dc-d1f9-450d-c816-26a5ea8384bc}">
          <p14:sldIdLst>
            <p14:sldId id="264"/>
            <p14:sldId id="265"/>
          </p14:sldIdLst>
        </p14:section>
        <p14:section name="Taneesha Rajiv Prasad" id="{371cd494-7a63-de18-4f7f-9226068861a5}">
          <p14:sldIdLst>
            <p14:sldId id="266"/>
            <p14:sldId id="267"/>
          </p14:sldIdLst>
        </p14:section>
        <p14:section name="Nithyashree Hebbar" id="{de0c61c9-830b-4352-1ab3-6d2e4b297fcc}">
          <p14:sldIdLst>
            <p14:sldId id="268"/>
            <p14:sldId id="269"/>
          </p14:sldIdLst>
        </p14:section>
        <p14:section name="Arshi Garg" id="{21d6e99f-e06c-f67a-d93b-ce209de8b641}">
          <p14:sldIdLst>
            <p14:sldId id="270"/>
            <p14:sldId id="271"/>
          </p14:sldIdLst>
        </p14:section>
        <p14:section name="Closing" id="{4c63f239-a6b1-e764-68a4-d05f6f28fefe}">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Slices</c:v>
                </c:pt>
              </c:strCache>
            </c:strRef>
          </c:tx>
          <c:spPr>
            <a:solidFill>
              <a:srgbClr val="34D399"/>
            </a:solidFill>
            <a:effectLst/>
          </c:spPr>
          <c:invertIfNegative val="0"/>
          <c:dLbls>
            <c:numFmt formatCode="#,##0" sourceLinked="0"/>
            <c:txPr>
              <a:bodyPr/>
              <a:lstStyle/>
              <a:p>
                <a:pPr>
                  <a:defRPr b="0" i="0" strike="noStrike" sz="1600" u="none">
                    <a:solidFill>
                      <a:srgbClr val="F4F1F4"/>
                    </a:solidFill>
                    <a:latin typeface="+mn-lt"/>
                  </a:defRPr>
                </a:pPr>
              </a:p>
            </c:txPr>
            <c:showLegendKey val="0"/>
            <c:showVal val="1"/>
            <c:showCatName val="0"/>
            <c:showSerName val="0"/>
            <c:showPercent val="0"/>
            <c:showBubbleSize val="0"/>
            <c:showLeaderLines val="0"/>
          </c:dLbls>
          <c:dPt>
            <c:idx val="0"/>
            <c:invertIfNegative val="0"/>
            <c:bubble3D val="0"/>
            <c:spPr>
              <a:solidFill>
                <a:srgbClr val="34D399"/>
              </a:solidFill>
              <a:effectLst/>
            </c:spPr>
          </c:dPt>
          <c:dPt>
            <c:idx val="1"/>
            <c:invertIfNegative val="0"/>
            <c:bubble3D val="0"/>
            <c:spPr>
              <a:solidFill>
                <a:srgbClr val="FBBF24"/>
              </a:solidFill>
              <a:effectLst/>
            </c:spPr>
          </c:dPt>
          <c:dPt>
            <c:idx val="2"/>
            <c:invertIfNegative val="0"/>
            <c:bubble3D val="0"/>
            <c:spPr>
              <a:solidFill>
                <a:srgbClr val="FB923C"/>
              </a:solidFill>
              <a:effectLst/>
            </c:spPr>
          </c:dPt>
          <c:dPt>
            <c:idx val="3"/>
            <c:invertIfNegative val="0"/>
            <c:bubble3D val="0"/>
            <c:spPr>
              <a:solidFill>
                <a:srgbClr val="F43F5E"/>
              </a:solidFill>
              <a:effectLst/>
            </c:spPr>
          </c:dPt>
          <c:cat>
            <c:multiLvlStrRef>
              <c:f>Sheet1!$A$2:$A$5</c:f>
              <c:multiLvlStrCache>
                <c:ptCount val="4"/>
                <c:lvl>
                  <c:pt idx="0">
                    <c:v>NC</c:v>
                  </c:pt>
                  <c:pt idx="1">
                    <c:v>EMCI</c:v>
                  </c:pt>
                  <c:pt idx="2">
                    <c:v>LMCI</c:v>
                  </c:pt>
                  <c:pt idx="3">
                    <c:v>AD</c:v>
                  </c:pt>
                </c:lvl>
              </c:multiLvlStrCache>
            </c:multiLvlStrRef>
          </c:cat>
          <c:val>
            <c:numRef>
              <c:f>Sheet1!$B$2:$B$5</c:f>
              <c:numCache>
                <c:formatCode>General</c:formatCode>
                <c:ptCount val="4"/>
                <c:pt idx="0">
                  <c:v>120</c:v>
                </c:pt>
                <c:pt idx="1">
                  <c:v>74</c:v>
                </c:pt>
                <c:pt idx="2">
                  <c:v>54</c:v>
                </c:pt>
                <c:pt idx="3">
                  <c:v>37</c:v>
                </c:pt>
              </c:numCache>
            </c:numRef>
          </c:val>
        </c:ser>
        <c:dLbls>
          <c:numFmt formatCode="#,##0" sourceLinked="0"/>
          <c:txPr>
            <a:bodyPr/>
            <a:lstStyle/>
            <a:p>
              <a:pPr>
                <a:defRPr b="0" i="0" strike="noStrike" sz="1600" u="none">
                  <a:solidFill>
                    <a:srgbClr val="F4F1F4"/>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B3A9B4"/>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B3A9B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F4F1F4"/>
                </a:solidFill>
                <a:latin typeface="+mj-lt"/>
              </a:defRPr>
            </a:pPr>
            <a:r>
              <a:rPr sz="1500" b="0" i="0" u="none" strike="noStrike">
                <a:solidFill>
                  <a:srgbClr val="F4F1F4"/>
                </a:solidFill>
                <a:latin typeface="+mj-lt"/>
              </a:rPr>
              <a:t>Imputed variance ÷ true variance (ideal: 1.0)</a:t>
            </a:r>
          </a:p>
        </c:rich>
      </c:tx>
      <c:layout/>
      <c:overlay val="0"/>
    </c:title>
    <c:autoTitleDeleted val="0"/>
    <c:plotArea>
      <c:layout/>
      <c:barChart>
        <c:barDir val="bar"/>
        <c:grouping val="clustered"/>
        <c:varyColors val="0"/>
        <c:ser>
          <c:idx val="0"/>
          <c:order val="0"/>
          <c:tx>
            <c:strRef>
              <c:f>Sheet1!$B$1</c:f>
              <c:strCache>
                <c:ptCount val="1"/>
                <c:pt idx="0">
                  <c:v>Variance ratio</c:v>
                </c:pt>
              </c:strCache>
            </c:strRef>
          </c:tx>
          <c:spPr>
            <a:solidFill>
              <a:srgbClr val="8E7F91"/>
            </a:solidFill>
            <a:effectLst/>
          </c:spPr>
          <c:invertIfNegative val="0"/>
          <c:dLbls>
            <c:numFmt formatCode="0.00" sourceLinked="0"/>
            <c:txPr>
              <a:bodyPr/>
              <a:lstStyle/>
              <a:p>
                <a:pPr>
                  <a:defRPr b="0" i="0" strike="noStrike" sz="1200" u="none">
                    <a:solidFill>
                      <a:srgbClr val="F4F1F4"/>
                    </a:solidFill>
                    <a:latin typeface="+mn-lt"/>
                  </a:defRPr>
                </a:pPr>
              </a:p>
            </c:txPr>
            <c:showLegendKey val="0"/>
            <c:showVal val="1"/>
            <c:showCatName val="0"/>
            <c:showSerName val="0"/>
            <c:showPercent val="0"/>
            <c:showBubbleSize val="0"/>
            <c:showLeaderLines val="0"/>
          </c:dLbls>
          <c:dPt>
            <c:idx val="0"/>
            <c:invertIfNegative val="0"/>
            <c:bubble3D val="0"/>
            <c:spPr>
              <a:solidFill>
                <a:srgbClr val="8E7F91"/>
              </a:solidFill>
              <a:effectLst/>
            </c:spPr>
          </c:dPt>
          <c:dPt>
            <c:idx val="1"/>
            <c:invertIfNegative val="0"/>
            <c:bubble3D val="0"/>
            <c:spPr>
              <a:solidFill>
                <a:srgbClr val="8E7F91"/>
              </a:solidFill>
              <a:effectLst/>
            </c:spPr>
          </c:dPt>
          <c:dPt>
            <c:idx val="2"/>
            <c:invertIfNegative val="0"/>
            <c:bubble3D val="0"/>
            <c:spPr>
              <a:solidFill>
                <a:srgbClr val="8E7F91"/>
              </a:solidFill>
              <a:effectLst/>
            </c:spPr>
          </c:dPt>
          <c:dPt>
            <c:idx val="3"/>
            <c:invertIfNegative val="0"/>
            <c:bubble3D val="0"/>
            <c:spPr>
              <a:solidFill>
                <a:srgbClr val="C99BDB"/>
              </a:solidFill>
              <a:effectLst/>
            </c:spPr>
          </c:dPt>
          <c:dPt>
            <c:idx val="4"/>
            <c:invertIfNegative val="0"/>
            <c:bubble3D val="0"/>
            <c:spPr>
              <a:solidFill>
                <a:srgbClr val="C99BDB"/>
              </a:solidFill>
              <a:effectLst/>
            </c:spPr>
          </c:dPt>
          <c:cat>
            <c:multiLvlStrRef>
              <c:f>Sheet1!$A$2:$A$6</c:f>
              <c:multiLvlStrCache>
                <c:ptCount val="5"/>
                <c:lvl>
                  <c:pt idx="0">
                    <c:v>Column mean</c:v>
                  </c:pt>
                  <c:pt idx="1">
                    <c:v>KNN (k=5)</c:v>
                  </c:pt>
                  <c:pt idx="2">
                    <c:v>Class mean*</c:v>
                  </c:pt>
                  <c:pt idx="3">
                    <c:v>Hot-deck, global</c:v>
                  </c:pt>
                  <c:pt idx="4">
                    <c:v>Hot-deck, class</c:v>
                  </c:pt>
                </c:lvl>
              </c:multiLvlStrCache>
            </c:multiLvlStrRef>
          </c:cat>
          <c:val>
            <c:numRef>
              <c:f>Sheet1!$B$2:$B$6</c:f>
              <c:numCache>
                <c:formatCode>General</c:formatCode>
                <c:ptCount val="5"/>
                <c:pt idx="0">
                  <c:v>0</c:v>
                </c:pt>
                <c:pt idx="1">
                  <c:v>0.5</c:v>
                </c:pt>
                <c:pt idx="2">
                  <c:v>0.57</c:v>
                </c:pt>
                <c:pt idx="3">
                  <c:v>1.01</c:v>
                </c:pt>
                <c:pt idx="4">
                  <c:v>1.04</c:v>
                </c:pt>
              </c:numCache>
            </c:numRef>
          </c:val>
        </c:ser>
        <c:dLbls>
          <c:numFmt formatCode="0.00" sourceLinked="0"/>
          <c:txPr>
            <a:bodyPr/>
            <a:lstStyle/>
            <a:p>
              <a:pPr>
                <a:defRPr b="0" i="0" strike="noStrike" sz="1200" u="none">
                  <a:solidFill>
                    <a:srgbClr val="F4F1F4"/>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B3A9B4"/>
                </a:solidFill>
                <a:latin typeface="+mn-lt"/>
              </a:defRPr>
            </a:pPr>
            <a:endParaRPr lang="en-US"/>
          </a:p>
        </c:txPr>
        <c:crossAx val="2094734552"/>
        <c:crosses val="autoZero"/>
        <c:auto val="1"/>
        <c:lblAlgn val="ctr"/>
        <c:noMultiLvlLbl val="1"/>
      </c:catAx>
      <c:valAx>
        <c:axId val="2094734552"/>
        <c:scaling>
          <c:orientation val="minMax"/>
          <c:max val="1.25"/>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B3A9B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F4F1F4"/>
                </a:solidFill>
                <a:latin typeface="+mj-lt"/>
              </a:defRPr>
            </a:pPr>
            <a:r>
              <a:rPr sz="1500" b="0" i="0" u="none" strike="noStrike">
                <a:solidFill>
                  <a:srgbClr val="F4F1F4"/>
                </a:solidFill>
                <a:latin typeface="+mj-lt"/>
              </a:rPr>
              <a:t>Downstream macro F1, 30 splits</a:t>
            </a:r>
          </a:p>
        </c:rich>
      </c:tx>
      <c:layout/>
      <c:overlay val="0"/>
    </c:title>
    <c:autoTitleDeleted val="0"/>
    <c:plotArea>
      <c:layout/>
      <c:barChart>
        <c:barDir val="bar"/>
        <c:grouping val="clustered"/>
        <c:varyColors val="0"/>
        <c:ser>
          <c:idx val="0"/>
          <c:order val="0"/>
          <c:tx>
            <c:strRef>
              <c:f>Sheet1!$B$1</c:f>
              <c:strCache>
                <c:ptCount val="1"/>
                <c:pt idx="0">
                  <c:v>Macro F1</c:v>
                </c:pt>
              </c:strCache>
            </c:strRef>
          </c:tx>
          <c:spPr>
            <a:solidFill>
              <a:srgbClr val="8E7F91"/>
            </a:solidFill>
            <a:effectLst/>
          </c:spPr>
          <c:invertIfNegative val="0"/>
          <c:dLbls>
            <c:numFmt formatCode="0.000" sourceLinked="0"/>
            <c:txPr>
              <a:bodyPr/>
              <a:lstStyle/>
              <a:p>
                <a:pPr>
                  <a:defRPr b="0" i="0" strike="noStrike" sz="1200" u="none">
                    <a:solidFill>
                      <a:srgbClr val="F4F1F4"/>
                    </a:solidFill>
                    <a:latin typeface="+mn-lt"/>
                  </a:defRPr>
                </a:pPr>
              </a:p>
            </c:txPr>
            <c:showLegendKey val="0"/>
            <c:showVal val="1"/>
            <c:showCatName val="0"/>
            <c:showSerName val="0"/>
            <c:showPercent val="0"/>
            <c:showBubbleSize val="0"/>
            <c:showLeaderLines val="0"/>
          </c:dLbls>
          <c:dPt>
            <c:idx val="0"/>
            <c:invertIfNegative val="0"/>
            <c:bubble3D val="0"/>
            <c:spPr>
              <a:solidFill>
                <a:srgbClr val="8E7F91"/>
              </a:solidFill>
              <a:effectLst/>
            </c:spPr>
          </c:dPt>
          <c:dPt>
            <c:idx val="1"/>
            <c:invertIfNegative val="0"/>
            <c:bubble3D val="0"/>
            <c:spPr>
              <a:solidFill>
                <a:srgbClr val="8E7F91"/>
              </a:solidFill>
              <a:effectLst/>
            </c:spPr>
          </c:dPt>
          <c:dPt>
            <c:idx val="2"/>
            <c:invertIfNegative val="0"/>
            <c:bubble3D val="0"/>
            <c:spPr>
              <a:solidFill>
                <a:srgbClr val="8E7F91"/>
              </a:solidFill>
              <a:effectLst/>
            </c:spPr>
          </c:dPt>
          <c:dPt>
            <c:idx val="3"/>
            <c:invertIfNegative val="0"/>
            <c:bubble3D val="0"/>
            <c:spPr>
              <a:solidFill>
                <a:srgbClr val="C99BDB"/>
              </a:solidFill>
              <a:effectLst/>
            </c:spPr>
          </c:dPt>
          <c:cat>
            <c:multiLvlStrRef>
              <c:f>Sheet1!$A$2:$A$5</c:f>
              <c:multiLvlStrCache>
                <c:ptCount val="4"/>
                <c:lvl>
                  <c:pt idx="0">
                    <c:v>None</c:v>
                  </c:pt>
                  <c:pt idx="1">
                    <c:v>Class weights</c:v>
                  </c:pt>
                  <c:pt idx="2">
                    <c:v>Random oversampling</c:v>
                  </c:pt>
                  <c:pt idx="3">
                    <c:v>ADASYN</c:v>
                  </c:pt>
                </c:lvl>
              </c:multiLvlStrCache>
            </c:multiLvlStrRef>
          </c:cat>
          <c:val>
            <c:numRef>
              <c:f>Sheet1!$B$2:$B$5</c:f>
              <c:numCache>
                <c:formatCode>General</c:formatCode>
                <c:ptCount val="4"/>
                <c:pt idx="0">
                  <c:v>0.854</c:v>
                </c:pt>
                <c:pt idx="1">
                  <c:v>0.854</c:v>
                </c:pt>
                <c:pt idx="2">
                  <c:v>0.856</c:v>
                </c:pt>
                <c:pt idx="3">
                  <c:v>0.852</c:v>
                </c:pt>
              </c:numCache>
            </c:numRef>
          </c:val>
        </c:ser>
        <c:dLbls>
          <c:numFmt formatCode="0.000" sourceLinked="0"/>
          <c:txPr>
            <a:bodyPr/>
            <a:lstStyle/>
            <a:p>
              <a:pPr>
                <a:defRPr b="0" i="0" strike="noStrike" sz="1200" u="none">
                  <a:solidFill>
                    <a:srgbClr val="F4F1F4"/>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B3A9B4"/>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B3A9B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F4F1F4"/>
                </a:solidFill>
                <a:latin typeface="+mj-lt"/>
              </a:defRPr>
            </a:pPr>
            <a:r>
              <a:rPr sz="1500" b="0" i="0" u="none" strike="noStrike">
                <a:solidFill>
                  <a:srgbClr val="F4F1F4"/>
                </a:solidFill>
                <a:latin typeface="+mj-lt"/>
              </a:rPr>
              <a:t>Accuracy by test set</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8E7F91"/>
            </a:solidFill>
            <a:effectLst/>
          </c:spPr>
          <c:invertIfNegative val="0"/>
          <c:dLbls>
            <c:numFmt formatCode="0.0%" sourceLinked="0"/>
            <c:txPr>
              <a:bodyPr/>
              <a:lstStyle/>
              <a:p>
                <a:pPr>
                  <a:defRPr b="0" i="0" strike="noStrike" sz="1400" u="none">
                    <a:solidFill>
                      <a:srgbClr val="F4F1F4"/>
                    </a:solidFill>
                    <a:latin typeface="+mn-lt"/>
                  </a:defRPr>
                </a:pPr>
              </a:p>
            </c:txPr>
            <c:showLegendKey val="0"/>
            <c:showVal val="1"/>
            <c:showCatName val="0"/>
            <c:showSerName val="0"/>
            <c:showPercent val="0"/>
            <c:showBubbleSize val="0"/>
            <c:showLeaderLines val="0"/>
          </c:dLbls>
          <c:dPt>
            <c:idx val="0"/>
            <c:invertIfNegative val="0"/>
            <c:bubble3D val="0"/>
            <c:spPr>
              <a:solidFill>
                <a:srgbClr val="8E7F91"/>
              </a:solidFill>
              <a:effectLst/>
            </c:spPr>
          </c:dPt>
          <c:dPt>
            <c:idx val="1"/>
            <c:invertIfNegative val="0"/>
            <c:bubble3D val="0"/>
            <c:spPr>
              <a:solidFill>
                <a:srgbClr val="C99BDB"/>
              </a:solidFill>
              <a:effectLst/>
            </c:spPr>
          </c:dPt>
          <c:dPt>
            <c:idx val="2"/>
            <c:invertIfNegative val="0"/>
            <c:bubble3D val="0"/>
            <c:spPr>
              <a:solidFill>
                <a:srgbClr val="C99BDB"/>
              </a:solidFill>
              <a:effectLst/>
            </c:spPr>
          </c:dPt>
          <c:dPt>
            <c:idx val="3"/>
            <c:invertIfNegative val="0"/>
            <c:bubble3D val="0"/>
            <c:spPr>
              <a:solidFill>
                <a:srgbClr val="C99BDB"/>
              </a:solidFill>
              <a:effectLst/>
            </c:spPr>
          </c:dPt>
          <c:dPt>
            <c:idx val="4"/>
            <c:invertIfNegative val="0"/>
            <c:bubble3D val="0"/>
            <c:spPr>
              <a:solidFill>
                <a:srgbClr val="34D399"/>
              </a:solidFill>
              <a:effectLst/>
            </c:spPr>
          </c:dPt>
          <c:cat>
            <c:multiLvlStrRef>
              <c:f>Sheet1!$A$2:$A$6</c:f>
              <c:multiLvlStrCache>
                <c:ptCount val="5"/>
                <c:lvl>
                  <c:pt idx="0">
                    <c:v>Reported split (n=43)</c:v>
                  </c:pt>
                  <c:pt idx="1">
                    <c:v>Seed 101</c:v>
                  </c:pt>
                  <c:pt idx="2">
                    <c:v>Seed 102</c:v>
                  </c:pt>
                  <c:pt idx="3">
                    <c:v>Seed 103</c:v>
                  </c:pt>
                  <c:pt idx="4">
                    <c:v>Pooled (n=1,065)</c:v>
                  </c:pt>
                </c:lvl>
              </c:multiLvlStrCache>
            </c:multiLvlStrRef>
          </c:cat>
          <c:val>
            <c:numRef>
              <c:f>Sheet1!$B$2:$B$6</c:f>
              <c:numCache>
                <c:formatCode>General</c:formatCode>
                <c:ptCount val="5"/>
                <c:pt idx="0">
                  <c:v>0.953</c:v>
                </c:pt>
                <c:pt idx="1">
                  <c:v>0.986</c:v>
                </c:pt>
                <c:pt idx="2">
                  <c:v>0.975</c:v>
                </c:pt>
                <c:pt idx="3">
                  <c:v>0.975</c:v>
                </c:pt>
                <c:pt idx="4">
                  <c:v>0.978</c:v>
                </c:pt>
              </c:numCache>
            </c:numRef>
          </c:val>
        </c:ser>
        <c:dLbls>
          <c:numFmt formatCode="0.0%" sourceLinked="0"/>
          <c:txPr>
            <a:bodyPr/>
            <a:lstStyle/>
            <a:p>
              <a:pPr>
                <a:defRPr b="0" i="0" strike="noStrike" sz="1400" u="none">
                  <a:solidFill>
                    <a:srgbClr val="F4F1F4"/>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B3A9B4"/>
                </a:solidFill>
                <a:latin typeface="+mn-lt"/>
              </a:defRPr>
            </a:pPr>
            <a:endParaRPr lang="en-US"/>
          </a:p>
        </c:txPr>
        <c:crossAx val="2094734552"/>
        <c:crosses val="autoZero"/>
        <c:auto val="1"/>
        <c:lblAlgn val="ctr"/>
        <c:noMultiLvlLbl val="1"/>
      </c:catAx>
      <c:valAx>
        <c:axId val="2094734552"/>
        <c:scaling>
          <c:orientation val="minMax"/>
          <c:max val="1.2"/>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B3A9B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F4F1F4"/>
                </a:solidFill>
                <a:latin typeface="+mj-lt"/>
              </a:defRPr>
            </a:pPr>
            <a:r>
              <a:rPr sz="1500" b="0" i="0" u="none" strike="noStrike">
                <a:solidFill>
                  <a:srgbClr val="F4F1F4"/>
                </a:solidFill>
                <a:latin typeface="+mj-lt"/>
              </a:rPr>
              <a:t>Recall by stage</a:t>
            </a:r>
          </a:p>
        </c:rich>
      </c:tx>
      <c:layout/>
      <c:overlay val="0"/>
    </c:title>
    <c:autoTitleDeleted val="0"/>
    <c:plotArea>
      <c:layout/>
      <c:barChart>
        <c:barDir val="bar"/>
        <c:grouping val="clustered"/>
        <c:varyColors val="0"/>
        <c:ser>
          <c:idx val="0"/>
          <c:order val="0"/>
          <c:tx>
            <c:strRef>
              <c:f>Sheet1!$B$1</c:f>
              <c:strCache>
                <c:ptCount val="1"/>
                <c:pt idx="0">
                  <c:v>Recall</c:v>
                </c:pt>
              </c:strCache>
            </c:strRef>
          </c:tx>
          <c:spPr>
            <a:solidFill>
              <a:srgbClr val="34D399"/>
            </a:solidFill>
            <a:effectLst/>
          </c:spPr>
          <c:invertIfNegative val="0"/>
          <c:dLbls>
            <c:numFmt formatCode="0.000" sourceLinked="0"/>
            <c:txPr>
              <a:bodyPr/>
              <a:lstStyle/>
              <a:p>
                <a:pPr>
                  <a:defRPr b="0" i="0" strike="noStrike" sz="1200" u="none">
                    <a:solidFill>
                      <a:srgbClr val="F4F1F4"/>
                    </a:solidFill>
                    <a:latin typeface="+mn-lt"/>
                  </a:defRPr>
                </a:pPr>
              </a:p>
            </c:txPr>
            <c:showLegendKey val="0"/>
            <c:showVal val="1"/>
            <c:showCatName val="0"/>
            <c:showSerName val="0"/>
            <c:showPercent val="0"/>
            <c:showBubbleSize val="0"/>
            <c:showLeaderLines val="0"/>
          </c:dLbls>
          <c:dPt>
            <c:idx val="0"/>
            <c:invertIfNegative val="0"/>
            <c:bubble3D val="0"/>
            <c:spPr>
              <a:solidFill>
                <a:srgbClr val="34D399"/>
              </a:solidFill>
              <a:effectLst/>
            </c:spPr>
          </c:dPt>
          <c:dPt>
            <c:idx val="1"/>
            <c:invertIfNegative val="0"/>
            <c:bubble3D val="0"/>
            <c:spPr>
              <a:solidFill>
                <a:srgbClr val="FBBF24"/>
              </a:solidFill>
              <a:effectLst/>
            </c:spPr>
          </c:dPt>
          <c:dPt>
            <c:idx val="2"/>
            <c:invertIfNegative val="0"/>
            <c:bubble3D val="0"/>
            <c:spPr>
              <a:solidFill>
                <a:srgbClr val="FB923C"/>
              </a:solidFill>
              <a:effectLst/>
            </c:spPr>
          </c:dPt>
          <c:dPt>
            <c:idx val="3"/>
            <c:invertIfNegative val="0"/>
            <c:bubble3D val="0"/>
            <c:spPr>
              <a:solidFill>
                <a:srgbClr val="F43F5E"/>
              </a:solidFill>
              <a:effectLst/>
            </c:spPr>
          </c:dPt>
          <c:cat>
            <c:multiLvlStrRef>
              <c:f>Sheet1!$A$2:$A$5</c:f>
              <c:multiLvlStrCache>
                <c:ptCount val="4"/>
                <c:lvl>
                  <c:pt idx="0">
                    <c:v>NC</c:v>
                  </c:pt>
                  <c:pt idx="1">
                    <c:v>EMCI</c:v>
                  </c:pt>
                  <c:pt idx="2">
                    <c:v>LMCI</c:v>
                  </c:pt>
                  <c:pt idx="3">
                    <c:v>AD</c:v>
                  </c:pt>
                </c:lvl>
              </c:multiLvlStrCache>
            </c:multiLvlStrRef>
          </c:cat>
          <c:val>
            <c:numRef>
              <c:f>Sheet1!$B$2:$B$5</c:f>
              <c:numCache>
                <c:formatCode>General</c:formatCode>
                <c:ptCount val="4"/>
                <c:pt idx="0">
                  <c:v>0.993</c:v>
                </c:pt>
                <c:pt idx="1">
                  <c:v>0.931</c:v>
                </c:pt>
                <c:pt idx="2">
                  <c:v>1</c:v>
                </c:pt>
                <c:pt idx="3">
                  <c:v>0.993</c:v>
                </c:pt>
              </c:numCache>
            </c:numRef>
          </c:val>
        </c:ser>
        <c:dLbls>
          <c:numFmt formatCode="0.000" sourceLinked="0"/>
          <c:txPr>
            <a:bodyPr/>
            <a:lstStyle/>
            <a:p>
              <a:pPr>
                <a:defRPr b="0" i="0" strike="noStrike" sz="1200" u="none">
                  <a:solidFill>
                    <a:srgbClr val="F4F1F4"/>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B3A9B4"/>
                </a:solidFill>
                <a:latin typeface="+mn-lt"/>
              </a:defRPr>
            </a:pPr>
            <a:endParaRPr lang="en-US"/>
          </a:p>
        </c:txPr>
        <c:crossAx val="2094734552"/>
        <c:crosses val="autoZero"/>
        <c:auto val="1"/>
        <c:lblAlgn val="ctr"/>
        <c:noMultiLvlLbl val="1"/>
      </c:catAx>
      <c:valAx>
        <c:axId val="2094734552"/>
        <c:scaling>
          <c:orientation val="minMax"/>
          <c:max val="1.1"/>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B3A9B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F4F1F4"/>
                </a:solidFill>
                <a:latin typeface="+mj-lt"/>
              </a:defRPr>
            </a:pPr>
            <a:r>
              <a:rPr sz="1500" b="0" i="0" u="none" strike="noStrike">
                <a:solidFill>
                  <a:srgbClr val="F4F1F4"/>
                </a:solidFill>
                <a:latin typeface="+mj-lt"/>
              </a:rPr>
              <a:t>Macro F1 on 355 slices after each degradation</a:t>
            </a:r>
          </a:p>
        </c:rich>
      </c:tx>
      <c:layout/>
      <c:overlay val="0"/>
    </c:title>
    <c:autoTitleDeleted val="0"/>
    <c:plotArea>
      <c:layout/>
      <c:barChart>
        <c:barDir val="bar"/>
        <c:grouping val="clustered"/>
        <c:varyColors val="0"/>
        <c:ser>
          <c:idx val="0"/>
          <c:order val="0"/>
          <c:tx>
            <c:strRef>
              <c:f>Sheet1!$B$1</c:f>
              <c:strCache>
                <c:ptCount val="1"/>
                <c:pt idx="0">
                  <c:v>Macro F1</c:v>
                </c:pt>
              </c:strCache>
            </c:strRef>
          </c:tx>
          <c:spPr>
            <a:solidFill>
              <a:srgbClr val="34D399"/>
            </a:solidFill>
            <a:effectLst/>
          </c:spPr>
          <c:invertIfNegative val="0"/>
          <c:dLbls>
            <c:numFmt formatCode="0.000" sourceLinked="0"/>
            <c:txPr>
              <a:bodyPr/>
              <a:lstStyle/>
              <a:p>
                <a:pPr>
                  <a:defRPr b="0" i="0" strike="noStrike" sz="1200" u="none">
                    <a:solidFill>
                      <a:srgbClr val="F4F1F4"/>
                    </a:solidFill>
                    <a:latin typeface="+mn-lt"/>
                  </a:defRPr>
                </a:pPr>
              </a:p>
            </c:txPr>
            <c:showLegendKey val="0"/>
            <c:showVal val="1"/>
            <c:showCatName val="0"/>
            <c:showSerName val="0"/>
            <c:showPercent val="0"/>
            <c:showBubbleSize val="0"/>
            <c:showLeaderLines val="0"/>
          </c:dLbls>
          <c:dPt>
            <c:idx val="0"/>
            <c:invertIfNegative val="0"/>
            <c:bubble3D val="0"/>
            <c:spPr>
              <a:solidFill>
                <a:srgbClr val="34D399"/>
              </a:solidFill>
              <a:effectLst/>
            </c:spPr>
          </c:dPt>
          <c:dPt>
            <c:idx val="1"/>
            <c:invertIfNegative val="0"/>
            <c:bubble3D val="0"/>
            <c:spPr>
              <a:solidFill>
                <a:srgbClr val="34D399"/>
              </a:solidFill>
              <a:effectLst/>
            </c:spPr>
          </c:dPt>
          <c:dPt>
            <c:idx val="2"/>
            <c:invertIfNegative val="0"/>
            <c:bubble3D val="0"/>
            <c:spPr>
              <a:solidFill>
                <a:srgbClr val="34D399"/>
              </a:solidFill>
              <a:effectLst/>
            </c:spPr>
          </c:dPt>
          <c:dPt>
            <c:idx val="3"/>
            <c:invertIfNegative val="0"/>
            <c:bubble3D val="0"/>
            <c:spPr>
              <a:solidFill>
                <a:srgbClr val="FBBF24"/>
              </a:solidFill>
              <a:effectLst/>
            </c:spPr>
          </c:dPt>
          <c:dPt>
            <c:idx val="4"/>
            <c:invertIfNegative val="0"/>
            <c:bubble3D val="0"/>
            <c:spPr>
              <a:solidFill>
                <a:srgbClr val="FBBF24"/>
              </a:solidFill>
              <a:effectLst/>
            </c:spPr>
          </c:dPt>
          <c:dPt>
            <c:idx val="5"/>
            <c:invertIfNegative val="0"/>
            <c:bubble3D val="0"/>
            <c:spPr>
              <a:solidFill>
                <a:srgbClr val="FBBF24"/>
              </a:solidFill>
              <a:effectLst/>
            </c:spPr>
          </c:dPt>
          <c:dPt>
            <c:idx val="6"/>
            <c:invertIfNegative val="0"/>
            <c:bubble3D val="0"/>
            <c:spPr>
              <a:solidFill>
                <a:srgbClr val="FBBF24"/>
              </a:solidFill>
              <a:effectLst/>
            </c:spPr>
          </c:dPt>
          <c:dPt>
            <c:idx val="7"/>
            <c:invertIfNegative val="0"/>
            <c:bubble3D val="0"/>
            <c:spPr>
              <a:solidFill>
                <a:srgbClr val="FBBF24"/>
              </a:solidFill>
              <a:effectLst/>
            </c:spPr>
          </c:dPt>
          <c:dPt>
            <c:idx val="8"/>
            <c:invertIfNegative val="0"/>
            <c:bubble3D val="0"/>
            <c:spPr>
              <a:solidFill>
                <a:srgbClr val="F43F5E"/>
              </a:solidFill>
              <a:effectLst/>
            </c:spPr>
          </c:dPt>
          <c:dPt>
            <c:idx val="9"/>
            <c:invertIfNegative val="0"/>
            <c:bubble3D val="0"/>
            <c:spPr>
              <a:solidFill>
                <a:srgbClr val="F43F5E"/>
              </a:solidFill>
              <a:effectLst/>
            </c:spPr>
          </c:dPt>
          <c:cat>
            <c:multiLvlStrRef>
              <c:f>Sheet1!$A$2:$A$11</c:f>
              <c:multiLvlStrCache>
                <c:ptCount val="10"/>
                <c:lvl>
                  <c:pt idx="0">
                    <c:v>Clean</c:v>
                  </c:pt>
                  <c:pt idx="1">
                    <c:v>Rotation 10°</c:v>
                  </c:pt>
                  <c:pt idx="2">
                    <c:v>Shift 20 px</c:v>
                  </c:pt>
                  <c:pt idx="3">
                    <c:v>Contrast × 0.6</c:v>
                  </c:pt>
                  <c:pt idx="4">
                    <c:v>Brightness +0.2</c:v>
                  </c:pt>
                  <c:pt idx="5">
                    <c:v>Blur σ = 2</c:v>
                  </c:pt>
                  <c:pt idx="6">
                    <c:v>JPEG quality 30</c:v>
                  </c:pt>
                  <c:pt idx="7">
                    <c:v>Noise σ = 0.05</c:v>
                  </c:pt>
                  <c:pt idx="8">
                    <c:v>Noise σ = 0.10</c:v>
                  </c:pt>
                  <c:pt idx="9">
                    <c:v>Noise σ = 0.20</c:v>
                  </c:pt>
                </c:lvl>
              </c:multiLvlStrCache>
            </c:multiLvlStrRef>
          </c:cat>
          <c:val>
            <c:numRef>
              <c:f>Sheet1!$B$2:$B$11</c:f>
              <c:numCache>
                <c:formatCode>General</c:formatCode>
                <c:ptCount val="10"/>
                <c:pt idx="0">
                  <c:v>0.987</c:v>
                </c:pt>
                <c:pt idx="1">
                  <c:v>0.965</c:v>
                </c:pt>
                <c:pt idx="2">
                  <c:v>0.968</c:v>
                </c:pt>
                <c:pt idx="3">
                  <c:v>0.947</c:v>
                </c:pt>
                <c:pt idx="4">
                  <c:v>0.942</c:v>
                </c:pt>
                <c:pt idx="5">
                  <c:v>0.822</c:v>
                </c:pt>
                <c:pt idx="6">
                  <c:v>0.807</c:v>
                </c:pt>
                <c:pt idx="7">
                  <c:v>0.919</c:v>
                </c:pt>
                <c:pt idx="8">
                  <c:v>0.648</c:v>
                </c:pt>
                <c:pt idx="9">
                  <c:v>0.443</c:v>
                </c:pt>
              </c:numCache>
            </c:numRef>
          </c:val>
        </c:ser>
        <c:dLbls>
          <c:numFmt formatCode="0.000" sourceLinked="0"/>
          <c:txPr>
            <a:bodyPr/>
            <a:lstStyle/>
            <a:p>
              <a:pPr>
                <a:defRPr b="0" i="0" strike="noStrike" sz="1200" u="none">
                  <a:solidFill>
                    <a:srgbClr val="F4F1F4"/>
                  </a:solidFill>
                  <a:latin typeface="+mn-lt"/>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B3A9B4"/>
                </a:solidFill>
                <a:latin typeface="+mn-lt"/>
              </a:defRPr>
            </a:pPr>
            <a:endParaRPr lang="en-US"/>
          </a:p>
        </c:txPr>
        <c:crossAx val="2094734552"/>
        <c:crosses val="autoZero"/>
        <c:auto val="1"/>
        <c:lblAlgn val="ctr"/>
        <c:noMultiLvlLbl val="1"/>
      </c:catAx>
      <c:valAx>
        <c:axId val="2094734552"/>
        <c:scaling>
          <c:orientation val="minMax"/>
          <c:max val="1.1"/>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B3A9B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4F1F4"/>
                </a:solidFill>
                <a:latin typeface="+mj-lt"/>
              </a:defRPr>
            </a:pPr>
            <a:r>
              <a:rPr sz="1400" b="0" i="0" u="none" strike="noStrike">
                <a:solidFill>
                  <a:srgbClr val="F4F1F4"/>
                </a:solidFill>
                <a:latin typeface="+mj-lt"/>
              </a:rPr>
              <a:t>Accuracy as coordinate noise grows</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C99BDB"/>
            </a:solidFill>
            <a:effectLst/>
          </c:spPr>
          <c:invertIfNegative val="0"/>
          <c:dLbls>
            <c:numFmt formatCode="0.0%" sourceLinked="0"/>
            <c:txPr>
              <a:bodyPr/>
              <a:lstStyle/>
              <a:p>
                <a:pPr>
                  <a:defRPr b="0" i="0" strike="noStrike" sz="1200" u="none">
                    <a:solidFill>
                      <a:srgbClr val="F4F1F4"/>
                    </a:solidFill>
                    <a:latin typeface="+mn-lt"/>
                  </a:defRPr>
                </a:pPr>
              </a:p>
            </c:txPr>
            <c:showLegendKey val="0"/>
            <c:showVal val="1"/>
            <c:showCatName val="0"/>
            <c:showSerName val="0"/>
            <c:showPercent val="0"/>
            <c:showBubbleSize val="0"/>
            <c:showLeaderLines val="0"/>
          </c:dLbls>
          <c:dPt>
            <c:idx val="0"/>
            <c:invertIfNegative val="0"/>
            <c:bubble3D val="0"/>
            <c:spPr>
              <a:solidFill>
                <a:srgbClr val="C99BDB"/>
              </a:solidFill>
              <a:effectLst/>
            </c:spPr>
          </c:dPt>
          <c:dPt>
            <c:idx val="1"/>
            <c:invertIfNegative val="0"/>
            <c:bubble3D val="0"/>
            <c:spPr>
              <a:solidFill>
                <a:srgbClr val="C99BDB"/>
              </a:solidFill>
              <a:effectLst/>
            </c:spPr>
          </c:dPt>
          <c:dPt>
            <c:idx val="2"/>
            <c:invertIfNegative val="0"/>
            <c:bubble3D val="0"/>
            <c:spPr>
              <a:solidFill>
                <a:srgbClr val="C99BDB"/>
              </a:solidFill>
              <a:effectLst/>
            </c:spPr>
          </c:dPt>
          <c:dPt>
            <c:idx val="3"/>
            <c:invertIfNegative val="0"/>
            <c:bubble3D val="0"/>
            <c:spPr>
              <a:solidFill>
                <a:srgbClr val="C99BDB"/>
              </a:solidFill>
              <a:effectLst/>
            </c:spPr>
          </c:dPt>
          <c:dPt>
            <c:idx val="4"/>
            <c:invertIfNegative val="0"/>
            <c:bubble3D val="0"/>
            <c:spPr>
              <a:solidFill>
                <a:srgbClr val="F43F5E"/>
              </a:solidFill>
              <a:effectLst/>
            </c:spPr>
          </c:dPt>
          <c:cat>
            <c:multiLvlStrRef>
              <c:f>Sheet1!$A$2:$A$6</c:f>
              <c:multiLvlStrCache>
                <c:ptCount val="5"/>
                <c:lvl>
                  <c:pt idx="0">
                    <c:v>Clean</c:v>
                  </c:pt>
                  <c:pt idx="1">
                    <c:v>0.5 px</c:v>
                  </c:pt>
                  <c:pt idx="2">
                    <c:v>1 px</c:v>
                  </c:pt>
                  <c:pt idx="3">
                    <c:v>2 px</c:v>
                  </c:pt>
                  <c:pt idx="4">
                    <c:v>4 px</c:v>
                  </c:pt>
                </c:lvl>
              </c:multiLvlStrCache>
            </c:multiLvlStrRef>
          </c:cat>
          <c:val>
            <c:numRef>
              <c:f>Sheet1!$B$2:$B$6</c:f>
              <c:numCache>
                <c:formatCode>General</c:formatCode>
                <c:ptCount val="5"/>
                <c:pt idx="0">
                  <c:v>0.893</c:v>
                </c:pt>
                <c:pt idx="1">
                  <c:v>0.902</c:v>
                </c:pt>
                <c:pt idx="2">
                  <c:v>0.888</c:v>
                </c:pt>
                <c:pt idx="3">
                  <c:v>0.862</c:v>
                </c:pt>
                <c:pt idx="4">
                  <c:v>0.648</c:v>
                </c:pt>
              </c:numCache>
            </c:numRef>
          </c:val>
        </c:ser>
        <c:dLbls>
          <c:numFmt formatCode="0.0%" sourceLinked="0"/>
          <c:txPr>
            <a:bodyPr/>
            <a:lstStyle/>
            <a:p>
              <a:pPr>
                <a:defRPr b="0" i="0" strike="noStrike" sz="1200" u="none">
                  <a:solidFill>
                    <a:srgbClr val="F4F1F4"/>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3A9B4"/>
                </a:solidFill>
                <a:latin typeface="+mn-lt"/>
              </a:defRPr>
            </a:pPr>
            <a:endParaRPr lang="en-US"/>
          </a:p>
        </c:txPr>
        <c:crossAx val="2094734552"/>
        <c:crosses val="autoZero"/>
        <c:auto val="1"/>
        <c:lblAlgn val="ctr"/>
        <c:noMultiLvlLbl val="1"/>
      </c:catAx>
      <c:valAx>
        <c:axId val="2094734552"/>
        <c:scaling>
          <c:orientation val="minMax"/>
          <c:max val="1.1"/>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B3A9B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F4F1F4"/>
                </a:solidFill>
                <a:latin typeface="+mj-lt"/>
              </a:defRPr>
            </a:pPr>
            <a:r>
              <a:rPr sz="1500" b="0" i="0" u="none" strike="noStrike">
                <a:solidFill>
                  <a:srgbClr val="F4F1F4"/>
                </a:solidFill>
                <a:latin typeface="+mj-lt"/>
              </a:rPr>
              <a:t>Median latency in milliseconds (4 CPU cores)</a:t>
            </a:r>
          </a:p>
        </c:rich>
      </c:tx>
      <c:layout/>
      <c:overlay val="0"/>
    </c:title>
    <c:autoTitleDeleted val="0"/>
    <c:plotArea>
      <c:layout/>
      <c:barChart>
        <c:barDir val="bar"/>
        <c:grouping val="clustered"/>
        <c:varyColors val="0"/>
        <c:ser>
          <c:idx val="0"/>
          <c:order val="0"/>
          <c:tx>
            <c:strRef>
              <c:f>Sheet1!$B$1</c:f>
              <c:strCache>
                <c:ptCount val="1"/>
                <c:pt idx="0">
                  <c:v>Median ms</c:v>
                </c:pt>
              </c:strCache>
            </c:strRef>
          </c:tx>
          <c:spPr>
            <a:solidFill>
              <a:srgbClr val="C99BDB"/>
            </a:solidFill>
            <a:effectLst/>
          </c:spPr>
          <c:invertIfNegative val="0"/>
          <c:dLbls>
            <c:numFmt formatCode="0" sourceLinked="0"/>
            <c:txPr>
              <a:bodyPr/>
              <a:lstStyle/>
              <a:p>
                <a:pPr>
                  <a:defRPr b="0" i="0" strike="noStrike" sz="1200" u="none">
                    <a:solidFill>
                      <a:srgbClr val="F4F1F4"/>
                    </a:solidFill>
                    <a:latin typeface="+mn-lt"/>
                  </a:defRPr>
                </a:pPr>
              </a:p>
            </c:txPr>
            <c:showLegendKey val="0"/>
            <c:showVal val="1"/>
            <c:showCatName val="0"/>
            <c:showSerName val="0"/>
            <c:showPercent val="0"/>
            <c:showBubbleSize val="0"/>
            <c:showLeaderLines val="0"/>
          </c:dLbls>
          <c:dPt>
            <c:idx val="0"/>
            <c:invertIfNegative val="0"/>
            <c:bubble3D val="0"/>
            <c:spPr>
              <a:solidFill>
                <a:srgbClr val="C99BDB"/>
              </a:solidFill>
              <a:effectLst/>
            </c:spPr>
          </c:dPt>
          <c:dPt>
            <c:idx val="1"/>
            <c:invertIfNegative val="0"/>
            <c:bubble3D val="0"/>
            <c:spPr>
              <a:solidFill>
                <a:srgbClr val="C99BDB"/>
              </a:solidFill>
              <a:effectLst/>
            </c:spPr>
          </c:dPt>
          <c:dPt>
            <c:idx val="2"/>
            <c:invertIfNegative val="0"/>
            <c:bubble3D val="0"/>
            <c:spPr>
              <a:solidFill>
                <a:srgbClr val="C99BDB"/>
              </a:solidFill>
              <a:effectLst/>
            </c:spPr>
          </c:dPt>
          <c:cat>
            <c:multiLvlStrRef>
              <c:f>Sheet1!$A$2:$A$4</c:f>
              <c:multiLvlStrCache>
                <c:ptCount val="3"/>
                <c:lvl>
                  <c:pt idx="0">
                    <c:v>Handwriting score</c:v>
                  </c:pt>
                  <c:pt idx="1">
                    <c:v>MRI prediction</c:v>
                  </c:pt>
                  <c:pt idx="2">
                    <c:v>Prediction + Grad-CAM</c:v>
                  </c:pt>
                </c:lvl>
              </c:multiLvlStrCache>
            </c:multiLvlStrRef>
          </c:cat>
          <c:val>
            <c:numRef>
              <c:f>Sheet1!$B$2:$B$4</c:f>
              <c:numCache>
                <c:formatCode>General</c:formatCode>
                <c:ptCount val="3"/>
                <c:pt idx="0">
                  <c:v>10</c:v>
                </c:pt>
                <c:pt idx="1">
                  <c:v>111</c:v>
                </c:pt>
                <c:pt idx="2">
                  <c:v>293</c:v>
                </c:pt>
              </c:numCache>
            </c:numRef>
          </c:val>
        </c:ser>
        <c:dLbls>
          <c:numFmt formatCode="0" sourceLinked="0"/>
          <c:txPr>
            <a:bodyPr/>
            <a:lstStyle/>
            <a:p>
              <a:pPr>
                <a:defRPr b="0" i="0" strike="noStrike" sz="1200" u="none">
                  <a:solidFill>
                    <a:srgbClr val="F4F1F4"/>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B3A9B4"/>
                </a:solidFill>
                <a:latin typeface="+mn-lt"/>
              </a:defRPr>
            </a:pPr>
            <a:endParaRPr lang="en-US"/>
          </a:p>
        </c:txPr>
        <c:crossAx val="2094734552"/>
        <c:crosses val="autoZero"/>
        <c:auto val="1"/>
        <c:lblAlgn val="ctr"/>
        <c:noMultiLvlLbl val="1"/>
      </c:catAx>
      <c:valAx>
        <c:axId val="2094734552"/>
        <c:scaling>
          <c:orientation val="minMax"/>
          <c:max val="360"/>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B3A9B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 are presenting an explainable prototype for the early detection of Alzheimer's disease, using two signals: MRI scans and handwriting. Before we start, one sentence that frames everything: all of our data is synthetic, so what we show you is how the system works and how it behaves, not how it would perform on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seven of us, and each person covers one part of the project, in pipeline order. I will explain the problem and how the system fits together. Sathwik covers the data, Harit the MRI model, Shreya the results, Taneesha the explanations and robustness, Nithyashree the handwriting module, and Arshi finishes with performance, limits and next steps. We will finish with a short live demo and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Malhar, and I'll start with why we built this. Alzheimer's does not arrive overnight. It moves through stages: normal cognition, early mild cognitive impairment, late mild cognitive impairment, and then Alzheimer's disease. The earlier we can see that shift, the more options a patient has. But there are three problems. First, the early changes in an MRI are subtle: slightly larger ventricles, slightly thinner cortex. Second, a model that only outputs a label gives a doctor nothing to check. And third, real clinical data is messy. Records have gaps, and most people in a cohort are healthy, so a lazy model can look accurate while missing the people who are ill. Our project answers each of those. A VGG19 network classifies the stage. Grad-CAM shows where it looked, and an automatic check flags a suspicious explanation. A cleaning pipeline handles missing values and class imbalance. And we added a second, cheap signal: handwriting.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it fits together. The browser talks to one FastAPI service. Behind it sit two analyzers. The MRI predictor returns stage probabilities plus a Grad-CAM map, and the handwriting analyzer scores a spiral drawing from the pen's motion. On the right is the real prototype, running. One important point before we go on: all of our data is synthetic. The MRI slices are generated phantoms, not real scans, and the drawings are simulated. So every number you will hear tells you that the pipeline works and how it behaves, not that it detects disease in patients. We state that in the paper and we will keep stating it today. Next, Sathwik will explain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Malhar. I'm Sathwik, and I'll cover the data. Getting real ADNI scans needs an application that takes weeks, so we built a generator. It draws axial phantoms where, as the stage advances, the ventricles get bigger, the cortex gets thinner and the hippocampus shrinks. You can see the four stages on the left. Alongside the images it generates a clinical table: age, MMSE, CDR, ADAS-Cog, hippocampal volume, APOE4 and CSF amyloid. Two realistic problems are built in. The classes are imbalanced, about three point two to one, with healthy controls the biggest group, as the chart shows. And values go missing more often in the later stages, which is exactly what happens in real records. If you simply delete incomplete rows, you throw away the sickest patients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handle this in two steps. First, hot-deck imputation. Every gap is filled with a real value copied from a similar complete patient, chosen among the five nearest, and from the same stage during training. We tested it by hiding twenty percent of known values and scoring the guesses. Mean imputation destroys the spread of the data. Its variance ratio is zero, and it fills Alzheimer's patients with a hippocampal volume far too large. Hot-deck keeps the variance at about one. The trade-off is that each individual guess is a little noisier. Second, ADASYN, which creates synthetic minority records. It balances the classes exactly, but when we tested it downstream over thirty splits the macro F1 did not change in any meaningful way: minus 0.002, with a spread bigger than that. So we report it as correctly implemented, but not proven useful on this data. Harit will take it from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Sathwik. I'm Harit, and I'll explain the MRI model. We did not train a network from scratch, because with a few hundred slices that is hopeless. Instead we use VGG19, pretrained on ImageNet, and keep its early layers frozen, because edges and textures are useful for any image, including the way enlarged ventricles look. We unfreeze only the last convolutional block so it can adapt to MRI texture, and we replace the old thousand-class head with a small new one: down to 512, then 256, then four outputs, one per stage, with dropout in between. In total the network has 33 million parameters, of which 22.4 million are trainable. We also swap the in-place activations for normal ones. It is a small detail, but Grad-CAM has to read those values, and in-place layers overwrite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training we used AdamW with a learning rate ten times higher for the new head than for the backbone, so the head converges without damaging the pretrained filters. The loss uses label smoothing and weights that favour the rare stages, and we pick the checkpoint by validation macro F1, not accuracy, because accuracy rewards a model that ignores Alzheimer's. Early stopping watches the same metric. Now an honest point about the checkpoint we evaluated. It was selected at the very first epoch, with a validation macro F1 of exactly one. That tells us the validation set is saturated, because synthetic phantoms are easy, so model selection carried almost no information. And we did not retrain it: every result you will see comes from running the released checkpoint. Shreya will show what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Harit. I'm Shreya, and I'll go through the benchmarks. The first question: can we trust the numbers the project already reported? We regenerated the original cohort, applied the same split, and ran the released checkpoint. We got 95.35 percent accuracy, a macro F1 of 0.9653, and a confusion matrix identical to the one in the documentation, so it reproduces exactly. But that test set is only 43 slices. So we generated three fresh cohorts the model had never seen, 1,065 slices in total, and got 97.8 percent accuracy and a macro F1 of 0.978, with a 95 percent confidence interval from 0.968 to 0.986. Every seed lands between 97.5 and 98.6 percent. So the original figure was a small-sample estimate, not a lucky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it go wrong? Of the 23 errors, every single one is between neighbouring stages. The model never confuses normal with Alzheimer's directly. The weakest class is early MCI: 14 of those slices are read as late MCI and 5 as normal. That matters because our screening metric, early-detection recall, is 0.992: five of 615 impaired slices were called normal. We also measured calibration and found something unusual. The model is underconfident. On one cohort the accuracy is 98.6 percent, but the average confidence is 91.8 percent. And the confidence is still informative: about 0.92 when it is right and 0.74 when it is wrong. So the model is cautious, not overconfident, although we have not investigated why. Now Taneesha will show how we check what the model is actually looking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Shreya. I'm Taneesha, and I'll cover explainability. A label alone invites trust; a picture invites checking. For every scan we compute a Grad-CAM map. We take the gradient of the predicted stage's score with respect to the last convolutional layer and use it to weight the feature maps, so warm regions are the ones that pushed the score up. In the interface you drag a slider to wipe between the scan and the map. You can also ask a counterfactual. On this healthy scan we asked what would make it Alzheimer's, and the map is almost entirely cold: the model finds no evidence. On top of that we built an attention audit. It measures how much of the map falls in the central half of the frame, where brain tissue is, and flags the prediction if that drops below forty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we think it is most important to be honest about. On 710 slices the audit never fired, the lowest central share was 0.587, and it did not separate right predictions from wrong ones. On clean phantoms it is a sanity check, not a detector. And when we degraded the images, performance dropped fast. Noise at 0.10 took macro F1 from 0.987 to 0.648, and blur and JPEG compression took it to around 0.81 to 0.82. Brightness and contrast shifts barely change macro F1 but cut early-detection recall to about 0.89, so impaired scans are read as normal, which is the costly direction. Here is a real miss from the prototype: a true early-MCI slice predicted normal with 78 percent confidence. The lesson is that a score on clean synthetic data says very little about messy real acquisitions. Nithyashree will now introduce our second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Taneesha. I'm Nithyashree, and I'll present the handwriting module. Studies report that people with cognitive decline draw more slowly, with more hesitation, more time with the pen lifted, and a wobblier line. So we built a spiral-drawing test. In the browser you draw a spiral outward from the centre, and we record every pen point with its timestamp. The screenshot on the left is a live drawing. From the trace we compute nine measurements: drawing time, pen speed, how variable the speed is, stalled time, pen-up time, speed peaks, tremor in the four-to-twelve hertz band, spiral irregularity and drawing size. All lengths are measured relative to the canvas, so screen size does not matter. A mouse or a finger gives no pressure data, so that is a limitation compared with a tablet.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classifier is deliberately simple: a logistic regression. That means every prediction splits exactly into per-feature contributions. The bar chart in the screenshot shows what pushed the score up or down, and the drawing is coloured by speed, so stalls and stop-start motion are visible. On 600 held-out drawings it reaches an AUC of 0.962 and about 89 percent accuracy. Now the caveat, and it is a big one: there is no real handwriting data in our repository, so the model was trained on drawings from a simulator that we wrote. It learned our assumptions. We also stress-tested it. Dropping samples, timestamp jitter and cutting the drawing short barely matter, but heavy coordinate noise breaks the decision threshold. Accuracy falls to 65 percent at four pixels of noise while the AUC stays at 0.93. So the ranking holds, but the cut-off does not. Arshi will wrap up with performance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Nithyashree. I'm Arshi, and I'll finish with performance, limits and next steps. We measured everything on four CPU cores with no GPU. The handwriting score takes about 10 milliseconds. An MRI prediction takes 111 milliseconds, and adding the Grad-CAM explanation takes 293, because of the extra backward pass. Over HTTP the overhead is tiny. There is one honest bottleneck: throughput did not increase with more clients. It stays at about 9 predictions or 3.6 explanations per second per worker, because each request runs a blocking forward pass in a single worker. So serving more people needs more workers or a GPU. On the right is the finished interface: the verdict, the stage track, the draggable attribution, the probabilities and the attention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can we claim? The pipeline works end to end, it is reproducible, the explanations are exact for the handwriting model and checkable for the MRI model, and it is fast enough to demo on a laptop. What we cannot claim is clinical performance. The data are synthetic, the model is brittle to image degradation, and the combined score in the interface is just an average, not a trained multimodal model. The next steps, in order: real data, with ADNI for MRI and a tablet dataset such as DARWIN for handwriting, and subject-level splits; calibration and thresholds chosen for the cost of missing a patient; training for robustness; faithfulness tests for the explanations; a learned fusion once paired data exists; and engineering hardening. Thank you. We are happy to take questions, and we can run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 If it helps, Malhar can run the live demo: upload a scan, drag the attribution slider, then draw a spiral and watch the speed trace and feature contributions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LOS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E0A0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68680"/>
            <a:ext cx="11091672"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Early detection of Alzheimer's  ·  MRI + handwriting  ·  research prototype, synthetic data</a:t>
            </a:r>
            <a:endParaRPr lang="en-US" sz="10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7F9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7F9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image" Target="../media/image-12-1.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chart" Target="/ppt/charts/chart7.xml"/><Relationship Id="rId1" Type="http://schemas.openxmlformats.org/officeDocument/2006/relationships/image" Target="../media/image-14-1.png"/><Relationship Id="rId2" Type="http://schemas.openxmlformats.org/officeDocument/2006/relationships/image" Target="../media/image-14-2.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image" Target="../media/image-15-1.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200" b="1" spc="400" kern="0" dirty="0">
                <a:solidFill>
                  <a:schemeClr val="accent1"/>
                </a:solidFill>
              </a:rPr>
              <a:t>RESEARCH PROTOTYPE  ·  SYNTHETIC DATA</a:t>
            </a:r>
            <a:endParaRPr lang="en-US" sz="1200" dirty="0"/>
          </a:p>
        </p:txBody>
      </p:sp>
      <p:sp>
        <p:nvSpPr>
          <p:cNvPr id="3" name="Deck title"/>
          <p:cNvSpPr txBox="1"/>
          <p:nvPr/>
        </p:nvSpPr>
        <p:spPr>
          <a:xfrm>
            <a:off x="548640" y="1143000"/>
            <a:ext cx="7498080" cy="2148840"/>
          </a:xfrm>
          <a:prstGeom prst="rect">
            <a:avLst/>
          </a:prstGeom>
          <a:noFill/>
          <a:ln/>
        </p:spPr>
        <p:txBody>
          <a:bodyPr wrap="square" lIns="0" tIns="0" rIns="0" bIns="0" rtlCol="0" anchor="t"/>
          <a:lstStyle/>
          <a:p>
            <a:pPr indent="0" marL="0">
              <a:buNone/>
            </a:pPr>
            <a:r>
              <a:rPr lang="en-US" sz="4600" b="1" dirty="0">
                <a:solidFill>
                  <a:schemeClr val="tx1"/>
                </a:solidFill>
                <a:latin typeface="+mj-lt" pitchFamily="34" charset="0"/>
                <a:ea typeface="+mj-lt" pitchFamily="34" charset="-122"/>
                <a:cs typeface="+mj-lt" pitchFamily="34" charset="-120"/>
              </a:rPr>
              <a:t>Early Detection of Alzheimer's from MRI and Handwriting</a:t>
            </a:r>
            <a:endParaRPr lang="en-US" sz="4600" dirty="0"/>
          </a:p>
        </p:txBody>
      </p:sp>
      <p:sp>
        <p:nvSpPr>
          <p:cNvPr id="4" name="Deck subtitle"/>
          <p:cNvSpPr txBox="1"/>
          <p:nvPr/>
        </p:nvSpPr>
        <p:spPr>
          <a:xfrm>
            <a:off x="548640" y="3383280"/>
            <a:ext cx="6949440" cy="822960"/>
          </a:xfrm>
          <a:prstGeom prst="rect">
            <a:avLst/>
          </a:prstGeom>
          <a:noFill/>
          <a:ln/>
        </p:spPr>
        <p:txBody>
          <a:bodyPr wrap="square" lIns="0" tIns="0" rIns="0" bIns="0" rtlCol="0" anchor="t"/>
          <a:lstStyle/>
          <a:p>
            <a:pPr indent="0" marL="0">
              <a:buNone/>
            </a:pPr>
            <a:r>
              <a:rPr lang="en-US" sz="2200" dirty="0">
                <a:solidFill>
                  <a:schemeClr val="tx2"/>
                </a:solidFill>
              </a:rPr>
              <a:t>Design and analysis of an explainable multimodal prototype</a:t>
            </a:r>
            <a:endParaRPr lang="en-US" sz="2200" dirty="0"/>
          </a:p>
        </p:txBody>
      </p:sp>
      <p:sp>
        <p:nvSpPr>
          <p:cNvPr id="5" name="Name chip MS"/>
          <p:cNvSpPr/>
          <p:nvPr/>
        </p:nvSpPr>
        <p:spPr>
          <a:xfrm>
            <a:off x="548640" y="4754880"/>
            <a:ext cx="2670048" cy="566928"/>
          </a:xfrm>
          <a:prstGeom prst="roundRect">
            <a:avLst>
              <a:gd name="adj" fmla="val 50000"/>
            </a:avLst>
          </a:prstGeom>
          <a:solidFill>
            <a:schemeClr val="bg2">
              <a:alpha val="82000"/>
            </a:schemeClr>
          </a:solidFill>
          <a:ln w="9525">
            <a:solidFill>
              <a:srgbClr val="FFFFFF">
                <a:alpha val="18000"/>
              </a:srgbClr>
            </a:solidFill>
            <a:prstDash val="solid"/>
          </a:ln>
        </p:spPr>
      </p:sp>
      <p:sp>
        <p:nvSpPr>
          <p:cNvPr id="6" name="Chip dot MS"/>
          <p:cNvSpPr/>
          <p:nvPr/>
        </p:nvSpPr>
        <p:spPr>
          <a:xfrm>
            <a:off x="640080" y="4846320"/>
            <a:ext cx="384048" cy="384048"/>
          </a:xfrm>
          <a:prstGeom prst="ellipse">
            <a:avLst/>
          </a:prstGeom>
          <a:solidFill>
            <a:schemeClr val="accent1"/>
          </a:solidFill>
          <a:ln w="12700">
            <a:solidFill>
              <a:schemeClr val="accent1"/>
            </a:solidFill>
            <a:prstDash val="solid"/>
          </a:ln>
        </p:spPr>
      </p:sp>
      <p:sp>
        <p:nvSpPr>
          <p:cNvPr id="7" name="Chip initials MS"/>
          <p:cNvSpPr txBox="1"/>
          <p:nvPr/>
        </p:nvSpPr>
        <p:spPr>
          <a:xfrm>
            <a:off x="640080" y="484632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MS</a:t>
            </a:r>
            <a:endParaRPr lang="en-US" sz="1100" dirty="0"/>
          </a:p>
        </p:txBody>
      </p:sp>
      <p:sp>
        <p:nvSpPr>
          <p:cNvPr id="8" name="Chip name MS"/>
          <p:cNvSpPr txBox="1"/>
          <p:nvPr/>
        </p:nvSpPr>
        <p:spPr>
          <a:xfrm>
            <a:off x="1115568" y="4754880"/>
            <a:ext cx="2029968" cy="566928"/>
          </a:xfrm>
          <a:prstGeom prst="rect">
            <a:avLst/>
          </a:prstGeom>
          <a:noFill/>
          <a:ln/>
        </p:spPr>
        <p:txBody>
          <a:bodyPr wrap="square" lIns="0" tIns="0" rIns="0" bIns="0" rtlCol="0" anchor="ctr"/>
          <a:lstStyle/>
          <a:p>
            <a:pPr indent="0" marL="0">
              <a:buNone/>
            </a:pPr>
            <a:r>
              <a:rPr lang="en-US" sz="1300" b="1" dirty="0">
                <a:solidFill>
                  <a:schemeClr val="tx1"/>
                </a:solidFill>
              </a:rPr>
              <a:t>Malhar Srivatsav</a:t>
            </a:r>
            <a:endParaRPr lang="en-US" sz="1300" dirty="0"/>
          </a:p>
        </p:txBody>
      </p:sp>
      <p:sp>
        <p:nvSpPr>
          <p:cNvPr id="9" name="Name chip SB"/>
          <p:cNvSpPr/>
          <p:nvPr/>
        </p:nvSpPr>
        <p:spPr>
          <a:xfrm>
            <a:off x="3355848" y="4754880"/>
            <a:ext cx="2670048" cy="566928"/>
          </a:xfrm>
          <a:prstGeom prst="roundRect">
            <a:avLst>
              <a:gd name="adj" fmla="val 50000"/>
            </a:avLst>
          </a:prstGeom>
          <a:solidFill>
            <a:schemeClr val="bg2">
              <a:alpha val="82000"/>
            </a:schemeClr>
          </a:solidFill>
          <a:ln w="9525">
            <a:solidFill>
              <a:srgbClr val="FFFFFF">
                <a:alpha val="18000"/>
              </a:srgbClr>
            </a:solidFill>
            <a:prstDash val="solid"/>
          </a:ln>
        </p:spPr>
      </p:sp>
      <p:sp>
        <p:nvSpPr>
          <p:cNvPr id="10" name="Chip dot SB"/>
          <p:cNvSpPr/>
          <p:nvPr/>
        </p:nvSpPr>
        <p:spPr>
          <a:xfrm>
            <a:off x="3447288" y="4846320"/>
            <a:ext cx="384048" cy="384048"/>
          </a:xfrm>
          <a:prstGeom prst="ellipse">
            <a:avLst/>
          </a:prstGeom>
          <a:solidFill>
            <a:schemeClr val="accent1"/>
          </a:solidFill>
          <a:ln w="12700">
            <a:solidFill>
              <a:schemeClr val="accent1"/>
            </a:solidFill>
            <a:prstDash val="solid"/>
          </a:ln>
        </p:spPr>
      </p:sp>
      <p:sp>
        <p:nvSpPr>
          <p:cNvPr id="11" name="Chip initials SB"/>
          <p:cNvSpPr txBox="1"/>
          <p:nvPr/>
        </p:nvSpPr>
        <p:spPr>
          <a:xfrm>
            <a:off x="3447288" y="484632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SB</a:t>
            </a:r>
            <a:endParaRPr lang="en-US" sz="1100" dirty="0"/>
          </a:p>
        </p:txBody>
      </p:sp>
      <p:sp>
        <p:nvSpPr>
          <p:cNvPr id="12" name="Chip name SB"/>
          <p:cNvSpPr txBox="1"/>
          <p:nvPr/>
        </p:nvSpPr>
        <p:spPr>
          <a:xfrm>
            <a:off x="3922776" y="4754880"/>
            <a:ext cx="2029968" cy="566928"/>
          </a:xfrm>
          <a:prstGeom prst="rect">
            <a:avLst/>
          </a:prstGeom>
          <a:noFill/>
          <a:ln/>
        </p:spPr>
        <p:txBody>
          <a:bodyPr wrap="square" lIns="0" tIns="0" rIns="0" bIns="0" rtlCol="0" anchor="ctr"/>
          <a:lstStyle/>
          <a:p>
            <a:pPr indent="0" marL="0">
              <a:buNone/>
            </a:pPr>
            <a:r>
              <a:rPr lang="en-US" sz="1300" b="1" dirty="0">
                <a:solidFill>
                  <a:schemeClr val="tx1"/>
                </a:solidFill>
              </a:rPr>
              <a:t>Sathwik Hejamady Bhat</a:t>
            </a:r>
            <a:endParaRPr lang="en-US" sz="1300" dirty="0"/>
          </a:p>
        </p:txBody>
      </p:sp>
      <p:sp>
        <p:nvSpPr>
          <p:cNvPr id="13" name="Name chip HR"/>
          <p:cNvSpPr/>
          <p:nvPr/>
        </p:nvSpPr>
        <p:spPr>
          <a:xfrm>
            <a:off x="6163056" y="4754880"/>
            <a:ext cx="2670048" cy="566928"/>
          </a:xfrm>
          <a:prstGeom prst="roundRect">
            <a:avLst>
              <a:gd name="adj" fmla="val 50000"/>
            </a:avLst>
          </a:prstGeom>
          <a:solidFill>
            <a:schemeClr val="bg2">
              <a:alpha val="82000"/>
            </a:schemeClr>
          </a:solidFill>
          <a:ln w="9525">
            <a:solidFill>
              <a:srgbClr val="FFFFFF">
                <a:alpha val="18000"/>
              </a:srgbClr>
            </a:solidFill>
            <a:prstDash val="solid"/>
          </a:ln>
        </p:spPr>
      </p:sp>
      <p:sp>
        <p:nvSpPr>
          <p:cNvPr id="14" name="Chip dot HR"/>
          <p:cNvSpPr/>
          <p:nvPr/>
        </p:nvSpPr>
        <p:spPr>
          <a:xfrm>
            <a:off x="6254496" y="4846320"/>
            <a:ext cx="384048" cy="384048"/>
          </a:xfrm>
          <a:prstGeom prst="ellipse">
            <a:avLst/>
          </a:prstGeom>
          <a:solidFill>
            <a:schemeClr val="accent1"/>
          </a:solidFill>
          <a:ln w="12700">
            <a:solidFill>
              <a:schemeClr val="accent1"/>
            </a:solidFill>
            <a:prstDash val="solid"/>
          </a:ln>
        </p:spPr>
      </p:sp>
      <p:sp>
        <p:nvSpPr>
          <p:cNvPr id="15" name="Chip initials HR"/>
          <p:cNvSpPr txBox="1"/>
          <p:nvPr/>
        </p:nvSpPr>
        <p:spPr>
          <a:xfrm>
            <a:off x="6254496" y="484632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HR</a:t>
            </a:r>
            <a:endParaRPr lang="en-US" sz="1100" dirty="0"/>
          </a:p>
        </p:txBody>
      </p:sp>
      <p:sp>
        <p:nvSpPr>
          <p:cNvPr id="16" name="Chip name HR"/>
          <p:cNvSpPr txBox="1"/>
          <p:nvPr/>
        </p:nvSpPr>
        <p:spPr>
          <a:xfrm>
            <a:off x="6729984" y="4754880"/>
            <a:ext cx="2029968" cy="566928"/>
          </a:xfrm>
          <a:prstGeom prst="rect">
            <a:avLst/>
          </a:prstGeom>
          <a:noFill/>
          <a:ln/>
        </p:spPr>
        <p:txBody>
          <a:bodyPr wrap="square" lIns="0" tIns="0" rIns="0" bIns="0" rtlCol="0" anchor="ctr"/>
          <a:lstStyle/>
          <a:p>
            <a:pPr indent="0" marL="0">
              <a:buNone/>
            </a:pPr>
            <a:r>
              <a:rPr lang="en-US" sz="1300" b="1" dirty="0">
                <a:solidFill>
                  <a:schemeClr val="tx1"/>
                </a:solidFill>
              </a:rPr>
              <a:t>Harit Raval</a:t>
            </a:r>
            <a:endParaRPr lang="en-US" sz="1300" dirty="0"/>
          </a:p>
        </p:txBody>
      </p:sp>
      <p:sp>
        <p:nvSpPr>
          <p:cNvPr id="17" name="Name chip SJ"/>
          <p:cNvSpPr/>
          <p:nvPr/>
        </p:nvSpPr>
        <p:spPr>
          <a:xfrm>
            <a:off x="8970264" y="4754880"/>
            <a:ext cx="2670048" cy="566928"/>
          </a:xfrm>
          <a:prstGeom prst="roundRect">
            <a:avLst>
              <a:gd name="adj" fmla="val 50000"/>
            </a:avLst>
          </a:prstGeom>
          <a:solidFill>
            <a:schemeClr val="bg2">
              <a:alpha val="82000"/>
            </a:schemeClr>
          </a:solidFill>
          <a:ln w="9525">
            <a:solidFill>
              <a:srgbClr val="FFFFFF">
                <a:alpha val="18000"/>
              </a:srgbClr>
            </a:solidFill>
            <a:prstDash val="solid"/>
          </a:ln>
        </p:spPr>
      </p:sp>
      <p:sp>
        <p:nvSpPr>
          <p:cNvPr id="18" name="Chip dot SJ"/>
          <p:cNvSpPr/>
          <p:nvPr/>
        </p:nvSpPr>
        <p:spPr>
          <a:xfrm>
            <a:off x="9061704" y="4846320"/>
            <a:ext cx="384048" cy="384048"/>
          </a:xfrm>
          <a:prstGeom prst="ellipse">
            <a:avLst/>
          </a:prstGeom>
          <a:solidFill>
            <a:schemeClr val="accent1"/>
          </a:solidFill>
          <a:ln w="12700">
            <a:solidFill>
              <a:schemeClr val="accent1"/>
            </a:solidFill>
            <a:prstDash val="solid"/>
          </a:ln>
        </p:spPr>
      </p:sp>
      <p:sp>
        <p:nvSpPr>
          <p:cNvPr id="19" name="Chip initials SJ"/>
          <p:cNvSpPr txBox="1"/>
          <p:nvPr/>
        </p:nvSpPr>
        <p:spPr>
          <a:xfrm>
            <a:off x="9061704" y="4846320"/>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SJ</a:t>
            </a:r>
            <a:endParaRPr lang="en-US" sz="1100" dirty="0"/>
          </a:p>
        </p:txBody>
      </p:sp>
      <p:sp>
        <p:nvSpPr>
          <p:cNvPr id="20" name="Chip name SJ"/>
          <p:cNvSpPr txBox="1"/>
          <p:nvPr/>
        </p:nvSpPr>
        <p:spPr>
          <a:xfrm>
            <a:off x="9537192" y="4754880"/>
            <a:ext cx="2029968" cy="566928"/>
          </a:xfrm>
          <a:prstGeom prst="rect">
            <a:avLst/>
          </a:prstGeom>
          <a:noFill/>
          <a:ln/>
        </p:spPr>
        <p:txBody>
          <a:bodyPr wrap="square" lIns="0" tIns="0" rIns="0" bIns="0" rtlCol="0" anchor="ctr"/>
          <a:lstStyle/>
          <a:p>
            <a:pPr indent="0" marL="0">
              <a:buNone/>
            </a:pPr>
            <a:r>
              <a:rPr lang="en-US" sz="1300" b="1" dirty="0">
                <a:solidFill>
                  <a:schemeClr val="tx1"/>
                </a:solidFill>
              </a:rPr>
              <a:t>Shreya Jain</a:t>
            </a:r>
            <a:endParaRPr lang="en-US" sz="1300" dirty="0"/>
          </a:p>
        </p:txBody>
      </p:sp>
      <p:sp>
        <p:nvSpPr>
          <p:cNvPr id="21" name="Name chip TP"/>
          <p:cNvSpPr/>
          <p:nvPr/>
        </p:nvSpPr>
        <p:spPr>
          <a:xfrm>
            <a:off x="548640" y="5477256"/>
            <a:ext cx="2670048" cy="566928"/>
          </a:xfrm>
          <a:prstGeom prst="roundRect">
            <a:avLst>
              <a:gd name="adj" fmla="val 50000"/>
            </a:avLst>
          </a:prstGeom>
          <a:solidFill>
            <a:schemeClr val="bg2">
              <a:alpha val="82000"/>
            </a:schemeClr>
          </a:solidFill>
          <a:ln w="9525">
            <a:solidFill>
              <a:srgbClr val="FFFFFF">
                <a:alpha val="18000"/>
              </a:srgbClr>
            </a:solidFill>
            <a:prstDash val="solid"/>
          </a:ln>
        </p:spPr>
      </p:sp>
      <p:sp>
        <p:nvSpPr>
          <p:cNvPr id="22" name="Chip dot TP"/>
          <p:cNvSpPr/>
          <p:nvPr/>
        </p:nvSpPr>
        <p:spPr>
          <a:xfrm>
            <a:off x="640080" y="5568696"/>
            <a:ext cx="384048" cy="384048"/>
          </a:xfrm>
          <a:prstGeom prst="ellipse">
            <a:avLst/>
          </a:prstGeom>
          <a:solidFill>
            <a:schemeClr val="accent1"/>
          </a:solidFill>
          <a:ln w="12700">
            <a:solidFill>
              <a:schemeClr val="accent1"/>
            </a:solidFill>
            <a:prstDash val="solid"/>
          </a:ln>
        </p:spPr>
      </p:sp>
      <p:sp>
        <p:nvSpPr>
          <p:cNvPr id="23" name="Chip initials TP"/>
          <p:cNvSpPr txBox="1"/>
          <p:nvPr/>
        </p:nvSpPr>
        <p:spPr>
          <a:xfrm>
            <a:off x="640080" y="5568696"/>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TP</a:t>
            </a:r>
            <a:endParaRPr lang="en-US" sz="1100" dirty="0"/>
          </a:p>
        </p:txBody>
      </p:sp>
      <p:sp>
        <p:nvSpPr>
          <p:cNvPr id="24" name="Chip name TP"/>
          <p:cNvSpPr txBox="1"/>
          <p:nvPr/>
        </p:nvSpPr>
        <p:spPr>
          <a:xfrm>
            <a:off x="1115568" y="5477256"/>
            <a:ext cx="2029968" cy="566928"/>
          </a:xfrm>
          <a:prstGeom prst="rect">
            <a:avLst/>
          </a:prstGeom>
          <a:noFill/>
          <a:ln/>
        </p:spPr>
        <p:txBody>
          <a:bodyPr wrap="square" lIns="0" tIns="0" rIns="0" bIns="0" rtlCol="0" anchor="ctr"/>
          <a:lstStyle/>
          <a:p>
            <a:pPr indent="0" marL="0">
              <a:buNone/>
            </a:pPr>
            <a:r>
              <a:rPr lang="en-US" sz="1300" b="1" dirty="0">
                <a:solidFill>
                  <a:schemeClr val="tx1"/>
                </a:solidFill>
              </a:rPr>
              <a:t>Taneesha Rajiv Prasad</a:t>
            </a:r>
            <a:endParaRPr lang="en-US" sz="1300" dirty="0"/>
          </a:p>
        </p:txBody>
      </p:sp>
      <p:sp>
        <p:nvSpPr>
          <p:cNvPr id="25" name="Name chip NH"/>
          <p:cNvSpPr/>
          <p:nvPr/>
        </p:nvSpPr>
        <p:spPr>
          <a:xfrm>
            <a:off x="3355848" y="5477256"/>
            <a:ext cx="2670048" cy="566928"/>
          </a:xfrm>
          <a:prstGeom prst="roundRect">
            <a:avLst>
              <a:gd name="adj" fmla="val 50000"/>
            </a:avLst>
          </a:prstGeom>
          <a:solidFill>
            <a:schemeClr val="bg2">
              <a:alpha val="82000"/>
            </a:schemeClr>
          </a:solidFill>
          <a:ln w="9525">
            <a:solidFill>
              <a:srgbClr val="FFFFFF">
                <a:alpha val="18000"/>
              </a:srgbClr>
            </a:solidFill>
            <a:prstDash val="solid"/>
          </a:ln>
        </p:spPr>
      </p:sp>
      <p:sp>
        <p:nvSpPr>
          <p:cNvPr id="26" name="Chip dot NH"/>
          <p:cNvSpPr/>
          <p:nvPr/>
        </p:nvSpPr>
        <p:spPr>
          <a:xfrm>
            <a:off x="3447288" y="5568696"/>
            <a:ext cx="384048" cy="384048"/>
          </a:xfrm>
          <a:prstGeom prst="ellipse">
            <a:avLst/>
          </a:prstGeom>
          <a:solidFill>
            <a:schemeClr val="accent1"/>
          </a:solidFill>
          <a:ln w="12700">
            <a:solidFill>
              <a:schemeClr val="accent1"/>
            </a:solidFill>
            <a:prstDash val="solid"/>
          </a:ln>
        </p:spPr>
      </p:sp>
      <p:sp>
        <p:nvSpPr>
          <p:cNvPr id="27" name="Chip initials NH"/>
          <p:cNvSpPr txBox="1"/>
          <p:nvPr/>
        </p:nvSpPr>
        <p:spPr>
          <a:xfrm>
            <a:off x="3447288" y="5568696"/>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NH</a:t>
            </a:r>
            <a:endParaRPr lang="en-US" sz="1100" dirty="0"/>
          </a:p>
        </p:txBody>
      </p:sp>
      <p:sp>
        <p:nvSpPr>
          <p:cNvPr id="28" name="Chip name NH"/>
          <p:cNvSpPr txBox="1"/>
          <p:nvPr/>
        </p:nvSpPr>
        <p:spPr>
          <a:xfrm>
            <a:off x="3922776" y="5477256"/>
            <a:ext cx="2029968" cy="566928"/>
          </a:xfrm>
          <a:prstGeom prst="rect">
            <a:avLst/>
          </a:prstGeom>
          <a:noFill/>
          <a:ln/>
        </p:spPr>
        <p:txBody>
          <a:bodyPr wrap="square" lIns="0" tIns="0" rIns="0" bIns="0" rtlCol="0" anchor="ctr"/>
          <a:lstStyle/>
          <a:p>
            <a:pPr indent="0" marL="0">
              <a:buNone/>
            </a:pPr>
            <a:r>
              <a:rPr lang="en-US" sz="1300" b="1" dirty="0">
                <a:solidFill>
                  <a:schemeClr val="tx1"/>
                </a:solidFill>
              </a:rPr>
              <a:t>Nithyashree Hebbar</a:t>
            </a:r>
            <a:endParaRPr lang="en-US" sz="1300" dirty="0"/>
          </a:p>
        </p:txBody>
      </p:sp>
      <p:sp>
        <p:nvSpPr>
          <p:cNvPr id="29" name="Name chip AG"/>
          <p:cNvSpPr/>
          <p:nvPr/>
        </p:nvSpPr>
        <p:spPr>
          <a:xfrm>
            <a:off x="6163056" y="5477256"/>
            <a:ext cx="2670048" cy="566928"/>
          </a:xfrm>
          <a:prstGeom prst="roundRect">
            <a:avLst>
              <a:gd name="adj" fmla="val 50000"/>
            </a:avLst>
          </a:prstGeom>
          <a:solidFill>
            <a:schemeClr val="bg2">
              <a:alpha val="82000"/>
            </a:schemeClr>
          </a:solidFill>
          <a:ln w="9525">
            <a:solidFill>
              <a:srgbClr val="FFFFFF">
                <a:alpha val="18000"/>
              </a:srgbClr>
            </a:solidFill>
            <a:prstDash val="solid"/>
          </a:ln>
        </p:spPr>
      </p:sp>
      <p:sp>
        <p:nvSpPr>
          <p:cNvPr id="30" name="Chip dot AG"/>
          <p:cNvSpPr/>
          <p:nvPr/>
        </p:nvSpPr>
        <p:spPr>
          <a:xfrm>
            <a:off x="6254496" y="5568696"/>
            <a:ext cx="384048" cy="384048"/>
          </a:xfrm>
          <a:prstGeom prst="ellipse">
            <a:avLst/>
          </a:prstGeom>
          <a:solidFill>
            <a:schemeClr val="accent1"/>
          </a:solidFill>
          <a:ln w="12700">
            <a:solidFill>
              <a:schemeClr val="accent1"/>
            </a:solidFill>
            <a:prstDash val="solid"/>
          </a:ln>
        </p:spPr>
      </p:sp>
      <p:sp>
        <p:nvSpPr>
          <p:cNvPr id="31" name="Chip initials AG"/>
          <p:cNvSpPr txBox="1"/>
          <p:nvPr/>
        </p:nvSpPr>
        <p:spPr>
          <a:xfrm>
            <a:off x="6254496" y="5568696"/>
            <a:ext cx="384048" cy="384048"/>
          </a:xfrm>
          <a:prstGeom prst="rect">
            <a:avLst/>
          </a:prstGeom>
          <a:noFill/>
          <a:ln/>
        </p:spPr>
        <p:txBody>
          <a:bodyPr wrap="square" lIns="0" tIns="0" rIns="0" bIns="0" rtlCol="0" anchor="ctr"/>
          <a:lstStyle/>
          <a:p>
            <a:pPr algn="ctr" indent="0" marL="0">
              <a:buNone/>
            </a:pPr>
            <a:r>
              <a:rPr lang="en-US" sz="1100" b="1" dirty="0">
                <a:solidFill>
                  <a:schemeClr val="bg1"/>
                </a:solidFill>
              </a:rPr>
              <a:t>AG</a:t>
            </a:r>
            <a:endParaRPr lang="en-US" sz="1100" dirty="0"/>
          </a:p>
        </p:txBody>
      </p:sp>
      <p:sp>
        <p:nvSpPr>
          <p:cNvPr id="32" name="Chip name AG"/>
          <p:cNvSpPr txBox="1"/>
          <p:nvPr/>
        </p:nvSpPr>
        <p:spPr>
          <a:xfrm>
            <a:off x="6729984" y="5477256"/>
            <a:ext cx="2029968" cy="566928"/>
          </a:xfrm>
          <a:prstGeom prst="rect">
            <a:avLst/>
          </a:prstGeom>
          <a:noFill/>
          <a:ln/>
        </p:spPr>
        <p:txBody>
          <a:bodyPr wrap="square" lIns="0" tIns="0" rIns="0" bIns="0" rtlCol="0" anchor="ctr"/>
          <a:lstStyle/>
          <a:p>
            <a:pPr indent="0" marL="0">
              <a:buNone/>
            </a:pPr>
            <a:r>
              <a:rPr lang="en-US" sz="1300" b="1" dirty="0">
                <a:solidFill>
                  <a:schemeClr val="tx1"/>
                </a:solidFill>
              </a:rPr>
              <a:t>Arshi Garg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label"/>
          <p:cNvSpPr txBox="1"/>
          <p:nvPr/>
        </p:nvSpPr>
        <p:spPr>
          <a:xfrm>
            <a:off x="548640" y="384048"/>
            <a:ext cx="5486400" cy="365760"/>
          </a:xfrm>
          <a:prstGeom prst="rect">
            <a:avLst/>
          </a:prstGeom>
          <a:noFill/>
          <a:ln/>
        </p:spPr>
        <p:txBody>
          <a:bodyPr wrap="square" lIns="0" tIns="0" rIns="0" bIns="0" rtlCol="0" anchor="ctr"/>
          <a:lstStyle/>
          <a:p>
            <a:pPr indent="0" marL="0">
              <a:buNone/>
            </a:pPr>
            <a:r>
              <a:rPr lang="en-US" sz="1200" b="1" spc="300" kern="0" dirty="0">
                <a:solidFill>
                  <a:schemeClr val="accent1"/>
                </a:solidFill>
              </a:rPr>
              <a:t>THE TEAM</a:t>
            </a:r>
            <a:endParaRPr lang="en-US" sz="1200" dirty="0"/>
          </a:p>
        </p:txBody>
      </p:sp>
      <p:sp>
        <p:nvSpPr>
          <p:cNvPr id="3" name="Text 0"/>
          <p:cNvSpPr/>
          <p:nvPr>
            <p:ph idx="100" type="title" hasCustomPrompt="1"/>
          </p:nvPr>
        </p:nvSpPr>
        <p:spPr>
          <a:xfrm>
            <a:off x="548640" y="8686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Who is presenting what</a:t>
            </a:r>
            <a:endParaRPr lang="en-US" sz="3400" dirty="0"/>
          </a:p>
        </p:txBody>
      </p:sp>
      <p:sp>
        <p:nvSpPr>
          <p:cNvPr id="4" name="Team card 1"/>
          <p:cNvSpPr/>
          <p:nvPr/>
        </p:nvSpPr>
        <p:spPr>
          <a:xfrm>
            <a:off x="548640" y="1828800"/>
            <a:ext cx="2606040" cy="2103120"/>
          </a:xfrm>
          <a:prstGeom prst="roundRect">
            <a:avLst>
              <a:gd name="adj" fmla="val 5217"/>
            </a:avLst>
          </a:prstGeom>
          <a:solidFill>
            <a:schemeClr val="bg2">
              <a:alpha val="88000"/>
            </a:schemeClr>
          </a:solidFill>
          <a:ln w="9525">
            <a:solidFill>
              <a:srgbClr val="FFFFFF">
                <a:alpha val="12000"/>
              </a:srgbClr>
            </a:solidFill>
            <a:prstDash val="solid"/>
          </a:ln>
        </p:spPr>
      </p:sp>
      <p:sp>
        <p:nvSpPr>
          <p:cNvPr id="5" name="Team dot MS"/>
          <p:cNvSpPr/>
          <p:nvPr/>
        </p:nvSpPr>
        <p:spPr>
          <a:xfrm>
            <a:off x="777240" y="2057400"/>
            <a:ext cx="566928" cy="566928"/>
          </a:xfrm>
          <a:prstGeom prst="ellipse">
            <a:avLst/>
          </a:prstGeom>
          <a:solidFill>
            <a:schemeClr val="accent1"/>
          </a:solidFill>
          <a:ln w="12700">
            <a:solidFill>
              <a:schemeClr val="accent1"/>
            </a:solidFill>
            <a:prstDash val="solid"/>
          </a:ln>
        </p:spPr>
      </p:sp>
      <p:sp>
        <p:nvSpPr>
          <p:cNvPr id="6" name="Team initials MS"/>
          <p:cNvSpPr txBox="1"/>
          <p:nvPr/>
        </p:nvSpPr>
        <p:spPr>
          <a:xfrm>
            <a:off x="777240" y="205740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MS</a:t>
            </a:r>
            <a:endParaRPr lang="en-US" sz="1600" dirty="0"/>
          </a:p>
        </p:txBody>
      </p:sp>
      <p:sp>
        <p:nvSpPr>
          <p:cNvPr id="7" name="Team slides 1"/>
          <p:cNvSpPr txBox="1"/>
          <p:nvPr/>
        </p:nvSpPr>
        <p:spPr>
          <a:xfrm>
            <a:off x="1463040" y="2057400"/>
            <a:ext cx="1463040" cy="566928"/>
          </a:xfrm>
          <a:prstGeom prst="rect">
            <a:avLst/>
          </a:prstGeom>
          <a:noFill/>
          <a:ln/>
        </p:spPr>
        <p:txBody>
          <a:bodyPr wrap="square" lIns="0" tIns="0" rIns="0" bIns="0" rtlCol="0" anchor="ctr"/>
          <a:lstStyle/>
          <a:p>
            <a:pPr algn="r" indent="0" marL="0">
              <a:buNone/>
            </a:pPr>
            <a:r>
              <a:rPr lang="en-US" sz="1100" b="1" spc="200" kern="0" dirty="0">
                <a:solidFill>
                  <a:schemeClr val="tx2"/>
                </a:solidFill>
              </a:rPr>
              <a:t>SLIDES 3–4</a:t>
            </a:r>
            <a:endParaRPr lang="en-US" sz="1100" dirty="0"/>
          </a:p>
        </p:txBody>
      </p:sp>
      <p:sp>
        <p:nvSpPr>
          <p:cNvPr id="8" name="Team name 1"/>
          <p:cNvSpPr txBox="1"/>
          <p:nvPr/>
        </p:nvSpPr>
        <p:spPr>
          <a:xfrm>
            <a:off x="777240" y="2743200"/>
            <a:ext cx="2148840" cy="548640"/>
          </a:xfrm>
          <a:prstGeom prst="rect">
            <a:avLst/>
          </a:prstGeom>
          <a:noFill/>
          <a:ln/>
        </p:spPr>
        <p:txBody>
          <a:bodyPr wrap="square" lIns="0" tIns="0" rIns="0" bIns="0" rtlCol="0" anchor="t"/>
          <a:lstStyle/>
          <a:p>
            <a:pPr indent="0" marL="0">
              <a:buNone/>
            </a:pPr>
            <a:r>
              <a:rPr lang="en-US" sz="1600" b="1" dirty="0">
                <a:solidFill>
                  <a:schemeClr val="tx1"/>
                </a:solidFill>
              </a:rPr>
              <a:t>Malhar Srivatsav</a:t>
            </a:r>
            <a:endParaRPr lang="en-US" sz="1600" dirty="0"/>
          </a:p>
        </p:txBody>
      </p:sp>
      <p:sp>
        <p:nvSpPr>
          <p:cNvPr id="9" name="Team topic 1"/>
          <p:cNvSpPr txBox="1"/>
          <p:nvPr/>
        </p:nvSpPr>
        <p:spPr>
          <a:xfrm>
            <a:off x="777240" y="3310128"/>
            <a:ext cx="2148840" cy="548640"/>
          </a:xfrm>
          <a:prstGeom prst="rect">
            <a:avLst/>
          </a:prstGeom>
          <a:noFill/>
          <a:ln/>
        </p:spPr>
        <p:txBody>
          <a:bodyPr wrap="square" lIns="0" tIns="0" rIns="0" bIns="0" rtlCol="0" anchor="t"/>
          <a:lstStyle/>
          <a:p>
            <a:pPr indent="0" marL="0">
              <a:buNone/>
            </a:pPr>
            <a:r>
              <a:rPr lang="en-US" sz="1400" dirty="0">
                <a:solidFill>
                  <a:schemeClr val="tx2"/>
                </a:solidFill>
              </a:rPr>
              <a:t>Problem and system overview</a:t>
            </a:r>
            <a:endParaRPr lang="en-US" sz="1400" dirty="0"/>
          </a:p>
        </p:txBody>
      </p:sp>
      <p:sp>
        <p:nvSpPr>
          <p:cNvPr id="10" name="Team card 2"/>
          <p:cNvSpPr/>
          <p:nvPr/>
        </p:nvSpPr>
        <p:spPr>
          <a:xfrm>
            <a:off x="3376879" y="1828800"/>
            <a:ext cx="2606040" cy="2103120"/>
          </a:xfrm>
          <a:prstGeom prst="roundRect">
            <a:avLst>
              <a:gd name="adj" fmla="val 5217"/>
            </a:avLst>
          </a:prstGeom>
          <a:solidFill>
            <a:schemeClr val="bg2">
              <a:alpha val="88000"/>
            </a:schemeClr>
          </a:solidFill>
          <a:ln w="9525">
            <a:solidFill>
              <a:srgbClr val="FFFFFF">
                <a:alpha val="12000"/>
              </a:srgbClr>
            </a:solidFill>
            <a:prstDash val="solid"/>
          </a:ln>
        </p:spPr>
      </p:sp>
      <p:sp>
        <p:nvSpPr>
          <p:cNvPr id="11" name="Team dot SB"/>
          <p:cNvSpPr/>
          <p:nvPr/>
        </p:nvSpPr>
        <p:spPr>
          <a:xfrm>
            <a:off x="3605479" y="2057400"/>
            <a:ext cx="566928" cy="566928"/>
          </a:xfrm>
          <a:prstGeom prst="ellipse">
            <a:avLst/>
          </a:prstGeom>
          <a:solidFill>
            <a:schemeClr val="accent1"/>
          </a:solidFill>
          <a:ln w="12700">
            <a:solidFill>
              <a:schemeClr val="accent1"/>
            </a:solidFill>
            <a:prstDash val="solid"/>
          </a:ln>
        </p:spPr>
      </p:sp>
      <p:sp>
        <p:nvSpPr>
          <p:cNvPr id="12" name="Team initials SB"/>
          <p:cNvSpPr txBox="1"/>
          <p:nvPr/>
        </p:nvSpPr>
        <p:spPr>
          <a:xfrm>
            <a:off x="3605479" y="205740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SB</a:t>
            </a:r>
            <a:endParaRPr lang="en-US" sz="1600" dirty="0"/>
          </a:p>
        </p:txBody>
      </p:sp>
      <p:sp>
        <p:nvSpPr>
          <p:cNvPr id="13" name="Team slides 2"/>
          <p:cNvSpPr txBox="1"/>
          <p:nvPr/>
        </p:nvSpPr>
        <p:spPr>
          <a:xfrm>
            <a:off x="4291279" y="2057400"/>
            <a:ext cx="1463040" cy="566928"/>
          </a:xfrm>
          <a:prstGeom prst="rect">
            <a:avLst/>
          </a:prstGeom>
          <a:noFill/>
          <a:ln/>
        </p:spPr>
        <p:txBody>
          <a:bodyPr wrap="square" lIns="0" tIns="0" rIns="0" bIns="0" rtlCol="0" anchor="ctr"/>
          <a:lstStyle/>
          <a:p>
            <a:pPr algn="r" indent="0" marL="0">
              <a:buNone/>
            </a:pPr>
            <a:r>
              <a:rPr lang="en-US" sz="1100" b="1" spc="200" kern="0" dirty="0">
                <a:solidFill>
                  <a:schemeClr val="tx2"/>
                </a:solidFill>
              </a:rPr>
              <a:t>SLIDES 5–6</a:t>
            </a:r>
            <a:endParaRPr lang="en-US" sz="1100" dirty="0"/>
          </a:p>
        </p:txBody>
      </p:sp>
      <p:sp>
        <p:nvSpPr>
          <p:cNvPr id="14" name="Team name 2"/>
          <p:cNvSpPr txBox="1"/>
          <p:nvPr/>
        </p:nvSpPr>
        <p:spPr>
          <a:xfrm>
            <a:off x="3605479" y="2743200"/>
            <a:ext cx="2148840" cy="548640"/>
          </a:xfrm>
          <a:prstGeom prst="rect">
            <a:avLst/>
          </a:prstGeom>
          <a:noFill/>
          <a:ln/>
        </p:spPr>
        <p:txBody>
          <a:bodyPr wrap="square" lIns="0" tIns="0" rIns="0" bIns="0" rtlCol="0" anchor="t"/>
          <a:lstStyle/>
          <a:p>
            <a:pPr indent="0" marL="0">
              <a:buNone/>
            </a:pPr>
            <a:r>
              <a:rPr lang="en-US" sz="1600" b="1" dirty="0">
                <a:solidFill>
                  <a:schemeClr val="tx1"/>
                </a:solidFill>
              </a:rPr>
              <a:t>Sathwik Hejamady Bhat</a:t>
            </a:r>
            <a:endParaRPr lang="en-US" sz="1600" dirty="0"/>
          </a:p>
        </p:txBody>
      </p:sp>
      <p:sp>
        <p:nvSpPr>
          <p:cNvPr id="15" name="Team topic 2"/>
          <p:cNvSpPr txBox="1"/>
          <p:nvPr/>
        </p:nvSpPr>
        <p:spPr>
          <a:xfrm>
            <a:off x="3605479" y="3310128"/>
            <a:ext cx="2148840" cy="548640"/>
          </a:xfrm>
          <a:prstGeom prst="rect">
            <a:avLst/>
          </a:prstGeom>
          <a:noFill/>
          <a:ln/>
        </p:spPr>
        <p:txBody>
          <a:bodyPr wrap="square" lIns="0" tIns="0" rIns="0" bIns="0" rtlCol="0" anchor="t"/>
          <a:lstStyle/>
          <a:p>
            <a:pPr indent="0" marL="0">
              <a:buNone/>
            </a:pPr>
            <a:r>
              <a:rPr lang="en-US" sz="1400" dirty="0">
                <a:solidFill>
                  <a:schemeClr val="tx2"/>
                </a:solidFill>
              </a:rPr>
              <a:t>Data, imputation and balancing</a:t>
            </a:r>
            <a:endParaRPr lang="en-US" sz="1400" dirty="0"/>
          </a:p>
        </p:txBody>
      </p:sp>
      <p:sp>
        <p:nvSpPr>
          <p:cNvPr id="16" name="Team card 3"/>
          <p:cNvSpPr/>
          <p:nvPr/>
        </p:nvSpPr>
        <p:spPr>
          <a:xfrm>
            <a:off x="6205118" y="1828800"/>
            <a:ext cx="2606040" cy="2103120"/>
          </a:xfrm>
          <a:prstGeom prst="roundRect">
            <a:avLst>
              <a:gd name="adj" fmla="val 5217"/>
            </a:avLst>
          </a:prstGeom>
          <a:solidFill>
            <a:schemeClr val="bg2">
              <a:alpha val="88000"/>
            </a:schemeClr>
          </a:solidFill>
          <a:ln w="9525">
            <a:solidFill>
              <a:srgbClr val="FFFFFF">
                <a:alpha val="12000"/>
              </a:srgbClr>
            </a:solidFill>
            <a:prstDash val="solid"/>
          </a:ln>
        </p:spPr>
      </p:sp>
      <p:sp>
        <p:nvSpPr>
          <p:cNvPr id="17" name="Team dot HR"/>
          <p:cNvSpPr/>
          <p:nvPr/>
        </p:nvSpPr>
        <p:spPr>
          <a:xfrm>
            <a:off x="6433718" y="2057400"/>
            <a:ext cx="566928" cy="566928"/>
          </a:xfrm>
          <a:prstGeom prst="ellipse">
            <a:avLst/>
          </a:prstGeom>
          <a:solidFill>
            <a:schemeClr val="accent1"/>
          </a:solidFill>
          <a:ln w="12700">
            <a:solidFill>
              <a:schemeClr val="accent1"/>
            </a:solidFill>
            <a:prstDash val="solid"/>
          </a:ln>
        </p:spPr>
      </p:sp>
      <p:sp>
        <p:nvSpPr>
          <p:cNvPr id="18" name="Team initials HR"/>
          <p:cNvSpPr txBox="1"/>
          <p:nvPr/>
        </p:nvSpPr>
        <p:spPr>
          <a:xfrm>
            <a:off x="6433718" y="205740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HR</a:t>
            </a:r>
            <a:endParaRPr lang="en-US" sz="1600" dirty="0"/>
          </a:p>
        </p:txBody>
      </p:sp>
      <p:sp>
        <p:nvSpPr>
          <p:cNvPr id="19" name="Team slides 3"/>
          <p:cNvSpPr txBox="1"/>
          <p:nvPr/>
        </p:nvSpPr>
        <p:spPr>
          <a:xfrm>
            <a:off x="7119518" y="2057400"/>
            <a:ext cx="1463040" cy="566928"/>
          </a:xfrm>
          <a:prstGeom prst="rect">
            <a:avLst/>
          </a:prstGeom>
          <a:noFill/>
          <a:ln/>
        </p:spPr>
        <p:txBody>
          <a:bodyPr wrap="square" lIns="0" tIns="0" rIns="0" bIns="0" rtlCol="0" anchor="ctr"/>
          <a:lstStyle/>
          <a:p>
            <a:pPr algn="r" indent="0" marL="0">
              <a:buNone/>
            </a:pPr>
            <a:r>
              <a:rPr lang="en-US" sz="1100" b="1" spc="200" kern="0" dirty="0">
                <a:solidFill>
                  <a:schemeClr val="tx2"/>
                </a:solidFill>
              </a:rPr>
              <a:t>SLIDES 7–8</a:t>
            </a:r>
            <a:endParaRPr lang="en-US" sz="1100" dirty="0"/>
          </a:p>
        </p:txBody>
      </p:sp>
      <p:sp>
        <p:nvSpPr>
          <p:cNvPr id="20" name="Team name 3"/>
          <p:cNvSpPr txBox="1"/>
          <p:nvPr/>
        </p:nvSpPr>
        <p:spPr>
          <a:xfrm>
            <a:off x="6433718" y="2743200"/>
            <a:ext cx="2148840" cy="548640"/>
          </a:xfrm>
          <a:prstGeom prst="rect">
            <a:avLst/>
          </a:prstGeom>
          <a:noFill/>
          <a:ln/>
        </p:spPr>
        <p:txBody>
          <a:bodyPr wrap="square" lIns="0" tIns="0" rIns="0" bIns="0" rtlCol="0" anchor="t"/>
          <a:lstStyle/>
          <a:p>
            <a:pPr indent="0" marL="0">
              <a:buNone/>
            </a:pPr>
            <a:r>
              <a:rPr lang="en-US" sz="1600" b="1" dirty="0">
                <a:solidFill>
                  <a:schemeClr val="tx1"/>
                </a:solidFill>
              </a:rPr>
              <a:t>Harit Raval</a:t>
            </a:r>
            <a:endParaRPr lang="en-US" sz="1600" dirty="0"/>
          </a:p>
        </p:txBody>
      </p:sp>
      <p:sp>
        <p:nvSpPr>
          <p:cNvPr id="21" name="Team topic 3"/>
          <p:cNvSpPr txBox="1"/>
          <p:nvPr/>
        </p:nvSpPr>
        <p:spPr>
          <a:xfrm>
            <a:off x="6433718" y="3310128"/>
            <a:ext cx="2148840" cy="548640"/>
          </a:xfrm>
          <a:prstGeom prst="rect">
            <a:avLst/>
          </a:prstGeom>
          <a:noFill/>
          <a:ln/>
        </p:spPr>
        <p:txBody>
          <a:bodyPr wrap="square" lIns="0" tIns="0" rIns="0" bIns="0" rtlCol="0" anchor="t"/>
          <a:lstStyle/>
          <a:p>
            <a:pPr indent="0" marL="0">
              <a:buNone/>
            </a:pPr>
            <a:r>
              <a:rPr lang="en-US" sz="1400" dirty="0">
                <a:solidFill>
                  <a:schemeClr val="tx2"/>
                </a:solidFill>
              </a:rPr>
              <a:t>The MRI model</a:t>
            </a:r>
            <a:endParaRPr lang="en-US" sz="1400" dirty="0"/>
          </a:p>
        </p:txBody>
      </p:sp>
      <p:sp>
        <p:nvSpPr>
          <p:cNvPr id="22" name="Team card 4"/>
          <p:cNvSpPr/>
          <p:nvPr/>
        </p:nvSpPr>
        <p:spPr>
          <a:xfrm>
            <a:off x="9033358" y="1828800"/>
            <a:ext cx="2606040" cy="2103120"/>
          </a:xfrm>
          <a:prstGeom prst="roundRect">
            <a:avLst>
              <a:gd name="adj" fmla="val 5217"/>
            </a:avLst>
          </a:prstGeom>
          <a:solidFill>
            <a:schemeClr val="bg2">
              <a:alpha val="88000"/>
            </a:schemeClr>
          </a:solidFill>
          <a:ln w="9525">
            <a:solidFill>
              <a:srgbClr val="FFFFFF">
                <a:alpha val="12000"/>
              </a:srgbClr>
            </a:solidFill>
            <a:prstDash val="solid"/>
          </a:ln>
        </p:spPr>
      </p:sp>
      <p:sp>
        <p:nvSpPr>
          <p:cNvPr id="23" name="Team dot SJ"/>
          <p:cNvSpPr/>
          <p:nvPr/>
        </p:nvSpPr>
        <p:spPr>
          <a:xfrm>
            <a:off x="9261958" y="2057400"/>
            <a:ext cx="566928" cy="566928"/>
          </a:xfrm>
          <a:prstGeom prst="ellipse">
            <a:avLst/>
          </a:prstGeom>
          <a:solidFill>
            <a:schemeClr val="accent1"/>
          </a:solidFill>
          <a:ln w="12700">
            <a:solidFill>
              <a:schemeClr val="accent1"/>
            </a:solidFill>
            <a:prstDash val="solid"/>
          </a:ln>
        </p:spPr>
      </p:sp>
      <p:sp>
        <p:nvSpPr>
          <p:cNvPr id="24" name="Team initials SJ"/>
          <p:cNvSpPr txBox="1"/>
          <p:nvPr/>
        </p:nvSpPr>
        <p:spPr>
          <a:xfrm>
            <a:off x="9261958" y="205740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SJ</a:t>
            </a:r>
            <a:endParaRPr lang="en-US" sz="1600" dirty="0"/>
          </a:p>
        </p:txBody>
      </p:sp>
      <p:sp>
        <p:nvSpPr>
          <p:cNvPr id="25" name="Team slides 4"/>
          <p:cNvSpPr txBox="1"/>
          <p:nvPr/>
        </p:nvSpPr>
        <p:spPr>
          <a:xfrm>
            <a:off x="9947758" y="2057400"/>
            <a:ext cx="1463040" cy="566928"/>
          </a:xfrm>
          <a:prstGeom prst="rect">
            <a:avLst/>
          </a:prstGeom>
          <a:noFill/>
          <a:ln/>
        </p:spPr>
        <p:txBody>
          <a:bodyPr wrap="square" lIns="0" tIns="0" rIns="0" bIns="0" rtlCol="0" anchor="ctr"/>
          <a:lstStyle/>
          <a:p>
            <a:pPr algn="r" indent="0" marL="0">
              <a:buNone/>
            </a:pPr>
            <a:r>
              <a:rPr lang="en-US" sz="1100" b="1" spc="200" kern="0" dirty="0">
                <a:solidFill>
                  <a:schemeClr val="tx2"/>
                </a:solidFill>
              </a:rPr>
              <a:t>SLIDES 9–10</a:t>
            </a:r>
            <a:endParaRPr lang="en-US" sz="1100" dirty="0"/>
          </a:p>
        </p:txBody>
      </p:sp>
      <p:sp>
        <p:nvSpPr>
          <p:cNvPr id="26" name="Team name 4"/>
          <p:cNvSpPr txBox="1"/>
          <p:nvPr/>
        </p:nvSpPr>
        <p:spPr>
          <a:xfrm>
            <a:off x="9261958" y="2743200"/>
            <a:ext cx="2148840" cy="548640"/>
          </a:xfrm>
          <a:prstGeom prst="rect">
            <a:avLst/>
          </a:prstGeom>
          <a:noFill/>
          <a:ln/>
        </p:spPr>
        <p:txBody>
          <a:bodyPr wrap="square" lIns="0" tIns="0" rIns="0" bIns="0" rtlCol="0" anchor="t"/>
          <a:lstStyle/>
          <a:p>
            <a:pPr indent="0" marL="0">
              <a:buNone/>
            </a:pPr>
            <a:r>
              <a:rPr lang="en-US" sz="1600" b="1" dirty="0">
                <a:solidFill>
                  <a:schemeClr val="tx1"/>
                </a:solidFill>
              </a:rPr>
              <a:t>Shreya Jain</a:t>
            </a:r>
            <a:endParaRPr lang="en-US" sz="1600" dirty="0"/>
          </a:p>
        </p:txBody>
      </p:sp>
      <p:sp>
        <p:nvSpPr>
          <p:cNvPr id="27" name="Team topic 4"/>
          <p:cNvSpPr txBox="1"/>
          <p:nvPr/>
        </p:nvSpPr>
        <p:spPr>
          <a:xfrm>
            <a:off x="9261958" y="3310128"/>
            <a:ext cx="2148840" cy="548640"/>
          </a:xfrm>
          <a:prstGeom prst="rect">
            <a:avLst/>
          </a:prstGeom>
          <a:noFill/>
          <a:ln/>
        </p:spPr>
        <p:txBody>
          <a:bodyPr wrap="square" lIns="0" tIns="0" rIns="0" bIns="0" rtlCol="0" anchor="t"/>
          <a:lstStyle/>
          <a:p>
            <a:pPr indent="0" marL="0">
              <a:buNone/>
            </a:pPr>
            <a:r>
              <a:rPr lang="en-US" sz="1400" dirty="0">
                <a:solidFill>
                  <a:schemeClr val="tx2"/>
                </a:solidFill>
              </a:rPr>
              <a:t>MRI results and benchmarks</a:t>
            </a:r>
            <a:endParaRPr lang="en-US" sz="1400" dirty="0"/>
          </a:p>
        </p:txBody>
      </p:sp>
      <p:sp>
        <p:nvSpPr>
          <p:cNvPr id="28" name="Team card 5"/>
          <p:cNvSpPr/>
          <p:nvPr/>
        </p:nvSpPr>
        <p:spPr>
          <a:xfrm>
            <a:off x="548640" y="4160520"/>
            <a:ext cx="2606040" cy="2103120"/>
          </a:xfrm>
          <a:prstGeom prst="roundRect">
            <a:avLst>
              <a:gd name="adj" fmla="val 5217"/>
            </a:avLst>
          </a:prstGeom>
          <a:solidFill>
            <a:schemeClr val="bg2">
              <a:alpha val="88000"/>
            </a:schemeClr>
          </a:solidFill>
          <a:ln w="9525">
            <a:solidFill>
              <a:srgbClr val="FFFFFF">
                <a:alpha val="12000"/>
              </a:srgbClr>
            </a:solidFill>
            <a:prstDash val="solid"/>
          </a:ln>
        </p:spPr>
      </p:sp>
      <p:sp>
        <p:nvSpPr>
          <p:cNvPr id="29" name="Team dot TP"/>
          <p:cNvSpPr/>
          <p:nvPr/>
        </p:nvSpPr>
        <p:spPr>
          <a:xfrm>
            <a:off x="777240" y="4389120"/>
            <a:ext cx="566928" cy="566928"/>
          </a:xfrm>
          <a:prstGeom prst="ellipse">
            <a:avLst/>
          </a:prstGeom>
          <a:solidFill>
            <a:schemeClr val="accent1"/>
          </a:solidFill>
          <a:ln w="12700">
            <a:solidFill>
              <a:schemeClr val="accent1"/>
            </a:solidFill>
            <a:prstDash val="solid"/>
          </a:ln>
        </p:spPr>
      </p:sp>
      <p:sp>
        <p:nvSpPr>
          <p:cNvPr id="30" name="Team initials TP"/>
          <p:cNvSpPr txBox="1"/>
          <p:nvPr/>
        </p:nvSpPr>
        <p:spPr>
          <a:xfrm>
            <a:off x="777240" y="438912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TP</a:t>
            </a:r>
            <a:endParaRPr lang="en-US" sz="1600" dirty="0"/>
          </a:p>
        </p:txBody>
      </p:sp>
      <p:sp>
        <p:nvSpPr>
          <p:cNvPr id="31" name="Team slides 5"/>
          <p:cNvSpPr txBox="1"/>
          <p:nvPr/>
        </p:nvSpPr>
        <p:spPr>
          <a:xfrm>
            <a:off x="1463040" y="4389120"/>
            <a:ext cx="1463040" cy="566928"/>
          </a:xfrm>
          <a:prstGeom prst="rect">
            <a:avLst/>
          </a:prstGeom>
          <a:noFill/>
          <a:ln/>
        </p:spPr>
        <p:txBody>
          <a:bodyPr wrap="square" lIns="0" tIns="0" rIns="0" bIns="0" rtlCol="0" anchor="ctr"/>
          <a:lstStyle/>
          <a:p>
            <a:pPr algn="r" indent="0" marL="0">
              <a:buNone/>
            </a:pPr>
            <a:r>
              <a:rPr lang="en-US" sz="1100" b="1" spc="200" kern="0" dirty="0">
                <a:solidFill>
                  <a:schemeClr val="tx2"/>
                </a:solidFill>
              </a:rPr>
              <a:t>SLIDES 11–12</a:t>
            </a:r>
            <a:endParaRPr lang="en-US" sz="1100" dirty="0"/>
          </a:p>
        </p:txBody>
      </p:sp>
      <p:sp>
        <p:nvSpPr>
          <p:cNvPr id="32" name="Team name 5"/>
          <p:cNvSpPr txBox="1"/>
          <p:nvPr/>
        </p:nvSpPr>
        <p:spPr>
          <a:xfrm>
            <a:off x="777240" y="5074920"/>
            <a:ext cx="2148840" cy="548640"/>
          </a:xfrm>
          <a:prstGeom prst="rect">
            <a:avLst/>
          </a:prstGeom>
          <a:noFill/>
          <a:ln/>
        </p:spPr>
        <p:txBody>
          <a:bodyPr wrap="square" lIns="0" tIns="0" rIns="0" bIns="0" rtlCol="0" anchor="t"/>
          <a:lstStyle/>
          <a:p>
            <a:pPr indent="0" marL="0">
              <a:buNone/>
            </a:pPr>
            <a:r>
              <a:rPr lang="en-US" sz="1600" b="1" dirty="0">
                <a:solidFill>
                  <a:schemeClr val="tx1"/>
                </a:solidFill>
              </a:rPr>
              <a:t>Taneesha Rajiv Prasad</a:t>
            </a:r>
            <a:endParaRPr lang="en-US" sz="1600" dirty="0"/>
          </a:p>
        </p:txBody>
      </p:sp>
      <p:sp>
        <p:nvSpPr>
          <p:cNvPr id="33" name="Team topic 5"/>
          <p:cNvSpPr txBox="1"/>
          <p:nvPr/>
        </p:nvSpPr>
        <p:spPr>
          <a:xfrm>
            <a:off x="777240" y="5641848"/>
            <a:ext cx="2148840" cy="548640"/>
          </a:xfrm>
          <a:prstGeom prst="rect">
            <a:avLst/>
          </a:prstGeom>
          <a:noFill/>
          <a:ln/>
        </p:spPr>
        <p:txBody>
          <a:bodyPr wrap="square" lIns="0" tIns="0" rIns="0" bIns="0" rtlCol="0" anchor="t"/>
          <a:lstStyle/>
          <a:p>
            <a:pPr indent="0" marL="0">
              <a:buNone/>
            </a:pPr>
            <a:r>
              <a:rPr lang="en-US" sz="1400" dirty="0">
                <a:solidFill>
                  <a:schemeClr val="tx2"/>
                </a:solidFill>
              </a:rPr>
              <a:t>Explainability and robustness</a:t>
            </a:r>
            <a:endParaRPr lang="en-US" sz="1400" dirty="0"/>
          </a:p>
        </p:txBody>
      </p:sp>
      <p:sp>
        <p:nvSpPr>
          <p:cNvPr id="34" name="Team card 6"/>
          <p:cNvSpPr/>
          <p:nvPr/>
        </p:nvSpPr>
        <p:spPr>
          <a:xfrm>
            <a:off x="3376879" y="4160520"/>
            <a:ext cx="2606040" cy="2103120"/>
          </a:xfrm>
          <a:prstGeom prst="roundRect">
            <a:avLst>
              <a:gd name="adj" fmla="val 5217"/>
            </a:avLst>
          </a:prstGeom>
          <a:solidFill>
            <a:schemeClr val="bg2">
              <a:alpha val="88000"/>
            </a:schemeClr>
          </a:solidFill>
          <a:ln w="9525">
            <a:solidFill>
              <a:srgbClr val="FFFFFF">
                <a:alpha val="12000"/>
              </a:srgbClr>
            </a:solidFill>
            <a:prstDash val="solid"/>
          </a:ln>
        </p:spPr>
      </p:sp>
      <p:sp>
        <p:nvSpPr>
          <p:cNvPr id="35" name="Team dot NH"/>
          <p:cNvSpPr/>
          <p:nvPr/>
        </p:nvSpPr>
        <p:spPr>
          <a:xfrm>
            <a:off x="3605479" y="4389120"/>
            <a:ext cx="566928" cy="566928"/>
          </a:xfrm>
          <a:prstGeom prst="ellipse">
            <a:avLst/>
          </a:prstGeom>
          <a:solidFill>
            <a:schemeClr val="accent1"/>
          </a:solidFill>
          <a:ln w="12700">
            <a:solidFill>
              <a:schemeClr val="accent1"/>
            </a:solidFill>
            <a:prstDash val="solid"/>
          </a:ln>
        </p:spPr>
      </p:sp>
      <p:sp>
        <p:nvSpPr>
          <p:cNvPr id="36" name="Team initials NH"/>
          <p:cNvSpPr txBox="1"/>
          <p:nvPr/>
        </p:nvSpPr>
        <p:spPr>
          <a:xfrm>
            <a:off x="3605479" y="438912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NH</a:t>
            </a:r>
            <a:endParaRPr lang="en-US" sz="1600" dirty="0"/>
          </a:p>
        </p:txBody>
      </p:sp>
      <p:sp>
        <p:nvSpPr>
          <p:cNvPr id="37" name="Team slides 6"/>
          <p:cNvSpPr txBox="1"/>
          <p:nvPr/>
        </p:nvSpPr>
        <p:spPr>
          <a:xfrm>
            <a:off x="4291279" y="4389120"/>
            <a:ext cx="1463040" cy="566928"/>
          </a:xfrm>
          <a:prstGeom prst="rect">
            <a:avLst/>
          </a:prstGeom>
          <a:noFill/>
          <a:ln/>
        </p:spPr>
        <p:txBody>
          <a:bodyPr wrap="square" lIns="0" tIns="0" rIns="0" bIns="0" rtlCol="0" anchor="ctr"/>
          <a:lstStyle/>
          <a:p>
            <a:pPr algn="r" indent="0" marL="0">
              <a:buNone/>
            </a:pPr>
            <a:r>
              <a:rPr lang="en-US" sz="1100" b="1" spc="200" kern="0" dirty="0">
                <a:solidFill>
                  <a:schemeClr val="tx2"/>
                </a:solidFill>
              </a:rPr>
              <a:t>SLIDES 13–14</a:t>
            </a:r>
            <a:endParaRPr lang="en-US" sz="1100" dirty="0"/>
          </a:p>
        </p:txBody>
      </p:sp>
      <p:sp>
        <p:nvSpPr>
          <p:cNvPr id="38" name="Team name 6"/>
          <p:cNvSpPr txBox="1"/>
          <p:nvPr/>
        </p:nvSpPr>
        <p:spPr>
          <a:xfrm>
            <a:off x="3605479" y="5074920"/>
            <a:ext cx="2148840" cy="548640"/>
          </a:xfrm>
          <a:prstGeom prst="rect">
            <a:avLst/>
          </a:prstGeom>
          <a:noFill/>
          <a:ln/>
        </p:spPr>
        <p:txBody>
          <a:bodyPr wrap="square" lIns="0" tIns="0" rIns="0" bIns="0" rtlCol="0" anchor="t"/>
          <a:lstStyle/>
          <a:p>
            <a:pPr indent="0" marL="0">
              <a:buNone/>
            </a:pPr>
            <a:r>
              <a:rPr lang="en-US" sz="1600" b="1" dirty="0">
                <a:solidFill>
                  <a:schemeClr val="tx1"/>
                </a:solidFill>
              </a:rPr>
              <a:t>Nithyashree Hebbar</a:t>
            </a:r>
            <a:endParaRPr lang="en-US" sz="1600" dirty="0"/>
          </a:p>
        </p:txBody>
      </p:sp>
      <p:sp>
        <p:nvSpPr>
          <p:cNvPr id="39" name="Team topic 6"/>
          <p:cNvSpPr txBox="1"/>
          <p:nvPr/>
        </p:nvSpPr>
        <p:spPr>
          <a:xfrm>
            <a:off x="3605479" y="5641848"/>
            <a:ext cx="2148840" cy="548640"/>
          </a:xfrm>
          <a:prstGeom prst="rect">
            <a:avLst/>
          </a:prstGeom>
          <a:noFill/>
          <a:ln/>
        </p:spPr>
        <p:txBody>
          <a:bodyPr wrap="square" lIns="0" tIns="0" rIns="0" bIns="0" rtlCol="0" anchor="t"/>
          <a:lstStyle/>
          <a:p>
            <a:pPr indent="0" marL="0">
              <a:buNone/>
            </a:pPr>
            <a:r>
              <a:rPr lang="en-US" sz="1400" dirty="0">
                <a:solidFill>
                  <a:schemeClr val="tx2"/>
                </a:solidFill>
              </a:rPr>
              <a:t>The handwriting module</a:t>
            </a:r>
            <a:endParaRPr lang="en-US" sz="1400" dirty="0"/>
          </a:p>
        </p:txBody>
      </p:sp>
      <p:sp>
        <p:nvSpPr>
          <p:cNvPr id="40" name="Team card 7"/>
          <p:cNvSpPr/>
          <p:nvPr/>
        </p:nvSpPr>
        <p:spPr>
          <a:xfrm>
            <a:off x="6205118" y="4160520"/>
            <a:ext cx="2606040" cy="2103120"/>
          </a:xfrm>
          <a:prstGeom prst="roundRect">
            <a:avLst>
              <a:gd name="adj" fmla="val 5217"/>
            </a:avLst>
          </a:prstGeom>
          <a:solidFill>
            <a:schemeClr val="bg2">
              <a:alpha val="88000"/>
            </a:schemeClr>
          </a:solidFill>
          <a:ln w="9525">
            <a:solidFill>
              <a:srgbClr val="FFFFFF">
                <a:alpha val="12000"/>
              </a:srgbClr>
            </a:solidFill>
            <a:prstDash val="solid"/>
          </a:ln>
        </p:spPr>
      </p:sp>
      <p:sp>
        <p:nvSpPr>
          <p:cNvPr id="41" name="Team dot AG"/>
          <p:cNvSpPr/>
          <p:nvPr/>
        </p:nvSpPr>
        <p:spPr>
          <a:xfrm>
            <a:off x="6433718" y="4389120"/>
            <a:ext cx="566928" cy="566928"/>
          </a:xfrm>
          <a:prstGeom prst="ellipse">
            <a:avLst/>
          </a:prstGeom>
          <a:solidFill>
            <a:schemeClr val="accent1"/>
          </a:solidFill>
          <a:ln w="12700">
            <a:solidFill>
              <a:schemeClr val="accent1"/>
            </a:solidFill>
            <a:prstDash val="solid"/>
          </a:ln>
        </p:spPr>
      </p:sp>
      <p:sp>
        <p:nvSpPr>
          <p:cNvPr id="42" name="Team initials AG"/>
          <p:cNvSpPr txBox="1"/>
          <p:nvPr/>
        </p:nvSpPr>
        <p:spPr>
          <a:xfrm>
            <a:off x="6433718" y="4389120"/>
            <a:ext cx="566928" cy="566928"/>
          </a:xfrm>
          <a:prstGeom prst="rect">
            <a:avLst/>
          </a:prstGeom>
          <a:noFill/>
          <a:ln/>
        </p:spPr>
        <p:txBody>
          <a:bodyPr wrap="square" lIns="0" tIns="0" rIns="0" bIns="0" rtlCol="0" anchor="ctr"/>
          <a:lstStyle/>
          <a:p>
            <a:pPr algn="ctr" indent="0" marL="0">
              <a:buNone/>
            </a:pPr>
            <a:r>
              <a:rPr lang="en-US" sz="1600" b="1" dirty="0">
                <a:solidFill>
                  <a:schemeClr val="bg1"/>
                </a:solidFill>
              </a:rPr>
              <a:t>AG</a:t>
            </a:r>
            <a:endParaRPr lang="en-US" sz="1600" dirty="0"/>
          </a:p>
        </p:txBody>
      </p:sp>
      <p:sp>
        <p:nvSpPr>
          <p:cNvPr id="43" name="Team slides 7"/>
          <p:cNvSpPr txBox="1"/>
          <p:nvPr/>
        </p:nvSpPr>
        <p:spPr>
          <a:xfrm>
            <a:off x="7119518" y="4389120"/>
            <a:ext cx="1463040" cy="566928"/>
          </a:xfrm>
          <a:prstGeom prst="rect">
            <a:avLst/>
          </a:prstGeom>
          <a:noFill/>
          <a:ln/>
        </p:spPr>
        <p:txBody>
          <a:bodyPr wrap="square" lIns="0" tIns="0" rIns="0" bIns="0" rtlCol="0" anchor="ctr"/>
          <a:lstStyle/>
          <a:p>
            <a:pPr algn="r" indent="0" marL="0">
              <a:buNone/>
            </a:pPr>
            <a:r>
              <a:rPr lang="en-US" sz="1100" b="1" spc="200" kern="0" dirty="0">
                <a:solidFill>
                  <a:schemeClr val="tx2"/>
                </a:solidFill>
              </a:rPr>
              <a:t>SLIDES 15–16</a:t>
            </a:r>
            <a:endParaRPr lang="en-US" sz="1100" dirty="0"/>
          </a:p>
        </p:txBody>
      </p:sp>
      <p:sp>
        <p:nvSpPr>
          <p:cNvPr id="44" name="Team name 7"/>
          <p:cNvSpPr txBox="1"/>
          <p:nvPr/>
        </p:nvSpPr>
        <p:spPr>
          <a:xfrm>
            <a:off x="6433718" y="5074920"/>
            <a:ext cx="2148840" cy="548640"/>
          </a:xfrm>
          <a:prstGeom prst="rect">
            <a:avLst/>
          </a:prstGeom>
          <a:noFill/>
          <a:ln/>
        </p:spPr>
        <p:txBody>
          <a:bodyPr wrap="square" lIns="0" tIns="0" rIns="0" bIns="0" rtlCol="0" anchor="t"/>
          <a:lstStyle/>
          <a:p>
            <a:pPr indent="0" marL="0">
              <a:buNone/>
            </a:pPr>
            <a:r>
              <a:rPr lang="en-US" sz="1600" b="1" dirty="0">
                <a:solidFill>
                  <a:schemeClr val="tx1"/>
                </a:solidFill>
              </a:rPr>
              <a:t>Arshi Garg</a:t>
            </a:r>
            <a:endParaRPr lang="en-US" sz="1600" dirty="0"/>
          </a:p>
        </p:txBody>
      </p:sp>
      <p:sp>
        <p:nvSpPr>
          <p:cNvPr id="45" name="Team topic 7"/>
          <p:cNvSpPr txBox="1"/>
          <p:nvPr/>
        </p:nvSpPr>
        <p:spPr>
          <a:xfrm>
            <a:off x="6433718" y="5641848"/>
            <a:ext cx="2148840" cy="548640"/>
          </a:xfrm>
          <a:prstGeom prst="rect">
            <a:avLst/>
          </a:prstGeom>
          <a:noFill/>
          <a:ln/>
        </p:spPr>
        <p:txBody>
          <a:bodyPr wrap="square" lIns="0" tIns="0" rIns="0" bIns="0" rtlCol="0" anchor="t"/>
          <a:lstStyle/>
          <a:p>
            <a:pPr indent="0" marL="0">
              <a:buNone/>
            </a:pPr>
            <a:r>
              <a:rPr lang="en-US" sz="1400" dirty="0">
                <a:solidFill>
                  <a:schemeClr val="tx2"/>
                </a:solidFill>
              </a:rPr>
              <a:t>Performance, limits and next steps</a:t>
            </a:r>
            <a:endParaRPr lang="en-US" sz="1400" dirty="0"/>
          </a:p>
        </p:txBody>
      </p:sp>
      <p:sp>
        <p:nvSpPr>
          <p:cNvPr id="46" name="Team card 8"/>
          <p:cNvSpPr/>
          <p:nvPr/>
        </p:nvSpPr>
        <p:spPr>
          <a:xfrm>
            <a:off x="9033358" y="4160520"/>
            <a:ext cx="2606040" cy="2103120"/>
          </a:xfrm>
          <a:prstGeom prst="roundRect">
            <a:avLst>
              <a:gd name="adj" fmla="val 5217"/>
            </a:avLst>
          </a:prstGeom>
          <a:solidFill>
            <a:schemeClr val="accent1">
              <a:alpha val="18000"/>
            </a:schemeClr>
          </a:solidFill>
          <a:ln w="9525">
            <a:solidFill>
              <a:srgbClr val="C99BDB">
                <a:alpha val="45000"/>
              </a:srgbClr>
            </a:solidFill>
            <a:prstDash val="solid"/>
          </a:ln>
        </p:spPr>
      </p:sp>
      <p:sp>
        <p:nvSpPr>
          <p:cNvPr id="47" name="Demo icon circle"/>
          <p:cNvSpPr/>
          <p:nvPr/>
        </p:nvSpPr>
        <p:spPr>
          <a:xfrm>
            <a:off x="9261958" y="4389120"/>
            <a:ext cx="566928" cy="566928"/>
          </a:xfrm>
          <a:prstGeom prst="ellipse">
            <a:avLst/>
          </a:prstGeom>
          <a:solidFill>
            <a:schemeClr val="accent1"/>
          </a:solidFill>
          <a:ln w="12700">
            <a:solidFill>
              <a:schemeClr val="accent1"/>
            </a:solidFill>
            <a:prstDash val="solid"/>
          </a:ln>
        </p:spPr>
      </p:sp>
      <p:pic>
        <p:nvPicPr>
          <p:cNvPr id="48" name="Demo icon" descr="Eye icon for the live demo">    </p:cNvPr>
          <p:cNvPicPr>
            <a:picLocks noChangeAspect="1"/>
          </p:cNvPicPr>
          <p:nvPr/>
        </p:nvPicPr>
        <p:blipFill>
          <a:blip r:embed="rId1"/>
          <a:stretch>
            <a:fillRect/>
          </a:stretch>
        </p:blipFill>
        <p:spPr>
          <a:xfrm>
            <a:off x="9399118" y="4526280"/>
            <a:ext cx="292608" cy="292608"/>
          </a:xfrm>
          <a:prstGeom prst="rect">
            <a:avLst/>
          </a:prstGeom>
        </p:spPr>
      </p:pic>
      <p:sp>
        <p:nvSpPr>
          <p:cNvPr id="49" name="Team slides 8"/>
          <p:cNvSpPr txBox="1"/>
          <p:nvPr/>
        </p:nvSpPr>
        <p:spPr>
          <a:xfrm>
            <a:off x="9947758" y="4389120"/>
            <a:ext cx="1463040" cy="566928"/>
          </a:xfrm>
          <a:prstGeom prst="rect">
            <a:avLst/>
          </a:prstGeom>
          <a:noFill/>
          <a:ln/>
        </p:spPr>
        <p:txBody>
          <a:bodyPr wrap="square" lIns="0" tIns="0" rIns="0" bIns="0" rtlCol="0" anchor="ctr"/>
          <a:lstStyle/>
          <a:p>
            <a:pPr algn="r" indent="0" marL="0">
              <a:buNone/>
            </a:pPr>
            <a:r>
              <a:rPr lang="en-US" sz="1100" b="1" spc="200" kern="0" dirty="0">
                <a:solidFill>
                  <a:schemeClr val="tx2"/>
                </a:solidFill>
              </a:rPr>
              <a:t>SLIDE 17</a:t>
            </a:r>
            <a:endParaRPr lang="en-US" sz="1100" dirty="0"/>
          </a:p>
        </p:txBody>
      </p:sp>
      <p:sp>
        <p:nvSpPr>
          <p:cNvPr id="50" name="Team name 8"/>
          <p:cNvSpPr txBox="1"/>
          <p:nvPr/>
        </p:nvSpPr>
        <p:spPr>
          <a:xfrm>
            <a:off x="9261958" y="5074920"/>
            <a:ext cx="2148840" cy="548640"/>
          </a:xfrm>
          <a:prstGeom prst="rect">
            <a:avLst/>
          </a:prstGeom>
          <a:noFill/>
          <a:ln/>
        </p:spPr>
        <p:txBody>
          <a:bodyPr wrap="square" lIns="0" tIns="0" rIns="0" bIns="0" rtlCol="0" anchor="t"/>
          <a:lstStyle/>
          <a:p>
            <a:pPr indent="0" marL="0">
              <a:buNone/>
            </a:pPr>
            <a:r>
              <a:rPr lang="en-US" sz="1600" b="1" dirty="0">
                <a:solidFill>
                  <a:schemeClr val="tx1"/>
                </a:solidFill>
              </a:rPr>
              <a:t>Live demo and questions</a:t>
            </a:r>
            <a:endParaRPr lang="en-US" sz="1600" dirty="0"/>
          </a:p>
        </p:txBody>
      </p:sp>
      <p:sp>
        <p:nvSpPr>
          <p:cNvPr id="51" name="Team topic 8"/>
          <p:cNvSpPr txBox="1"/>
          <p:nvPr/>
        </p:nvSpPr>
        <p:spPr>
          <a:xfrm>
            <a:off x="9261958" y="5641848"/>
            <a:ext cx="2148840" cy="548640"/>
          </a:xfrm>
          <a:prstGeom prst="rect">
            <a:avLst/>
          </a:prstGeom>
          <a:noFill/>
          <a:ln/>
        </p:spPr>
        <p:txBody>
          <a:bodyPr wrap="square" lIns="0" tIns="0" rIns="0" bIns="0" rtlCol="0" anchor="t"/>
          <a:lstStyle/>
          <a:p>
            <a:pPr indent="0" marL="0">
              <a:buNone/>
            </a:pPr>
            <a:r>
              <a:rPr lang="en-US" sz="1400" dirty="0">
                <a:solidFill>
                  <a:schemeClr val="tx2"/>
                </a:solidFill>
              </a:rPr>
              <a:t>Upload a scan, draw a spiral</a:t>
            </a:r>
            <a:endParaRPr lang="en-US" sz="14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7F9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resenter badge"/>
          <p:cNvSpPr/>
          <p:nvPr/>
        </p:nvSpPr>
        <p:spPr>
          <a:xfrm>
            <a:off x="548640" y="384048"/>
            <a:ext cx="365760" cy="365760"/>
          </a:xfrm>
          <a:prstGeom prst="ellipse">
            <a:avLst/>
          </a:prstGeom>
          <a:solidFill>
            <a:schemeClr val="accent1"/>
          </a:solidFill>
          <a:ln w="12700">
            <a:solidFill>
              <a:schemeClr val="accent1"/>
            </a:solidFill>
            <a:prstDash val="solid"/>
          </a:ln>
        </p:spPr>
      </p:sp>
      <p:sp>
        <p:nvSpPr>
          <p:cNvPr id="3" name="Presenter initials"/>
          <p:cNvSpPr txBox="1"/>
          <p:nvPr/>
        </p:nvSpPr>
        <p:spPr>
          <a:xfrm>
            <a:off x="548640" y="384048"/>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MS</a:t>
            </a:r>
            <a:endParaRPr lang="en-US" sz="1100" dirty="0"/>
          </a:p>
        </p:txBody>
      </p:sp>
      <p:sp>
        <p:nvSpPr>
          <p:cNvPr id="4" name="Presenter line"/>
          <p:cNvSpPr txBox="1"/>
          <p:nvPr/>
        </p:nvSpPr>
        <p:spPr>
          <a:xfrm>
            <a:off x="1051560" y="384048"/>
            <a:ext cx="9601200"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MALHAR SRIVATSAV</a:t>
            </a:r>
            <a:pPr indent="0" marL="0">
              <a:buNone/>
            </a:pPr>
            <a:r>
              <a:rPr lang="en-US" sz="1200" dirty="0">
                <a:solidFill>
                  <a:schemeClr val="tx2"/>
                </a:solidFill>
              </a:rPr>
              <a:t>   ·   Problem and system overview</a:t>
            </a:r>
            <a:endParaRPr lang="en-US" sz="1200" dirty="0"/>
          </a:p>
        </p:txBody>
      </p:sp>
      <p:sp>
        <p:nvSpPr>
          <p:cNvPr id="5" name="Text 0"/>
          <p:cNvSpPr/>
          <p:nvPr>
            <p:ph idx="100" type="title" hasCustomPrompt="1"/>
          </p:nvPr>
        </p:nvSpPr>
        <p:spPr>
          <a:xfrm>
            <a:off x="548640" y="8686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Early detection needs evidence you can check</a:t>
            </a:r>
            <a:endParaRPr lang="en-US" sz="3400" dirty="0"/>
          </a:p>
        </p:txBody>
      </p:sp>
      <p:sp>
        <p:nvSpPr>
          <p:cNvPr id="6" name="Stage pill NC"/>
          <p:cNvSpPr/>
          <p:nvPr/>
        </p:nvSpPr>
        <p:spPr>
          <a:xfrm>
            <a:off x="548640" y="1783080"/>
            <a:ext cx="2542032" cy="566928"/>
          </a:xfrm>
          <a:prstGeom prst="roundRect">
            <a:avLst>
              <a:gd name="adj" fmla="val 50000"/>
            </a:avLst>
          </a:prstGeom>
          <a:solidFill>
            <a:srgbClr val="34D399">
              <a:alpha val="18000"/>
            </a:srgbClr>
          </a:solidFill>
          <a:ln w="15875">
            <a:solidFill>
              <a:srgbClr val="34D399"/>
            </a:solidFill>
            <a:prstDash val="solid"/>
          </a:ln>
        </p:spPr>
      </p:sp>
      <p:sp>
        <p:nvSpPr>
          <p:cNvPr id="7" name="Stage label NC"/>
          <p:cNvSpPr txBox="1"/>
          <p:nvPr/>
        </p:nvSpPr>
        <p:spPr>
          <a:xfrm>
            <a:off x="548640" y="1783080"/>
            <a:ext cx="2542032" cy="566928"/>
          </a:xfrm>
          <a:prstGeom prst="rect">
            <a:avLst/>
          </a:prstGeom>
          <a:noFill/>
          <a:ln/>
        </p:spPr>
        <p:txBody>
          <a:bodyPr wrap="square" lIns="0" tIns="0" rIns="0" bIns="0" rtlCol="0" anchor="ctr"/>
          <a:lstStyle/>
          <a:p>
            <a:pPr algn="ctr" indent="0" marL="0">
              <a:buNone/>
            </a:pPr>
            <a:r>
              <a:rPr lang="en-US" sz="1500" b="1" dirty="0">
                <a:solidFill>
                  <a:srgbClr val="34D399"/>
                </a:solidFill>
              </a:rPr>
              <a:t>NC</a:t>
            </a:r>
            <a:pPr algn="ctr" indent="0" marL="0">
              <a:buNone/>
            </a:pPr>
            <a:r>
              <a:rPr lang="en-US" sz="1500" dirty="0">
                <a:solidFill>
                  <a:schemeClr val="tx1"/>
                </a:solidFill>
              </a:rPr>
              <a:t>   Normal cognition</a:t>
            </a:r>
            <a:endParaRPr lang="en-US" sz="1500" dirty="0"/>
          </a:p>
        </p:txBody>
      </p:sp>
      <p:sp>
        <p:nvSpPr>
          <p:cNvPr id="8" name="Stage arrow 1"/>
          <p:cNvSpPr txBox="1"/>
          <p:nvPr/>
        </p:nvSpPr>
        <p:spPr>
          <a:xfrm>
            <a:off x="3090672" y="1783080"/>
            <a:ext cx="310896" cy="566928"/>
          </a:xfrm>
          <a:prstGeom prst="rect">
            <a:avLst/>
          </a:prstGeom>
          <a:noFill/>
          <a:ln/>
        </p:spPr>
        <p:txBody>
          <a:bodyPr wrap="square" lIns="0" tIns="0" rIns="0" bIns="0" rtlCol="0" anchor="ctr"/>
          <a:lstStyle/>
          <a:p>
            <a:pPr algn="ctr" indent="0" marL="0">
              <a:buNone/>
            </a:pPr>
            <a:r>
              <a:rPr lang="en-US" sz="2400" dirty="0">
                <a:solidFill>
                  <a:schemeClr val="tx2"/>
                </a:solidFill>
              </a:rPr>
              <a:t>›</a:t>
            </a:r>
            <a:endParaRPr lang="en-US" sz="2400" dirty="0"/>
          </a:p>
        </p:txBody>
      </p:sp>
      <p:sp>
        <p:nvSpPr>
          <p:cNvPr id="9" name="Stage pill EMCI"/>
          <p:cNvSpPr/>
          <p:nvPr/>
        </p:nvSpPr>
        <p:spPr>
          <a:xfrm>
            <a:off x="3401568" y="1783080"/>
            <a:ext cx="2542032" cy="566928"/>
          </a:xfrm>
          <a:prstGeom prst="roundRect">
            <a:avLst>
              <a:gd name="adj" fmla="val 50000"/>
            </a:avLst>
          </a:prstGeom>
          <a:solidFill>
            <a:srgbClr val="FBBF24">
              <a:alpha val="18000"/>
            </a:srgbClr>
          </a:solidFill>
          <a:ln w="15875">
            <a:solidFill>
              <a:srgbClr val="FBBF24"/>
            </a:solidFill>
            <a:prstDash val="solid"/>
          </a:ln>
        </p:spPr>
      </p:sp>
      <p:sp>
        <p:nvSpPr>
          <p:cNvPr id="10" name="Stage label EMCI"/>
          <p:cNvSpPr txBox="1"/>
          <p:nvPr/>
        </p:nvSpPr>
        <p:spPr>
          <a:xfrm>
            <a:off x="3401568" y="1783080"/>
            <a:ext cx="2542032" cy="566928"/>
          </a:xfrm>
          <a:prstGeom prst="rect">
            <a:avLst/>
          </a:prstGeom>
          <a:noFill/>
          <a:ln/>
        </p:spPr>
        <p:txBody>
          <a:bodyPr wrap="square" lIns="0" tIns="0" rIns="0" bIns="0" rtlCol="0" anchor="ctr"/>
          <a:lstStyle/>
          <a:p>
            <a:pPr algn="ctr" indent="0" marL="0">
              <a:buNone/>
            </a:pPr>
            <a:r>
              <a:rPr lang="en-US" sz="1500" b="1" dirty="0">
                <a:solidFill>
                  <a:srgbClr val="FBBF24"/>
                </a:solidFill>
              </a:rPr>
              <a:t>EMCI</a:t>
            </a:r>
            <a:pPr algn="ctr" indent="0" marL="0">
              <a:buNone/>
            </a:pPr>
            <a:r>
              <a:rPr lang="en-US" sz="1500" dirty="0">
                <a:solidFill>
                  <a:schemeClr val="tx1"/>
                </a:solidFill>
              </a:rPr>
              <a:t>   Early MCI</a:t>
            </a:r>
            <a:endParaRPr lang="en-US" sz="1500" dirty="0"/>
          </a:p>
        </p:txBody>
      </p:sp>
      <p:sp>
        <p:nvSpPr>
          <p:cNvPr id="11" name="Stage arrow 2"/>
          <p:cNvSpPr txBox="1"/>
          <p:nvPr/>
        </p:nvSpPr>
        <p:spPr>
          <a:xfrm>
            <a:off x="5943600" y="1783080"/>
            <a:ext cx="310896" cy="566928"/>
          </a:xfrm>
          <a:prstGeom prst="rect">
            <a:avLst/>
          </a:prstGeom>
          <a:noFill/>
          <a:ln/>
        </p:spPr>
        <p:txBody>
          <a:bodyPr wrap="square" lIns="0" tIns="0" rIns="0" bIns="0" rtlCol="0" anchor="ctr"/>
          <a:lstStyle/>
          <a:p>
            <a:pPr algn="ctr" indent="0" marL="0">
              <a:buNone/>
            </a:pPr>
            <a:r>
              <a:rPr lang="en-US" sz="2400" dirty="0">
                <a:solidFill>
                  <a:schemeClr val="tx2"/>
                </a:solidFill>
              </a:rPr>
              <a:t>›</a:t>
            </a:r>
            <a:endParaRPr lang="en-US" sz="2400" dirty="0"/>
          </a:p>
        </p:txBody>
      </p:sp>
      <p:sp>
        <p:nvSpPr>
          <p:cNvPr id="12" name="Stage pill LMCI"/>
          <p:cNvSpPr/>
          <p:nvPr/>
        </p:nvSpPr>
        <p:spPr>
          <a:xfrm>
            <a:off x="6254496" y="1783080"/>
            <a:ext cx="2542032" cy="566928"/>
          </a:xfrm>
          <a:prstGeom prst="roundRect">
            <a:avLst>
              <a:gd name="adj" fmla="val 50000"/>
            </a:avLst>
          </a:prstGeom>
          <a:solidFill>
            <a:srgbClr val="FB923C">
              <a:alpha val="18000"/>
            </a:srgbClr>
          </a:solidFill>
          <a:ln w="15875">
            <a:solidFill>
              <a:srgbClr val="FB923C"/>
            </a:solidFill>
            <a:prstDash val="solid"/>
          </a:ln>
        </p:spPr>
      </p:sp>
      <p:sp>
        <p:nvSpPr>
          <p:cNvPr id="13" name="Stage label LMCI"/>
          <p:cNvSpPr txBox="1"/>
          <p:nvPr/>
        </p:nvSpPr>
        <p:spPr>
          <a:xfrm>
            <a:off x="6254496" y="1783080"/>
            <a:ext cx="2542032" cy="566928"/>
          </a:xfrm>
          <a:prstGeom prst="rect">
            <a:avLst/>
          </a:prstGeom>
          <a:noFill/>
          <a:ln/>
        </p:spPr>
        <p:txBody>
          <a:bodyPr wrap="square" lIns="0" tIns="0" rIns="0" bIns="0" rtlCol="0" anchor="ctr"/>
          <a:lstStyle/>
          <a:p>
            <a:pPr algn="ctr" indent="0" marL="0">
              <a:buNone/>
            </a:pPr>
            <a:r>
              <a:rPr lang="en-US" sz="1500" b="1" dirty="0">
                <a:solidFill>
                  <a:srgbClr val="FB923C"/>
                </a:solidFill>
              </a:rPr>
              <a:t>LMCI</a:t>
            </a:r>
            <a:pPr algn="ctr" indent="0" marL="0">
              <a:buNone/>
            </a:pPr>
            <a:r>
              <a:rPr lang="en-US" sz="1500" dirty="0">
                <a:solidFill>
                  <a:schemeClr val="tx1"/>
                </a:solidFill>
              </a:rPr>
              <a:t>   Late MCI</a:t>
            </a:r>
            <a:endParaRPr lang="en-US" sz="1500" dirty="0"/>
          </a:p>
        </p:txBody>
      </p:sp>
      <p:sp>
        <p:nvSpPr>
          <p:cNvPr id="14" name="Stage arrow 3"/>
          <p:cNvSpPr txBox="1"/>
          <p:nvPr/>
        </p:nvSpPr>
        <p:spPr>
          <a:xfrm>
            <a:off x="8796528" y="1783080"/>
            <a:ext cx="310896" cy="566928"/>
          </a:xfrm>
          <a:prstGeom prst="rect">
            <a:avLst/>
          </a:prstGeom>
          <a:noFill/>
          <a:ln/>
        </p:spPr>
        <p:txBody>
          <a:bodyPr wrap="square" lIns="0" tIns="0" rIns="0" bIns="0" rtlCol="0" anchor="ctr"/>
          <a:lstStyle/>
          <a:p>
            <a:pPr algn="ctr" indent="0" marL="0">
              <a:buNone/>
            </a:pPr>
            <a:r>
              <a:rPr lang="en-US" sz="2400" dirty="0">
                <a:solidFill>
                  <a:schemeClr val="tx2"/>
                </a:solidFill>
              </a:rPr>
              <a:t>›</a:t>
            </a:r>
            <a:endParaRPr lang="en-US" sz="2400" dirty="0"/>
          </a:p>
        </p:txBody>
      </p:sp>
      <p:sp>
        <p:nvSpPr>
          <p:cNvPr id="15" name="Stage pill AD"/>
          <p:cNvSpPr/>
          <p:nvPr/>
        </p:nvSpPr>
        <p:spPr>
          <a:xfrm>
            <a:off x="9107424" y="1783080"/>
            <a:ext cx="2542032" cy="566928"/>
          </a:xfrm>
          <a:prstGeom prst="roundRect">
            <a:avLst>
              <a:gd name="adj" fmla="val 50000"/>
            </a:avLst>
          </a:prstGeom>
          <a:solidFill>
            <a:srgbClr val="F43F5E">
              <a:alpha val="18000"/>
            </a:srgbClr>
          </a:solidFill>
          <a:ln w="15875">
            <a:solidFill>
              <a:srgbClr val="F43F5E"/>
            </a:solidFill>
            <a:prstDash val="solid"/>
          </a:ln>
        </p:spPr>
      </p:sp>
      <p:sp>
        <p:nvSpPr>
          <p:cNvPr id="16" name="Stage label AD"/>
          <p:cNvSpPr txBox="1"/>
          <p:nvPr/>
        </p:nvSpPr>
        <p:spPr>
          <a:xfrm>
            <a:off x="9107424" y="1783080"/>
            <a:ext cx="2542032" cy="566928"/>
          </a:xfrm>
          <a:prstGeom prst="rect">
            <a:avLst/>
          </a:prstGeom>
          <a:noFill/>
          <a:ln/>
        </p:spPr>
        <p:txBody>
          <a:bodyPr wrap="square" lIns="0" tIns="0" rIns="0" bIns="0" rtlCol="0" anchor="ctr"/>
          <a:lstStyle/>
          <a:p>
            <a:pPr algn="ctr" indent="0" marL="0">
              <a:buNone/>
            </a:pPr>
            <a:r>
              <a:rPr lang="en-US" sz="1500" b="1" dirty="0">
                <a:solidFill>
                  <a:srgbClr val="F43F5E"/>
                </a:solidFill>
              </a:rPr>
              <a:t>AD</a:t>
            </a:r>
            <a:pPr algn="ctr" indent="0" marL="0">
              <a:buNone/>
            </a:pPr>
            <a:r>
              <a:rPr lang="en-US" sz="1500" dirty="0">
                <a:solidFill>
                  <a:schemeClr val="tx1"/>
                </a:solidFill>
              </a:rPr>
              <a:t>   Alzheimer's</a:t>
            </a:r>
            <a:endParaRPr lang="en-US" sz="1500" dirty="0"/>
          </a:p>
        </p:txBody>
      </p:sp>
      <p:sp>
        <p:nvSpPr>
          <p:cNvPr id="17" name="Problems label"/>
          <p:cNvSpPr txBox="1"/>
          <p:nvPr/>
        </p:nvSpPr>
        <p:spPr>
          <a:xfrm>
            <a:off x="548640" y="2697480"/>
            <a:ext cx="512064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THREE PROBLEMS</a:t>
            </a:r>
            <a:endParaRPr lang="en-US" sz="1200" dirty="0"/>
          </a:p>
        </p:txBody>
      </p:sp>
      <p:sp>
        <p:nvSpPr>
          <p:cNvPr id="18" name="Problem card 1"/>
          <p:cNvSpPr/>
          <p:nvPr/>
        </p:nvSpPr>
        <p:spPr>
          <a:xfrm>
            <a:off x="548640" y="3063240"/>
            <a:ext cx="5212080" cy="868680"/>
          </a:xfrm>
          <a:prstGeom prst="roundRect">
            <a:avLst>
              <a:gd name="adj" fmla="val 12632"/>
            </a:avLst>
          </a:prstGeom>
          <a:solidFill>
            <a:schemeClr val="bg2">
              <a:alpha val="88000"/>
            </a:schemeClr>
          </a:solidFill>
          <a:ln w="9525">
            <a:solidFill>
              <a:srgbClr val="FFFFFF">
                <a:alpha val="12000"/>
              </a:srgbClr>
            </a:solidFill>
            <a:prstDash val="solid"/>
          </a:ln>
        </p:spPr>
      </p:sp>
      <p:sp>
        <p:nvSpPr>
          <p:cNvPr id="19" name="Problem number dot 1"/>
          <p:cNvSpPr/>
          <p:nvPr/>
        </p:nvSpPr>
        <p:spPr>
          <a:xfrm>
            <a:off x="749808" y="3282696"/>
            <a:ext cx="429768" cy="429768"/>
          </a:xfrm>
          <a:prstGeom prst="ellipse">
            <a:avLst/>
          </a:prstGeom>
          <a:solidFill>
            <a:schemeClr val="accent6"/>
          </a:solidFill>
          <a:ln w="12700">
            <a:solidFill>
              <a:schemeClr val="accent6"/>
            </a:solidFill>
            <a:prstDash val="solid"/>
          </a:ln>
        </p:spPr>
      </p:sp>
      <p:sp>
        <p:nvSpPr>
          <p:cNvPr id="20" name="Problem number 1"/>
          <p:cNvSpPr txBox="1"/>
          <p:nvPr/>
        </p:nvSpPr>
        <p:spPr>
          <a:xfrm>
            <a:off x="749808" y="3282696"/>
            <a:ext cx="429768" cy="42976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21" name="Problem text 1"/>
          <p:cNvSpPr txBox="1"/>
          <p:nvPr/>
        </p:nvSpPr>
        <p:spPr>
          <a:xfrm>
            <a:off x="1371600" y="3063240"/>
            <a:ext cx="4206240" cy="868680"/>
          </a:xfrm>
          <a:prstGeom prst="rect">
            <a:avLst/>
          </a:prstGeom>
          <a:noFill/>
          <a:ln/>
        </p:spPr>
        <p:txBody>
          <a:bodyPr wrap="square" lIns="0" tIns="0" rIns="0" bIns="0" rtlCol="0" anchor="ctr"/>
          <a:lstStyle/>
          <a:p>
            <a:pPr indent="0" marL="0">
              <a:buNone/>
            </a:pPr>
            <a:r>
              <a:rPr lang="en-US" sz="1600" dirty="0">
                <a:solidFill>
                  <a:schemeClr val="tx1"/>
                </a:solidFill>
              </a:rPr>
              <a:t>Early MRI changes are subtle</a:t>
            </a:r>
            <a:endParaRPr lang="en-US" sz="1600" dirty="0"/>
          </a:p>
        </p:txBody>
      </p:sp>
      <p:sp>
        <p:nvSpPr>
          <p:cNvPr id="22" name="Problem card 2"/>
          <p:cNvSpPr/>
          <p:nvPr/>
        </p:nvSpPr>
        <p:spPr>
          <a:xfrm>
            <a:off x="548640" y="4087368"/>
            <a:ext cx="5212080" cy="868680"/>
          </a:xfrm>
          <a:prstGeom prst="roundRect">
            <a:avLst>
              <a:gd name="adj" fmla="val 12632"/>
            </a:avLst>
          </a:prstGeom>
          <a:solidFill>
            <a:schemeClr val="bg2">
              <a:alpha val="88000"/>
            </a:schemeClr>
          </a:solidFill>
          <a:ln w="9525">
            <a:solidFill>
              <a:srgbClr val="FFFFFF">
                <a:alpha val="12000"/>
              </a:srgbClr>
            </a:solidFill>
            <a:prstDash val="solid"/>
          </a:ln>
        </p:spPr>
      </p:sp>
      <p:sp>
        <p:nvSpPr>
          <p:cNvPr id="23" name="Problem number dot 2"/>
          <p:cNvSpPr/>
          <p:nvPr/>
        </p:nvSpPr>
        <p:spPr>
          <a:xfrm>
            <a:off x="749808" y="4306824"/>
            <a:ext cx="429768" cy="429768"/>
          </a:xfrm>
          <a:prstGeom prst="ellipse">
            <a:avLst/>
          </a:prstGeom>
          <a:solidFill>
            <a:schemeClr val="accent6"/>
          </a:solidFill>
          <a:ln w="12700">
            <a:solidFill>
              <a:schemeClr val="accent6"/>
            </a:solidFill>
            <a:prstDash val="solid"/>
          </a:ln>
        </p:spPr>
      </p:sp>
      <p:sp>
        <p:nvSpPr>
          <p:cNvPr id="24" name="Problem number 2"/>
          <p:cNvSpPr txBox="1"/>
          <p:nvPr/>
        </p:nvSpPr>
        <p:spPr>
          <a:xfrm>
            <a:off x="749808" y="4306824"/>
            <a:ext cx="429768" cy="42976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25" name="Problem text 2"/>
          <p:cNvSpPr txBox="1"/>
          <p:nvPr/>
        </p:nvSpPr>
        <p:spPr>
          <a:xfrm>
            <a:off x="1371600" y="4087368"/>
            <a:ext cx="4206240" cy="868680"/>
          </a:xfrm>
          <a:prstGeom prst="rect">
            <a:avLst/>
          </a:prstGeom>
          <a:noFill/>
          <a:ln/>
        </p:spPr>
        <p:txBody>
          <a:bodyPr wrap="square" lIns="0" tIns="0" rIns="0" bIns="0" rtlCol="0" anchor="ctr"/>
          <a:lstStyle/>
          <a:p>
            <a:pPr indent="0" marL="0">
              <a:buNone/>
            </a:pPr>
            <a:r>
              <a:rPr lang="en-US" sz="1600" dirty="0">
                <a:solidFill>
                  <a:schemeClr val="tx1"/>
                </a:solidFill>
              </a:rPr>
              <a:t>A bare label gives a clinician nothing to check</a:t>
            </a:r>
            <a:endParaRPr lang="en-US" sz="1600" dirty="0"/>
          </a:p>
        </p:txBody>
      </p:sp>
      <p:sp>
        <p:nvSpPr>
          <p:cNvPr id="26" name="Problem card 3"/>
          <p:cNvSpPr/>
          <p:nvPr/>
        </p:nvSpPr>
        <p:spPr>
          <a:xfrm>
            <a:off x="548640" y="5111496"/>
            <a:ext cx="5212080" cy="868680"/>
          </a:xfrm>
          <a:prstGeom prst="roundRect">
            <a:avLst>
              <a:gd name="adj" fmla="val 12632"/>
            </a:avLst>
          </a:prstGeom>
          <a:solidFill>
            <a:schemeClr val="bg2">
              <a:alpha val="88000"/>
            </a:schemeClr>
          </a:solidFill>
          <a:ln w="9525">
            <a:solidFill>
              <a:srgbClr val="FFFFFF">
                <a:alpha val="12000"/>
              </a:srgbClr>
            </a:solidFill>
            <a:prstDash val="solid"/>
          </a:ln>
        </p:spPr>
      </p:sp>
      <p:sp>
        <p:nvSpPr>
          <p:cNvPr id="27" name="Problem number dot 3"/>
          <p:cNvSpPr/>
          <p:nvPr/>
        </p:nvSpPr>
        <p:spPr>
          <a:xfrm>
            <a:off x="749808" y="5330952"/>
            <a:ext cx="429768" cy="429768"/>
          </a:xfrm>
          <a:prstGeom prst="ellipse">
            <a:avLst/>
          </a:prstGeom>
          <a:solidFill>
            <a:schemeClr val="accent6"/>
          </a:solidFill>
          <a:ln w="12700">
            <a:solidFill>
              <a:schemeClr val="accent6"/>
            </a:solidFill>
            <a:prstDash val="solid"/>
          </a:ln>
        </p:spPr>
      </p:sp>
      <p:sp>
        <p:nvSpPr>
          <p:cNvPr id="28" name="Problem number 3"/>
          <p:cNvSpPr txBox="1"/>
          <p:nvPr/>
        </p:nvSpPr>
        <p:spPr>
          <a:xfrm>
            <a:off x="749808" y="5330952"/>
            <a:ext cx="429768" cy="42976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9" name="Problem text 3"/>
          <p:cNvSpPr txBox="1"/>
          <p:nvPr/>
        </p:nvSpPr>
        <p:spPr>
          <a:xfrm>
            <a:off x="1371600" y="5111496"/>
            <a:ext cx="4206240" cy="868680"/>
          </a:xfrm>
          <a:prstGeom prst="rect">
            <a:avLst/>
          </a:prstGeom>
          <a:noFill/>
          <a:ln/>
        </p:spPr>
        <p:txBody>
          <a:bodyPr wrap="square" lIns="0" tIns="0" rIns="0" bIns="0" rtlCol="0" anchor="ctr"/>
          <a:lstStyle/>
          <a:p>
            <a:pPr indent="0" marL="0">
              <a:buNone/>
            </a:pPr>
            <a:r>
              <a:rPr lang="en-US" sz="1600" dirty="0">
                <a:solidFill>
                  <a:schemeClr val="tx1"/>
                </a:solidFill>
              </a:rPr>
              <a:t>Records have gaps, and healthy cases dominate</a:t>
            </a:r>
            <a:endParaRPr lang="en-US" sz="1600" dirty="0"/>
          </a:p>
        </p:txBody>
      </p:sp>
      <p:sp>
        <p:nvSpPr>
          <p:cNvPr id="30" name="Answer label"/>
          <p:cNvSpPr txBox="1"/>
          <p:nvPr/>
        </p:nvSpPr>
        <p:spPr>
          <a:xfrm>
            <a:off x="6263640" y="2697480"/>
            <a:ext cx="530352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OUR ANSWER</a:t>
            </a:r>
            <a:endParaRPr lang="en-US" sz="1200" dirty="0"/>
          </a:p>
        </p:txBody>
      </p:sp>
      <p:sp>
        <p:nvSpPr>
          <p:cNvPr id="31" name="Answer card 1"/>
          <p:cNvSpPr/>
          <p:nvPr/>
        </p:nvSpPr>
        <p:spPr>
          <a:xfrm>
            <a:off x="6263640" y="3063240"/>
            <a:ext cx="2587752" cy="1417320"/>
          </a:xfrm>
          <a:prstGeom prst="roundRect">
            <a:avLst>
              <a:gd name="adj" fmla="val 7742"/>
            </a:avLst>
          </a:prstGeom>
          <a:solidFill>
            <a:schemeClr val="bg2">
              <a:alpha val="88000"/>
            </a:schemeClr>
          </a:solidFill>
          <a:ln w="9525">
            <a:solidFill>
              <a:srgbClr val="FFFFFF">
                <a:alpha val="12000"/>
              </a:srgbClr>
            </a:solidFill>
            <a:prstDash val="solid"/>
          </a:ln>
        </p:spPr>
      </p:sp>
      <p:sp>
        <p:nvSpPr>
          <p:cNvPr id="32" name="Answer icon circle 1"/>
          <p:cNvSpPr/>
          <p:nvPr/>
        </p:nvSpPr>
        <p:spPr>
          <a:xfrm>
            <a:off x="6446520" y="3246120"/>
            <a:ext cx="502920" cy="502920"/>
          </a:xfrm>
          <a:prstGeom prst="ellipse">
            <a:avLst/>
          </a:prstGeom>
          <a:solidFill>
            <a:schemeClr val="accent1"/>
          </a:solidFill>
          <a:ln w="12700">
            <a:solidFill>
              <a:schemeClr val="accent1"/>
            </a:solidFill>
            <a:prstDash val="solid"/>
          </a:ln>
        </p:spPr>
      </p:sp>
      <p:pic>
        <p:nvPicPr>
          <p:cNvPr id="33" name="Answer icon 1" descr="Stage classifier icon">    </p:cNvPr>
          <p:cNvPicPr>
            <a:picLocks noChangeAspect="1"/>
          </p:cNvPicPr>
          <p:nvPr/>
        </p:nvPicPr>
        <p:blipFill>
          <a:blip r:embed="rId1"/>
          <a:stretch>
            <a:fillRect/>
          </a:stretch>
        </p:blipFill>
        <p:spPr>
          <a:xfrm>
            <a:off x="6565392" y="3364992"/>
            <a:ext cx="265176" cy="265176"/>
          </a:xfrm>
          <a:prstGeom prst="rect">
            <a:avLst/>
          </a:prstGeom>
        </p:spPr>
      </p:pic>
      <p:sp>
        <p:nvSpPr>
          <p:cNvPr id="34" name="Answer title 1"/>
          <p:cNvSpPr txBox="1"/>
          <p:nvPr/>
        </p:nvSpPr>
        <p:spPr>
          <a:xfrm>
            <a:off x="6446520" y="3840480"/>
            <a:ext cx="2240280" cy="274320"/>
          </a:xfrm>
          <a:prstGeom prst="rect">
            <a:avLst/>
          </a:prstGeom>
          <a:noFill/>
          <a:ln/>
        </p:spPr>
        <p:txBody>
          <a:bodyPr wrap="square" lIns="0" tIns="0" rIns="0" bIns="0" rtlCol="0" anchor="t"/>
          <a:lstStyle/>
          <a:p>
            <a:pPr indent="0" marL="0">
              <a:buNone/>
            </a:pPr>
            <a:r>
              <a:rPr lang="en-US" sz="1500" b="1" dirty="0">
                <a:solidFill>
                  <a:schemeClr val="tx1"/>
                </a:solidFill>
              </a:rPr>
              <a:t>Stage classifier</a:t>
            </a:r>
            <a:endParaRPr lang="en-US" sz="1500" dirty="0"/>
          </a:p>
        </p:txBody>
      </p:sp>
      <p:sp>
        <p:nvSpPr>
          <p:cNvPr id="35" name="Answer text 1"/>
          <p:cNvSpPr txBox="1"/>
          <p:nvPr/>
        </p:nvSpPr>
        <p:spPr>
          <a:xfrm>
            <a:off x="6446520" y="4114800"/>
            <a:ext cx="2240280" cy="320040"/>
          </a:xfrm>
          <a:prstGeom prst="rect">
            <a:avLst/>
          </a:prstGeom>
          <a:noFill/>
          <a:ln/>
        </p:spPr>
        <p:txBody>
          <a:bodyPr wrap="square" lIns="0" tIns="0" rIns="0" bIns="0" rtlCol="0" anchor="t"/>
          <a:lstStyle/>
          <a:p>
            <a:pPr indent="0" marL="0">
              <a:buNone/>
            </a:pPr>
            <a:r>
              <a:rPr lang="en-US" sz="1300" dirty="0">
                <a:solidFill>
                  <a:schemeClr val="tx2"/>
                </a:solidFill>
              </a:rPr>
              <a:t>VGG19, four ordered stages</a:t>
            </a:r>
            <a:endParaRPr lang="en-US" sz="1300" dirty="0"/>
          </a:p>
        </p:txBody>
      </p:sp>
      <p:sp>
        <p:nvSpPr>
          <p:cNvPr id="36" name="Answer card 2"/>
          <p:cNvSpPr/>
          <p:nvPr/>
        </p:nvSpPr>
        <p:spPr>
          <a:xfrm>
            <a:off x="9006840" y="3063240"/>
            <a:ext cx="2587752" cy="1417320"/>
          </a:xfrm>
          <a:prstGeom prst="roundRect">
            <a:avLst>
              <a:gd name="adj" fmla="val 7742"/>
            </a:avLst>
          </a:prstGeom>
          <a:solidFill>
            <a:schemeClr val="bg2">
              <a:alpha val="88000"/>
            </a:schemeClr>
          </a:solidFill>
          <a:ln w="9525">
            <a:solidFill>
              <a:srgbClr val="FFFFFF">
                <a:alpha val="12000"/>
              </a:srgbClr>
            </a:solidFill>
            <a:prstDash val="solid"/>
          </a:ln>
        </p:spPr>
      </p:sp>
      <p:sp>
        <p:nvSpPr>
          <p:cNvPr id="37" name="Answer icon circle 2"/>
          <p:cNvSpPr/>
          <p:nvPr/>
        </p:nvSpPr>
        <p:spPr>
          <a:xfrm>
            <a:off x="9189720" y="3246120"/>
            <a:ext cx="502920" cy="502920"/>
          </a:xfrm>
          <a:prstGeom prst="ellipse">
            <a:avLst/>
          </a:prstGeom>
          <a:solidFill>
            <a:schemeClr val="accent1"/>
          </a:solidFill>
          <a:ln w="12700">
            <a:solidFill>
              <a:schemeClr val="accent1"/>
            </a:solidFill>
            <a:prstDash val="solid"/>
          </a:ln>
        </p:spPr>
      </p:sp>
      <p:pic>
        <p:nvPicPr>
          <p:cNvPr id="38" name="Answer icon 2" descr="Explanation icon">    </p:cNvPr>
          <p:cNvPicPr>
            <a:picLocks noChangeAspect="1"/>
          </p:cNvPicPr>
          <p:nvPr/>
        </p:nvPicPr>
        <p:blipFill>
          <a:blip r:embed="rId2"/>
          <a:stretch>
            <a:fillRect/>
          </a:stretch>
        </p:blipFill>
        <p:spPr>
          <a:xfrm>
            <a:off x="9308592" y="3364992"/>
            <a:ext cx="265176" cy="265176"/>
          </a:xfrm>
          <a:prstGeom prst="rect">
            <a:avLst/>
          </a:prstGeom>
        </p:spPr>
      </p:pic>
      <p:sp>
        <p:nvSpPr>
          <p:cNvPr id="39" name="Answer title 2"/>
          <p:cNvSpPr txBox="1"/>
          <p:nvPr/>
        </p:nvSpPr>
        <p:spPr>
          <a:xfrm>
            <a:off x="9189720" y="3840480"/>
            <a:ext cx="2240280" cy="274320"/>
          </a:xfrm>
          <a:prstGeom prst="rect">
            <a:avLst/>
          </a:prstGeom>
          <a:noFill/>
          <a:ln/>
        </p:spPr>
        <p:txBody>
          <a:bodyPr wrap="square" lIns="0" tIns="0" rIns="0" bIns="0" rtlCol="0" anchor="t"/>
          <a:lstStyle/>
          <a:p>
            <a:pPr indent="0" marL="0">
              <a:buNone/>
            </a:pPr>
            <a:r>
              <a:rPr lang="en-US" sz="1500" b="1" dirty="0">
                <a:solidFill>
                  <a:schemeClr val="tx1"/>
                </a:solidFill>
              </a:rPr>
              <a:t>Explanation</a:t>
            </a:r>
            <a:endParaRPr lang="en-US" sz="1500" dirty="0"/>
          </a:p>
        </p:txBody>
      </p:sp>
      <p:sp>
        <p:nvSpPr>
          <p:cNvPr id="40" name="Answer text 2"/>
          <p:cNvSpPr txBox="1"/>
          <p:nvPr/>
        </p:nvSpPr>
        <p:spPr>
          <a:xfrm>
            <a:off x="9189720" y="4114800"/>
            <a:ext cx="2240280" cy="320040"/>
          </a:xfrm>
          <a:prstGeom prst="rect">
            <a:avLst/>
          </a:prstGeom>
          <a:noFill/>
          <a:ln/>
        </p:spPr>
        <p:txBody>
          <a:bodyPr wrap="square" lIns="0" tIns="0" rIns="0" bIns="0" rtlCol="0" anchor="t"/>
          <a:lstStyle/>
          <a:p>
            <a:pPr indent="0" marL="0">
              <a:buNone/>
            </a:pPr>
            <a:r>
              <a:rPr lang="en-US" sz="1300" dirty="0">
                <a:solidFill>
                  <a:schemeClr val="tx2"/>
                </a:solidFill>
              </a:rPr>
              <a:t>Grad-CAM map + attention audit</a:t>
            </a:r>
            <a:endParaRPr lang="en-US" sz="1300" dirty="0"/>
          </a:p>
        </p:txBody>
      </p:sp>
      <p:sp>
        <p:nvSpPr>
          <p:cNvPr id="41" name="Answer card 3"/>
          <p:cNvSpPr/>
          <p:nvPr/>
        </p:nvSpPr>
        <p:spPr>
          <a:xfrm>
            <a:off x="6263640" y="4617720"/>
            <a:ext cx="2587752" cy="1417320"/>
          </a:xfrm>
          <a:prstGeom prst="roundRect">
            <a:avLst>
              <a:gd name="adj" fmla="val 7742"/>
            </a:avLst>
          </a:prstGeom>
          <a:solidFill>
            <a:schemeClr val="bg2">
              <a:alpha val="88000"/>
            </a:schemeClr>
          </a:solidFill>
          <a:ln w="9525">
            <a:solidFill>
              <a:srgbClr val="FFFFFF">
                <a:alpha val="12000"/>
              </a:srgbClr>
            </a:solidFill>
            <a:prstDash val="solid"/>
          </a:ln>
        </p:spPr>
      </p:sp>
      <p:sp>
        <p:nvSpPr>
          <p:cNvPr id="42" name="Answer icon circle 3"/>
          <p:cNvSpPr/>
          <p:nvPr/>
        </p:nvSpPr>
        <p:spPr>
          <a:xfrm>
            <a:off x="6446520" y="4800600"/>
            <a:ext cx="502920" cy="502920"/>
          </a:xfrm>
          <a:prstGeom prst="ellipse">
            <a:avLst/>
          </a:prstGeom>
          <a:solidFill>
            <a:schemeClr val="accent1"/>
          </a:solidFill>
          <a:ln w="12700">
            <a:solidFill>
              <a:schemeClr val="accent1"/>
            </a:solidFill>
            <a:prstDash val="solid"/>
          </a:ln>
        </p:spPr>
      </p:sp>
      <p:pic>
        <p:nvPicPr>
          <p:cNvPr id="43" name="Answer icon 3" descr="Data pipeline icon">    </p:cNvPr>
          <p:cNvPicPr>
            <a:picLocks noChangeAspect="1"/>
          </p:cNvPicPr>
          <p:nvPr/>
        </p:nvPicPr>
        <p:blipFill>
          <a:blip r:embed="rId3"/>
          <a:stretch>
            <a:fillRect/>
          </a:stretch>
        </p:blipFill>
        <p:spPr>
          <a:xfrm>
            <a:off x="6565392" y="4919472"/>
            <a:ext cx="265176" cy="265176"/>
          </a:xfrm>
          <a:prstGeom prst="rect">
            <a:avLst/>
          </a:prstGeom>
        </p:spPr>
      </p:pic>
      <p:sp>
        <p:nvSpPr>
          <p:cNvPr id="44" name="Answer title 3"/>
          <p:cNvSpPr txBox="1"/>
          <p:nvPr/>
        </p:nvSpPr>
        <p:spPr>
          <a:xfrm>
            <a:off x="6446520" y="5394960"/>
            <a:ext cx="2240280" cy="274320"/>
          </a:xfrm>
          <a:prstGeom prst="rect">
            <a:avLst/>
          </a:prstGeom>
          <a:noFill/>
          <a:ln/>
        </p:spPr>
        <p:txBody>
          <a:bodyPr wrap="square" lIns="0" tIns="0" rIns="0" bIns="0" rtlCol="0" anchor="t"/>
          <a:lstStyle/>
          <a:p>
            <a:pPr indent="0" marL="0">
              <a:buNone/>
            </a:pPr>
            <a:r>
              <a:rPr lang="en-US" sz="1500" b="1" dirty="0">
                <a:solidFill>
                  <a:schemeClr val="tx1"/>
                </a:solidFill>
              </a:rPr>
              <a:t>Data pipeline</a:t>
            </a:r>
            <a:endParaRPr lang="en-US" sz="1500" dirty="0"/>
          </a:p>
        </p:txBody>
      </p:sp>
      <p:sp>
        <p:nvSpPr>
          <p:cNvPr id="45" name="Answer text 3"/>
          <p:cNvSpPr txBox="1"/>
          <p:nvPr/>
        </p:nvSpPr>
        <p:spPr>
          <a:xfrm>
            <a:off x="6446520" y="5669280"/>
            <a:ext cx="2240280" cy="320040"/>
          </a:xfrm>
          <a:prstGeom prst="rect">
            <a:avLst/>
          </a:prstGeom>
          <a:noFill/>
          <a:ln/>
        </p:spPr>
        <p:txBody>
          <a:bodyPr wrap="square" lIns="0" tIns="0" rIns="0" bIns="0" rtlCol="0" anchor="t"/>
          <a:lstStyle/>
          <a:p>
            <a:pPr indent="0" marL="0">
              <a:buNone/>
            </a:pPr>
            <a:r>
              <a:rPr lang="en-US" sz="1300" dirty="0">
                <a:solidFill>
                  <a:schemeClr val="tx2"/>
                </a:solidFill>
              </a:rPr>
              <a:t>Hot-deck imputation, ADASYN</a:t>
            </a:r>
            <a:endParaRPr lang="en-US" sz="1300" dirty="0"/>
          </a:p>
        </p:txBody>
      </p:sp>
      <p:sp>
        <p:nvSpPr>
          <p:cNvPr id="46" name="Answer card 4"/>
          <p:cNvSpPr/>
          <p:nvPr/>
        </p:nvSpPr>
        <p:spPr>
          <a:xfrm>
            <a:off x="9006840" y="4617720"/>
            <a:ext cx="2587752" cy="1417320"/>
          </a:xfrm>
          <a:prstGeom prst="roundRect">
            <a:avLst>
              <a:gd name="adj" fmla="val 7742"/>
            </a:avLst>
          </a:prstGeom>
          <a:solidFill>
            <a:schemeClr val="bg2">
              <a:alpha val="88000"/>
            </a:schemeClr>
          </a:solidFill>
          <a:ln w="9525">
            <a:solidFill>
              <a:srgbClr val="FFFFFF">
                <a:alpha val="12000"/>
              </a:srgbClr>
            </a:solidFill>
            <a:prstDash val="solid"/>
          </a:ln>
        </p:spPr>
      </p:sp>
      <p:sp>
        <p:nvSpPr>
          <p:cNvPr id="47" name="Answer icon circle 4"/>
          <p:cNvSpPr/>
          <p:nvPr/>
        </p:nvSpPr>
        <p:spPr>
          <a:xfrm>
            <a:off x="9189720" y="4800600"/>
            <a:ext cx="502920" cy="502920"/>
          </a:xfrm>
          <a:prstGeom prst="ellipse">
            <a:avLst/>
          </a:prstGeom>
          <a:solidFill>
            <a:schemeClr val="accent1"/>
          </a:solidFill>
          <a:ln w="12700">
            <a:solidFill>
              <a:schemeClr val="accent1"/>
            </a:solidFill>
            <a:prstDash val="solid"/>
          </a:ln>
        </p:spPr>
      </p:sp>
      <p:pic>
        <p:nvPicPr>
          <p:cNvPr id="48" name="Answer icon 4" descr="Second signal icon">    </p:cNvPr>
          <p:cNvPicPr>
            <a:picLocks noChangeAspect="1"/>
          </p:cNvPicPr>
          <p:nvPr/>
        </p:nvPicPr>
        <p:blipFill>
          <a:blip r:embed="rId4"/>
          <a:stretch>
            <a:fillRect/>
          </a:stretch>
        </p:blipFill>
        <p:spPr>
          <a:xfrm>
            <a:off x="9308592" y="4919472"/>
            <a:ext cx="265176" cy="265176"/>
          </a:xfrm>
          <a:prstGeom prst="rect">
            <a:avLst/>
          </a:prstGeom>
        </p:spPr>
      </p:pic>
      <p:sp>
        <p:nvSpPr>
          <p:cNvPr id="49" name="Answer title 4"/>
          <p:cNvSpPr txBox="1"/>
          <p:nvPr/>
        </p:nvSpPr>
        <p:spPr>
          <a:xfrm>
            <a:off x="9189720" y="5394960"/>
            <a:ext cx="2240280" cy="274320"/>
          </a:xfrm>
          <a:prstGeom prst="rect">
            <a:avLst/>
          </a:prstGeom>
          <a:noFill/>
          <a:ln/>
        </p:spPr>
        <p:txBody>
          <a:bodyPr wrap="square" lIns="0" tIns="0" rIns="0" bIns="0" rtlCol="0" anchor="t"/>
          <a:lstStyle/>
          <a:p>
            <a:pPr indent="0" marL="0">
              <a:buNone/>
            </a:pPr>
            <a:r>
              <a:rPr lang="en-US" sz="1500" b="1" dirty="0">
                <a:solidFill>
                  <a:schemeClr val="tx1"/>
                </a:solidFill>
              </a:rPr>
              <a:t>Second signal</a:t>
            </a:r>
            <a:endParaRPr lang="en-US" sz="1500" dirty="0"/>
          </a:p>
        </p:txBody>
      </p:sp>
      <p:sp>
        <p:nvSpPr>
          <p:cNvPr id="50" name="Answer text 4"/>
          <p:cNvSpPr txBox="1"/>
          <p:nvPr/>
        </p:nvSpPr>
        <p:spPr>
          <a:xfrm>
            <a:off x="9189720" y="5669280"/>
            <a:ext cx="2240280" cy="320040"/>
          </a:xfrm>
          <a:prstGeom prst="rect">
            <a:avLst/>
          </a:prstGeom>
          <a:noFill/>
          <a:ln/>
        </p:spPr>
        <p:txBody>
          <a:bodyPr wrap="square" lIns="0" tIns="0" rIns="0" bIns="0" rtlCol="0" anchor="t"/>
          <a:lstStyle/>
          <a:p>
            <a:pPr indent="0" marL="0">
              <a:buNone/>
            </a:pPr>
            <a:r>
              <a:rPr lang="en-US" sz="1300" dirty="0">
                <a:solidFill>
                  <a:schemeClr val="tx2"/>
                </a:solidFill>
              </a:rPr>
              <a:t>Spiral handwriting kinematics</a:t>
            </a:r>
            <a:endParaRPr lang="en-US" sz="13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7F9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resenter badge"/>
          <p:cNvSpPr/>
          <p:nvPr/>
        </p:nvSpPr>
        <p:spPr>
          <a:xfrm>
            <a:off x="548640" y="384048"/>
            <a:ext cx="365760" cy="365760"/>
          </a:xfrm>
          <a:prstGeom prst="ellipse">
            <a:avLst/>
          </a:prstGeom>
          <a:solidFill>
            <a:schemeClr val="accent1"/>
          </a:solidFill>
          <a:ln w="12700">
            <a:solidFill>
              <a:schemeClr val="accent1"/>
            </a:solidFill>
            <a:prstDash val="solid"/>
          </a:ln>
        </p:spPr>
      </p:sp>
      <p:sp>
        <p:nvSpPr>
          <p:cNvPr id="3" name="Presenter initials"/>
          <p:cNvSpPr txBox="1"/>
          <p:nvPr/>
        </p:nvSpPr>
        <p:spPr>
          <a:xfrm>
            <a:off x="548640" y="384048"/>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MS</a:t>
            </a:r>
            <a:endParaRPr lang="en-US" sz="1100" dirty="0"/>
          </a:p>
        </p:txBody>
      </p:sp>
      <p:sp>
        <p:nvSpPr>
          <p:cNvPr id="4" name="Presenter line"/>
          <p:cNvSpPr txBox="1"/>
          <p:nvPr/>
        </p:nvSpPr>
        <p:spPr>
          <a:xfrm>
            <a:off x="1051560" y="384048"/>
            <a:ext cx="9601200"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MALHAR SRIVATSAV</a:t>
            </a:r>
            <a:pPr indent="0" marL="0">
              <a:buNone/>
            </a:pPr>
            <a:r>
              <a:rPr lang="en-US" sz="1200" dirty="0">
                <a:solidFill>
                  <a:schemeClr val="tx2"/>
                </a:solidFill>
              </a:rPr>
              <a:t>   ·   Problem and system overview</a:t>
            </a:r>
            <a:endParaRPr lang="en-US" sz="1200" dirty="0"/>
          </a:p>
        </p:txBody>
      </p:sp>
      <p:sp>
        <p:nvSpPr>
          <p:cNvPr id="5" name="Text 0"/>
          <p:cNvSpPr/>
          <p:nvPr>
            <p:ph idx="100" type="title" hasCustomPrompt="1"/>
          </p:nvPr>
        </p:nvSpPr>
        <p:spPr>
          <a:xfrm>
            <a:off x="548640" y="8686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One app, two signals, every answer explained</a:t>
            </a:r>
            <a:endParaRPr lang="en-US" sz="3400" dirty="0"/>
          </a:p>
        </p:txBody>
      </p:sp>
      <p:sp>
        <p:nvSpPr>
          <p:cNvPr id="6" name="Arch browser"/>
          <p:cNvSpPr/>
          <p:nvPr/>
        </p:nvSpPr>
        <p:spPr>
          <a:xfrm>
            <a:off x="548640" y="1783080"/>
            <a:ext cx="5577840" cy="777240"/>
          </a:xfrm>
          <a:prstGeom prst="roundRect">
            <a:avLst>
              <a:gd name="adj" fmla="val 14118"/>
            </a:avLst>
          </a:prstGeom>
          <a:solidFill>
            <a:schemeClr val="bg2">
              <a:alpha val="88000"/>
            </a:schemeClr>
          </a:solidFill>
          <a:ln w="9525">
            <a:solidFill>
              <a:srgbClr val="FFFFFF">
                <a:alpha val="12000"/>
              </a:srgbClr>
            </a:solidFill>
            <a:prstDash val="solid"/>
          </a:ln>
        </p:spPr>
      </p:sp>
      <p:sp>
        <p:nvSpPr>
          <p:cNvPr id="7" name="Arch browser title"/>
          <p:cNvSpPr txBox="1"/>
          <p:nvPr/>
        </p:nvSpPr>
        <p:spPr>
          <a:xfrm>
            <a:off x="640080" y="1856232"/>
            <a:ext cx="5394960" cy="292608"/>
          </a:xfrm>
          <a:prstGeom prst="rect">
            <a:avLst/>
          </a:prstGeom>
          <a:noFill/>
          <a:ln/>
        </p:spPr>
        <p:txBody>
          <a:bodyPr wrap="square" lIns="0" tIns="0" rIns="0" bIns="0" rtlCol="0" anchor="t"/>
          <a:lstStyle/>
          <a:p>
            <a:pPr algn="ctr" indent="0" marL="0">
              <a:buNone/>
            </a:pPr>
            <a:r>
              <a:rPr lang="en-US" sz="1400" b="1" dirty="0">
                <a:solidFill>
                  <a:schemeClr val="tx1"/>
                </a:solidFill>
              </a:rPr>
              <a:t>Browser</a:t>
            </a:r>
            <a:endParaRPr lang="en-US" sz="1400" dirty="0"/>
          </a:p>
        </p:txBody>
      </p:sp>
      <p:sp>
        <p:nvSpPr>
          <p:cNvPr id="8" name="Arch browser detail"/>
          <p:cNvSpPr txBox="1"/>
          <p:nvPr/>
        </p:nvSpPr>
        <p:spPr>
          <a:xfrm>
            <a:off x="640080" y="2167128"/>
            <a:ext cx="5394960" cy="338328"/>
          </a:xfrm>
          <a:prstGeom prst="rect">
            <a:avLst/>
          </a:prstGeom>
          <a:noFill/>
          <a:ln/>
        </p:spPr>
        <p:txBody>
          <a:bodyPr wrap="square" lIns="0" tIns="0" rIns="0" bIns="0" rtlCol="0" anchor="t"/>
          <a:lstStyle/>
          <a:p>
            <a:pPr algn="ctr" indent="0" marL="0">
              <a:buNone/>
            </a:pPr>
            <a:r>
              <a:rPr lang="en-US" sz="1200" dirty="0">
                <a:solidFill>
                  <a:schemeClr val="tx2"/>
                </a:solidFill>
              </a:rPr>
              <a:t>MRI tab · handwriting canvas · results</a:t>
            </a:r>
            <a:endParaRPr lang="en-US" sz="1200" dirty="0"/>
          </a:p>
        </p:txBody>
      </p:sp>
      <p:sp>
        <p:nvSpPr>
          <p:cNvPr id="9" name="Arch arrow 1"/>
          <p:cNvSpPr/>
          <p:nvPr/>
        </p:nvSpPr>
        <p:spPr>
          <a:xfrm>
            <a:off x="3337560" y="2560320"/>
            <a:ext cx="0" cy="274320"/>
          </a:xfrm>
          <a:prstGeom prst="line">
            <a:avLst/>
          </a:prstGeom>
          <a:noFill/>
          <a:ln w="22225">
            <a:solidFill>
              <a:srgbClr val="C99BDB"/>
            </a:solidFill>
            <a:prstDash val="solid"/>
            <a:tailEnd type="triangle"/>
          </a:ln>
        </p:spPr>
      </p:sp>
      <p:sp>
        <p:nvSpPr>
          <p:cNvPr id="10" name="Arch api"/>
          <p:cNvSpPr/>
          <p:nvPr/>
        </p:nvSpPr>
        <p:spPr>
          <a:xfrm>
            <a:off x="548640" y="2834640"/>
            <a:ext cx="5577840" cy="777240"/>
          </a:xfrm>
          <a:prstGeom prst="roundRect">
            <a:avLst>
              <a:gd name="adj" fmla="val 14118"/>
            </a:avLst>
          </a:prstGeom>
          <a:solidFill>
            <a:schemeClr val="bg2">
              <a:alpha val="88000"/>
            </a:schemeClr>
          </a:solidFill>
          <a:ln w="9525">
            <a:solidFill>
              <a:srgbClr val="FFFFFF">
                <a:alpha val="12000"/>
              </a:srgbClr>
            </a:solidFill>
            <a:prstDash val="solid"/>
          </a:ln>
        </p:spPr>
      </p:sp>
      <p:sp>
        <p:nvSpPr>
          <p:cNvPr id="11" name="Arch api title"/>
          <p:cNvSpPr txBox="1"/>
          <p:nvPr/>
        </p:nvSpPr>
        <p:spPr>
          <a:xfrm>
            <a:off x="640080" y="2907792"/>
            <a:ext cx="5394960" cy="292608"/>
          </a:xfrm>
          <a:prstGeom prst="rect">
            <a:avLst/>
          </a:prstGeom>
          <a:noFill/>
          <a:ln/>
        </p:spPr>
        <p:txBody>
          <a:bodyPr wrap="square" lIns="0" tIns="0" rIns="0" bIns="0" rtlCol="0" anchor="t"/>
          <a:lstStyle/>
          <a:p>
            <a:pPr algn="ctr" indent="0" marL="0">
              <a:buNone/>
            </a:pPr>
            <a:r>
              <a:rPr lang="en-US" sz="1400" b="1" dirty="0">
                <a:solidFill>
                  <a:schemeClr val="tx1"/>
                </a:solidFill>
              </a:rPr>
              <a:t>FastAPI service</a:t>
            </a:r>
            <a:endParaRPr lang="en-US" sz="1400" dirty="0"/>
          </a:p>
        </p:txBody>
      </p:sp>
      <p:sp>
        <p:nvSpPr>
          <p:cNvPr id="12" name="Arch api detail"/>
          <p:cNvSpPr txBox="1"/>
          <p:nvPr/>
        </p:nvSpPr>
        <p:spPr>
          <a:xfrm>
            <a:off x="640080" y="3218688"/>
            <a:ext cx="5394960" cy="338328"/>
          </a:xfrm>
          <a:prstGeom prst="rect">
            <a:avLst/>
          </a:prstGeom>
          <a:noFill/>
          <a:ln/>
        </p:spPr>
        <p:txBody>
          <a:bodyPr wrap="square" lIns="0" tIns="0" rIns="0" bIns="0" rtlCol="0" anchor="t"/>
          <a:lstStyle/>
          <a:p>
            <a:pPr algn="ctr" indent="0" marL="0">
              <a:buNone/>
            </a:pPr>
            <a:r>
              <a:rPr lang="en-US" sz="1200" dirty="0">
                <a:solidFill>
                  <a:schemeClr val="tx2"/>
                </a:solidFill>
              </a:rPr>
              <a:t>size limits · validation · typed errors · /health</a:t>
            </a:r>
            <a:endParaRPr lang="en-US" sz="1200" dirty="0"/>
          </a:p>
        </p:txBody>
      </p:sp>
      <p:sp>
        <p:nvSpPr>
          <p:cNvPr id="13" name="Arch arrow 2"/>
          <p:cNvSpPr/>
          <p:nvPr/>
        </p:nvSpPr>
        <p:spPr>
          <a:xfrm>
            <a:off x="1920240" y="3611880"/>
            <a:ext cx="0" cy="274320"/>
          </a:xfrm>
          <a:prstGeom prst="line">
            <a:avLst/>
          </a:prstGeom>
          <a:noFill/>
          <a:ln w="22225">
            <a:solidFill>
              <a:srgbClr val="C99BDB"/>
            </a:solidFill>
            <a:prstDash val="solid"/>
            <a:tailEnd type="triangle"/>
          </a:ln>
        </p:spPr>
      </p:sp>
      <p:sp>
        <p:nvSpPr>
          <p:cNvPr id="14" name="Arch arrow 3"/>
          <p:cNvSpPr/>
          <p:nvPr/>
        </p:nvSpPr>
        <p:spPr>
          <a:xfrm>
            <a:off x="4754880" y="3611880"/>
            <a:ext cx="0" cy="274320"/>
          </a:xfrm>
          <a:prstGeom prst="line">
            <a:avLst/>
          </a:prstGeom>
          <a:noFill/>
          <a:ln w="22225">
            <a:solidFill>
              <a:srgbClr val="C99BDB"/>
            </a:solidFill>
            <a:prstDash val="solid"/>
            <a:tailEnd type="triangle"/>
          </a:ln>
        </p:spPr>
      </p:sp>
      <p:sp>
        <p:nvSpPr>
          <p:cNvPr id="15" name="Arch mri"/>
          <p:cNvSpPr/>
          <p:nvPr/>
        </p:nvSpPr>
        <p:spPr>
          <a:xfrm>
            <a:off x="548640" y="3886200"/>
            <a:ext cx="2697480" cy="1097280"/>
          </a:xfrm>
          <a:prstGeom prst="roundRect">
            <a:avLst>
              <a:gd name="adj" fmla="val 10000"/>
            </a:avLst>
          </a:prstGeom>
          <a:solidFill>
            <a:schemeClr val="accent1">
              <a:alpha val="15000"/>
            </a:schemeClr>
          </a:solidFill>
          <a:ln w="9525">
            <a:solidFill>
              <a:srgbClr val="C99BDB">
                <a:alpha val="50000"/>
              </a:srgbClr>
            </a:solidFill>
            <a:prstDash val="solid"/>
          </a:ln>
        </p:spPr>
      </p:sp>
      <p:sp>
        <p:nvSpPr>
          <p:cNvPr id="16" name="Arch mri title"/>
          <p:cNvSpPr txBox="1"/>
          <p:nvPr/>
        </p:nvSpPr>
        <p:spPr>
          <a:xfrm>
            <a:off x="640080" y="3959352"/>
            <a:ext cx="2514600" cy="292608"/>
          </a:xfrm>
          <a:prstGeom prst="rect">
            <a:avLst/>
          </a:prstGeom>
          <a:noFill/>
          <a:ln/>
        </p:spPr>
        <p:txBody>
          <a:bodyPr wrap="square" lIns="0" tIns="0" rIns="0" bIns="0" rtlCol="0" anchor="t"/>
          <a:lstStyle/>
          <a:p>
            <a:pPr algn="ctr" indent="0" marL="0">
              <a:buNone/>
            </a:pPr>
            <a:r>
              <a:rPr lang="en-US" sz="1400" b="1" dirty="0">
                <a:solidFill>
                  <a:schemeClr val="tx1"/>
                </a:solidFill>
              </a:rPr>
              <a:t>MRI predictor</a:t>
            </a:r>
            <a:endParaRPr lang="en-US" sz="1400" dirty="0"/>
          </a:p>
        </p:txBody>
      </p:sp>
      <p:sp>
        <p:nvSpPr>
          <p:cNvPr id="17" name="Arch mri detail"/>
          <p:cNvSpPr txBox="1"/>
          <p:nvPr/>
        </p:nvSpPr>
        <p:spPr>
          <a:xfrm>
            <a:off x="640080" y="4270248"/>
            <a:ext cx="2514600" cy="658368"/>
          </a:xfrm>
          <a:prstGeom prst="rect">
            <a:avLst/>
          </a:prstGeom>
          <a:noFill/>
          <a:ln/>
        </p:spPr>
        <p:txBody>
          <a:bodyPr wrap="square" lIns="0" tIns="0" rIns="0" bIns="0" rtlCol="0" anchor="t"/>
          <a:lstStyle/>
          <a:p>
            <a:pPr algn="ctr" indent="0" marL="0">
              <a:buNone/>
            </a:pPr>
            <a:r>
              <a:rPr lang="en-US" sz="1200" dirty="0">
                <a:solidFill>
                  <a:schemeClr val="tx2"/>
                </a:solidFill>
              </a:rPr>
              <a:t>VGG19 · probabilities · Grad-CAM</a:t>
            </a:r>
            <a:endParaRPr lang="en-US" sz="1200" dirty="0"/>
          </a:p>
        </p:txBody>
      </p:sp>
      <p:sp>
        <p:nvSpPr>
          <p:cNvPr id="18" name="Arch handwriting"/>
          <p:cNvSpPr/>
          <p:nvPr/>
        </p:nvSpPr>
        <p:spPr>
          <a:xfrm>
            <a:off x="3429000" y="3886200"/>
            <a:ext cx="2697480" cy="1097280"/>
          </a:xfrm>
          <a:prstGeom prst="roundRect">
            <a:avLst>
              <a:gd name="adj" fmla="val 10000"/>
            </a:avLst>
          </a:prstGeom>
          <a:solidFill>
            <a:schemeClr val="accent1">
              <a:alpha val="15000"/>
            </a:schemeClr>
          </a:solidFill>
          <a:ln w="9525">
            <a:solidFill>
              <a:srgbClr val="C99BDB">
                <a:alpha val="50000"/>
              </a:srgbClr>
            </a:solidFill>
            <a:prstDash val="solid"/>
          </a:ln>
        </p:spPr>
      </p:sp>
      <p:sp>
        <p:nvSpPr>
          <p:cNvPr id="19" name="Arch handwriting title"/>
          <p:cNvSpPr txBox="1"/>
          <p:nvPr/>
        </p:nvSpPr>
        <p:spPr>
          <a:xfrm>
            <a:off x="3520440" y="3959352"/>
            <a:ext cx="2514600" cy="292608"/>
          </a:xfrm>
          <a:prstGeom prst="rect">
            <a:avLst/>
          </a:prstGeom>
          <a:noFill/>
          <a:ln/>
        </p:spPr>
        <p:txBody>
          <a:bodyPr wrap="square" lIns="0" tIns="0" rIns="0" bIns="0" rtlCol="0" anchor="t"/>
          <a:lstStyle/>
          <a:p>
            <a:pPr algn="ctr" indent="0" marL="0">
              <a:buNone/>
            </a:pPr>
            <a:r>
              <a:rPr lang="en-US" sz="1400" b="1" dirty="0">
                <a:solidFill>
                  <a:schemeClr val="tx1"/>
                </a:solidFill>
              </a:rPr>
              <a:t>Handwriting analyzer</a:t>
            </a:r>
            <a:endParaRPr lang="en-US" sz="1400" dirty="0"/>
          </a:p>
        </p:txBody>
      </p:sp>
      <p:sp>
        <p:nvSpPr>
          <p:cNvPr id="20" name="Arch handwriting detail"/>
          <p:cNvSpPr txBox="1"/>
          <p:nvPr/>
        </p:nvSpPr>
        <p:spPr>
          <a:xfrm>
            <a:off x="3520440" y="4270248"/>
            <a:ext cx="2514600" cy="658368"/>
          </a:xfrm>
          <a:prstGeom prst="rect">
            <a:avLst/>
          </a:prstGeom>
          <a:noFill/>
          <a:ln/>
        </p:spPr>
        <p:txBody>
          <a:bodyPr wrap="square" lIns="0" tIns="0" rIns="0" bIns="0" rtlCol="0" anchor="t"/>
          <a:lstStyle/>
          <a:p>
            <a:pPr algn="ctr" indent="0" marL="0">
              <a:buNone/>
            </a:pPr>
            <a:r>
              <a:rPr lang="en-US" sz="1200" dirty="0">
                <a:solidFill>
                  <a:schemeClr val="tx2"/>
                </a:solidFill>
              </a:rPr>
              <a:t>9 features · logistic regression</a:t>
            </a:r>
            <a:endParaRPr lang="en-US" sz="1200" dirty="0"/>
          </a:p>
        </p:txBody>
      </p:sp>
      <p:sp>
        <p:nvSpPr>
          <p:cNvPr id="21" name="Arch arrow 4"/>
          <p:cNvSpPr/>
          <p:nvPr/>
        </p:nvSpPr>
        <p:spPr>
          <a:xfrm>
            <a:off x="1897380" y="4983480"/>
            <a:ext cx="0" cy="246888"/>
          </a:xfrm>
          <a:prstGeom prst="line">
            <a:avLst/>
          </a:prstGeom>
          <a:noFill/>
          <a:ln w="22225">
            <a:solidFill>
              <a:srgbClr val="C99BDB"/>
            </a:solidFill>
            <a:prstDash val="solid"/>
            <a:tailEnd type="triangle"/>
          </a:ln>
        </p:spPr>
      </p:sp>
      <p:sp>
        <p:nvSpPr>
          <p:cNvPr id="22" name="Arch arrow 5"/>
          <p:cNvSpPr/>
          <p:nvPr/>
        </p:nvSpPr>
        <p:spPr>
          <a:xfrm>
            <a:off x="4777740" y="4983480"/>
            <a:ext cx="0" cy="246888"/>
          </a:xfrm>
          <a:prstGeom prst="line">
            <a:avLst/>
          </a:prstGeom>
          <a:noFill/>
          <a:ln w="22225">
            <a:solidFill>
              <a:srgbClr val="C99BDB"/>
            </a:solidFill>
            <a:prstDash val="solid"/>
            <a:tailEnd type="triangle"/>
          </a:ln>
        </p:spPr>
      </p:sp>
      <p:sp>
        <p:nvSpPr>
          <p:cNvPr id="23" name="Arch checkpoint"/>
          <p:cNvSpPr/>
          <p:nvPr/>
        </p:nvSpPr>
        <p:spPr>
          <a:xfrm>
            <a:off x="548640" y="5230368"/>
            <a:ext cx="2697480" cy="658368"/>
          </a:xfrm>
          <a:prstGeom prst="roundRect">
            <a:avLst>
              <a:gd name="adj" fmla="val 16667"/>
            </a:avLst>
          </a:prstGeom>
          <a:solidFill>
            <a:schemeClr val="bg2">
              <a:alpha val="88000"/>
            </a:schemeClr>
          </a:solidFill>
          <a:ln w="9525">
            <a:solidFill>
              <a:srgbClr val="FFFFFF">
                <a:alpha val="12000"/>
              </a:srgbClr>
            </a:solidFill>
            <a:prstDash val="solid"/>
          </a:ln>
        </p:spPr>
      </p:sp>
      <p:sp>
        <p:nvSpPr>
          <p:cNvPr id="24" name="Arch checkpoint title"/>
          <p:cNvSpPr txBox="1"/>
          <p:nvPr/>
        </p:nvSpPr>
        <p:spPr>
          <a:xfrm>
            <a:off x="640080" y="5303520"/>
            <a:ext cx="2514600" cy="292608"/>
          </a:xfrm>
          <a:prstGeom prst="rect">
            <a:avLst/>
          </a:prstGeom>
          <a:noFill/>
          <a:ln/>
        </p:spPr>
        <p:txBody>
          <a:bodyPr wrap="square" lIns="0" tIns="0" rIns="0" bIns="0" rtlCol="0" anchor="t"/>
          <a:lstStyle/>
          <a:p>
            <a:pPr algn="ctr" indent="0" marL="0">
              <a:buNone/>
            </a:pPr>
            <a:r>
              <a:rPr lang="en-US" sz="1400" b="1" dirty="0">
                <a:solidFill>
                  <a:schemeClr val="tx1"/>
                </a:solidFill>
              </a:rPr>
              <a:t>Checkpoint</a:t>
            </a:r>
            <a:endParaRPr lang="en-US" sz="1400" dirty="0"/>
          </a:p>
        </p:txBody>
      </p:sp>
      <p:sp>
        <p:nvSpPr>
          <p:cNvPr id="25" name="Arch checkpoint detail"/>
          <p:cNvSpPr txBox="1"/>
          <p:nvPr/>
        </p:nvSpPr>
        <p:spPr>
          <a:xfrm>
            <a:off x="640080" y="5614416"/>
            <a:ext cx="2514600" cy="219456"/>
          </a:xfrm>
          <a:prstGeom prst="rect">
            <a:avLst/>
          </a:prstGeom>
          <a:noFill/>
          <a:ln/>
        </p:spPr>
        <p:txBody>
          <a:bodyPr wrap="square" lIns="0" tIns="0" rIns="0" bIns="0" rtlCol="0" anchor="t"/>
          <a:lstStyle/>
          <a:p>
            <a:pPr algn="ctr" indent="0" marL="0">
              <a:buNone/>
            </a:pPr>
            <a:r>
              <a:rPr lang="en-US" sz="1200" dirty="0">
                <a:solidFill>
                  <a:schemeClr val="tx2"/>
                </a:solidFill>
              </a:rPr>
              <a:t>best_model.pt · 132 MB</a:t>
            </a:r>
            <a:endParaRPr lang="en-US" sz="1200" dirty="0"/>
          </a:p>
        </p:txBody>
      </p:sp>
      <p:sp>
        <p:nvSpPr>
          <p:cNvPr id="26" name="Arch hw model"/>
          <p:cNvSpPr/>
          <p:nvPr/>
        </p:nvSpPr>
        <p:spPr>
          <a:xfrm>
            <a:off x="3429000" y="5230368"/>
            <a:ext cx="2697480" cy="658368"/>
          </a:xfrm>
          <a:prstGeom prst="roundRect">
            <a:avLst>
              <a:gd name="adj" fmla="val 16667"/>
            </a:avLst>
          </a:prstGeom>
          <a:solidFill>
            <a:schemeClr val="bg2">
              <a:alpha val="88000"/>
            </a:schemeClr>
          </a:solidFill>
          <a:ln w="9525">
            <a:solidFill>
              <a:srgbClr val="FFFFFF">
                <a:alpha val="12000"/>
              </a:srgbClr>
            </a:solidFill>
            <a:prstDash val="solid"/>
          </a:ln>
        </p:spPr>
      </p:sp>
      <p:sp>
        <p:nvSpPr>
          <p:cNvPr id="27" name="Arch hw model title"/>
          <p:cNvSpPr txBox="1"/>
          <p:nvPr/>
        </p:nvSpPr>
        <p:spPr>
          <a:xfrm>
            <a:off x="3520440" y="5303520"/>
            <a:ext cx="2514600" cy="292608"/>
          </a:xfrm>
          <a:prstGeom prst="rect">
            <a:avLst/>
          </a:prstGeom>
          <a:noFill/>
          <a:ln/>
        </p:spPr>
        <p:txBody>
          <a:bodyPr wrap="square" lIns="0" tIns="0" rIns="0" bIns="0" rtlCol="0" anchor="t"/>
          <a:lstStyle/>
          <a:p>
            <a:pPr algn="ctr" indent="0" marL="0">
              <a:buNone/>
            </a:pPr>
            <a:r>
              <a:rPr lang="en-US" sz="1400" b="1" dirty="0">
                <a:solidFill>
                  <a:schemeClr val="tx1"/>
                </a:solidFill>
              </a:rPr>
              <a:t>Saved model</a:t>
            </a:r>
            <a:endParaRPr lang="en-US" sz="1400" dirty="0"/>
          </a:p>
        </p:txBody>
      </p:sp>
      <p:sp>
        <p:nvSpPr>
          <p:cNvPr id="28" name="Arch hw model detail"/>
          <p:cNvSpPr txBox="1"/>
          <p:nvPr/>
        </p:nvSpPr>
        <p:spPr>
          <a:xfrm>
            <a:off x="3520440" y="5614416"/>
            <a:ext cx="2514600" cy="219456"/>
          </a:xfrm>
          <a:prstGeom prst="rect">
            <a:avLst/>
          </a:prstGeom>
          <a:noFill/>
          <a:ln/>
        </p:spPr>
        <p:txBody>
          <a:bodyPr wrap="square" lIns="0" tIns="0" rIns="0" bIns="0" rtlCol="0" anchor="t"/>
          <a:lstStyle/>
          <a:p>
            <a:pPr algn="ctr" indent="0" marL="0">
              <a:buNone/>
            </a:pPr>
            <a:r>
              <a:rPr lang="en-US" sz="1200" dirty="0">
                <a:solidFill>
                  <a:schemeClr val="tx2"/>
                </a:solidFill>
              </a:rPr>
              <a:t>trains itself in about 6 s</a:t>
            </a:r>
            <a:endParaRPr lang="en-US" sz="1200" dirty="0"/>
          </a:p>
        </p:txBody>
      </p:sp>
      <p:sp>
        <p:nvSpPr>
          <p:cNvPr id="29" name="Prototype home screenshot frame"/>
          <p:cNvSpPr/>
          <p:nvPr/>
        </p:nvSpPr>
        <p:spPr>
          <a:xfrm>
            <a:off x="6556248" y="1737360"/>
            <a:ext cx="5084064" cy="3232404"/>
          </a:xfrm>
          <a:prstGeom prst="roundRect">
            <a:avLst>
              <a:gd name="adj" fmla="val 3395"/>
            </a:avLst>
          </a:prstGeom>
          <a:solidFill>
            <a:schemeClr val="bg2"/>
          </a:solidFill>
          <a:ln w="9525">
            <a:solidFill>
              <a:srgbClr val="FFFFFF">
                <a:alpha val="20000"/>
              </a:srgbClr>
            </a:solidFill>
            <a:prstDash val="solid"/>
          </a:ln>
        </p:spPr>
      </p:sp>
      <p:pic>
        <p:nvPicPr>
          <p:cNvPr id="30" name="Prototype home screenshot" descr="Screenshot of the running prototype: upload zone and labelled sample scans">    </p:cNvPr>
          <p:cNvPicPr>
            <a:picLocks noChangeAspect="1"/>
          </p:cNvPicPr>
          <p:nvPr/>
        </p:nvPicPr>
        <p:blipFill>
          <a:blip r:embed="rId1"/>
          <a:stretch>
            <a:fillRect/>
          </a:stretch>
        </p:blipFill>
        <p:spPr>
          <a:xfrm>
            <a:off x="6629400" y="1810512"/>
            <a:ext cx="4937760" cy="3086100"/>
          </a:xfrm>
          <a:prstGeom prst="rect">
            <a:avLst/>
          </a:prstGeom>
        </p:spPr>
      </p:pic>
      <p:sp>
        <p:nvSpPr>
          <p:cNvPr id="31" name="Screenshot caption"/>
          <p:cNvSpPr txBox="1"/>
          <p:nvPr/>
        </p:nvSpPr>
        <p:spPr>
          <a:xfrm>
            <a:off x="6629400" y="5029200"/>
            <a:ext cx="4937760" cy="274320"/>
          </a:xfrm>
          <a:prstGeom prst="rect">
            <a:avLst/>
          </a:prstGeom>
          <a:noFill/>
          <a:ln/>
        </p:spPr>
        <p:txBody>
          <a:bodyPr wrap="square" lIns="0" tIns="0" rIns="0" bIns="0" rtlCol="0" anchor="t"/>
          <a:lstStyle/>
          <a:p>
            <a:pPr indent="0" marL="0">
              <a:buNone/>
            </a:pPr>
            <a:r>
              <a:rPr lang="en-US" sz="1200" dirty="0">
                <a:solidFill>
                  <a:schemeClr val="tx2"/>
                </a:solidFill>
              </a:rPr>
              <a:t>The running prototype: upload a slice or click a labelled sample</a:t>
            </a:r>
            <a:endParaRPr lang="en-US" sz="1200" dirty="0"/>
          </a:p>
        </p:txBody>
      </p:sp>
      <p:sp>
        <p:nvSpPr>
          <p:cNvPr id="32" name="Synthetic data note"/>
          <p:cNvSpPr/>
          <p:nvPr/>
        </p:nvSpPr>
        <p:spPr>
          <a:xfrm>
            <a:off x="6556248" y="5440680"/>
            <a:ext cx="5084064" cy="713232"/>
          </a:xfrm>
          <a:prstGeom prst="roundRect">
            <a:avLst>
              <a:gd name="adj" fmla="val 15385"/>
            </a:avLst>
          </a:prstGeom>
          <a:solidFill>
            <a:schemeClr val="accent4">
              <a:alpha val="12000"/>
            </a:schemeClr>
          </a:solidFill>
          <a:ln w="9525">
            <a:solidFill>
              <a:srgbClr val="FBBF24">
                <a:alpha val="45000"/>
              </a:srgbClr>
            </a:solidFill>
            <a:prstDash val="solid"/>
          </a:ln>
        </p:spPr>
      </p:sp>
      <p:pic>
        <p:nvPicPr>
          <p:cNvPr id="33" name="Warning icon" descr="Warning icon">    </p:cNvPr>
          <p:cNvPicPr>
            <a:picLocks noChangeAspect="1"/>
          </p:cNvPicPr>
          <p:nvPr/>
        </p:nvPicPr>
        <p:blipFill>
          <a:blip r:embed="rId2"/>
          <a:stretch>
            <a:fillRect/>
          </a:stretch>
        </p:blipFill>
        <p:spPr>
          <a:xfrm>
            <a:off x="6766560" y="5641848"/>
            <a:ext cx="310896" cy="310896"/>
          </a:xfrm>
          <a:prstGeom prst="rect">
            <a:avLst/>
          </a:prstGeom>
        </p:spPr>
      </p:pic>
      <p:sp>
        <p:nvSpPr>
          <p:cNvPr id="34" name="Synthetic data text"/>
          <p:cNvSpPr txBox="1"/>
          <p:nvPr/>
        </p:nvSpPr>
        <p:spPr>
          <a:xfrm>
            <a:off x="7223760" y="5440680"/>
            <a:ext cx="4297680" cy="713232"/>
          </a:xfrm>
          <a:prstGeom prst="rect">
            <a:avLst/>
          </a:prstGeom>
          <a:noFill/>
          <a:ln/>
        </p:spPr>
        <p:txBody>
          <a:bodyPr wrap="square" lIns="0" tIns="0" rIns="0" bIns="0" rtlCol="0" anchor="ctr"/>
          <a:lstStyle/>
          <a:p>
            <a:pPr indent="0" marL="0">
              <a:buNone/>
            </a:pPr>
            <a:r>
              <a:rPr lang="en-US" sz="1400" b="1" dirty="0">
                <a:solidFill>
                  <a:schemeClr val="tx1"/>
                </a:solidFill>
              </a:rPr>
              <a:t>All data are synthetic: scores describe the pipeline, not patients</a:t>
            </a:r>
            <a:endParaRPr lang="en-US" sz="14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7F9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resenter badge"/>
          <p:cNvSpPr/>
          <p:nvPr/>
        </p:nvSpPr>
        <p:spPr>
          <a:xfrm>
            <a:off x="548640" y="384048"/>
            <a:ext cx="365760" cy="365760"/>
          </a:xfrm>
          <a:prstGeom prst="ellipse">
            <a:avLst/>
          </a:prstGeom>
          <a:solidFill>
            <a:schemeClr val="accent1"/>
          </a:solidFill>
          <a:ln w="12700">
            <a:solidFill>
              <a:schemeClr val="accent1"/>
            </a:solidFill>
            <a:prstDash val="solid"/>
          </a:ln>
        </p:spPr>
      </p:sp>
      <p:sp>
        <p:nvSpPr>
          <p:cNvPr id="3" name="Presenter initials"/>
          <p:cNvSpPr txBox="1"/>
          <p:nvPr/>
        </p:nvSpPr>
        <p:spPr>
          <a:xfrm>
            <a:off x="548640" y="384048"/>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SB</a:t>
            </a:r>
            <a:endParaRPr lang="en-US" sz="1100" dirty="0"/>
          </a:p>
        </p:txBody>
      </p:sp>
      <p:sp>
        <p:nvSpPr>
          <p:cNvPr id="4" name="Presenter line"/>
          <p:cNvSpPr txBox="1"/>
          <p:nvPr/>
        </p:nvSpPr>
        <p:spPr>
          <a:xfrm>
            <a:off x="1051560" y="384048"/>
            <a:ext cx="9601200"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SATHWIK HEJAMADY BHAT</a:t>
            </a:r>
            <a:pPr indent="0" marL="0">
              <a:buNone/>
            </a:pPr>
            <a:r>
              <a:rPr lang="en-US" sz="1200" dirty="0">
                <a:solidFill>
                  <a:schemeClr val="tx2"/>
                </a:solidFill>
              </a:rPr>
              <a:t>   ·   Data, imputation and balancing</a:t>
            </a:r>
            <a:endParaRPr lang="en-US" sz="1200" dirty="0"/>
          </a:p>
        </p:txBody>
      </p:sp>
      <p:sp>
        <p:nvSpPr>
          <p:cNvPr id="5" name="Text 0"/>
          <p:cNvSpPr/>
          <p:nvPr>
            <p:ph idx="100" type="title" hasCustomPrompt="1"/>
          </p:nvPr>
        </p:nvSpPr>
        <p:spPr>
          <a:xfrm>
            <a:off x="548640" y="8686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Why we generate our own data</a:t>
            </a:r>
            <a:endParaRPr lang="en-US" sz="3400" dirty="0"/>
          </a:p>
        </p:txBody>
      </p:sp>
      <p:pic>
        <p:nvPicPr>
          <p:cNvPr id="6" name="Phantom NC" descr="Phantom slice, stage NC">    </p:cNvPr>
          <p:cNvPicPr>
            <a:picLocks noChangeAspect="1"/>
          </p:cNvPicPr>
          <p:nvPr/>
        </p:nvPicPr>
        <p:blipFill>
          <a:blip r:embed="rId1"/>
          <a:stretch>
            <a:fillRect/>
          </a:stretch>
        </p:blipFill>
        <p:spPr>
          <a:xfrm>
            <a:off x="548640" y="1783080"/>
            <a:ext cx="1325880" cy="1325880"/>
          </a:xfrm>
          <a:prstGeom prst="rect">
            <a:avLst/>
          </a:prstGeom>
        </p:spPr>
      </p:pic>
      <p:sp>
        <p:nvSpPr>
          <p:cNvPr id="7" name="Phantom label NC"/>
          <p:cNvSpPr txBox="1"/>
          <p:nvPr/>
        </p:nvSpPr>
        <p:spPr>
          <a:xfrm>
            <a:off x="548640" y="3154680"/>
            <a:ext cx="1325880" cy="274320"/>
          </a:xfrm>
          <a:prstGeom prst="rect">
            <a:avLst/>
          </a:prstGeom>
          <a:noFill/>
          <a:ln/>
        </p:spPr>
        <p:txBody>
          <a:bodyPr wrap="square" lIns="0" tIns="0" rIns="0" bIns="0" rtlCol="0" anchor="t"/>
          <a:lstStyle/>
          <a:p>
            <a:pPr algn="ctr" indent="0" marL="0">
              <a:buNone/>
            </a:pPr>
            <a:r>
              <a:rPr lang="en-US" sz="1400" b="1" dirty="0">
                <a:solidFill>
                  <a:srgbClr val="34D399"/>
                </a:solidFill>
              </a:rPr>
              <a:t>NC</a:t>
            </a:r>
            <a:endParaRPr lang="en-US" sz="1400" dirty="0"/>
          </a:p>
        </p:txBody>
      </p:sp>
      <p:pic>
        <p:nvPicPr>
          <p:cNvPr id="8" name="Phantom EMCI" descr="Phantom slice, stage EMCI">    </p:cNvPr>
          <p:cNvPicPr>
            <a:picLocks noChangeAspect="1"/>
          </p:cNvPicPr>
          <p:nvPr/>
        </p:nvPicPr>
        <p:blipFill>
          <a:blip r:embed="rId2"/>
          <a:stretch>
            <a:fillRect/>
          </a:stretch>
        </p:blipFill>
        <p:spPr>
          <a:xfrm>
            <a:off x="1993392" y="1783080"/>
            <a:ext cx="1325880" cy="1325880"/>
          </a:xfrm>
          <a:prstGeom prst="rect">
            <a:avLst/>
          </a:prstGeom>
        </p:spPr>
      </p:pic>
      <p:sp>
        <p:nvSpPr>
          <p:cNvPr id="9" name="Phantom label EMCI"/>
          <p:cNvSpPr txBox="1"/>
          <p:nvPr/>
        </p:nvSpPr>
        <p:spPr>
          <a:xfrm>
            <a:off x="1993392" y="3154680"/>
            <a:ext cx="1325880" cy="274320"/>
          </a:xfrm>
          <a:prstGeom prst="rect">
            <a:avLst/>
          </a:prstGeom>
          <a:noFill/>
          <a:ln/>
        </p:spPr>
        <p:txBody>
          <a:bodyPr wrap="square" lIns="0" tIns="0" rIns="0" bIns="0" rtlCol="0" anchor="t"/>
          <a:lstStyle/>
          <a:p>
            <a:pPr algn="ctr" indent="0" marL="0">
              <a:buNone/>
            </a:pPr>
            <a:r>
              <a:rPr lang="en-US" sz="1400" b="1" dirty="0">
                <a:solidFill>
                  <a:srgbClr val="FBBF24"/>
                </a:solidFill>
              </a:rPr>
              <a:t>EMCI</a:t>
            </a:r>
            <a:endParaRPr lang="en-US" sz="1400" dirty="0"/>
          </a:p>
        </p:txBody>
      </p:sp>
      <p:pic>
        <p:nvPicPr>
          <p:cNvPr id="10" name="Phantom LMCI" descr="Phantom slice, stage LMCI">    </p:cNvPr>
          <p:cNvPicPr>
            <a:picLocks noChangeAspect="1"/>
          </p:cNvPicPr>
          <p:nvPr/>
        </p:nvPicPr>
        <p:blipFill>
          <a:blip r:embed="rId3"/>
          <a:stretch>
            <a:fillRect/>
          </a:stretch>
        </p:blipFill>
        <p:spPr>
          <a:xfrm>
            <a:off x="3438144" y="1783080"/>
            <a:ext cx="1325880" cy="1325880"/>
          </a:xfrm>
          <a:prstGeom prst="rect">
            <a:avLst/>
          </a:prstGeom>
        </p:spPr>
      </p:pic>
      <p:sp>
        <p:nvSpPr>
          <p:cNvPr id="11" name="Phantom label LMCI"/>
          <p:cNvSpPr txBox="1"/>
          <p:nvPr/>
        </p:nvSpPr>
        <p:spPr>
          <a:xfrm>
            <a:off x="3438144" y="3154680"/>
            <a:ext cx="1325880" cy="274320"/>
          </a:xfrm>
          <a:prstGeom prst="rect">
            <a:avLst/>
          </a:prstGeom>
          <a:noFill/>
          <a:ln/>
        </p:spPr>
        <p:txBody>
          <a:bodyPr wrap="square" lIns="0" tIns="0" rIns="0" bIns="0" rtlCol="0" anchor="t"/>
          <a:lstStyle/>
          <a:p>
            <a:pPr algn="ctr" indent="0" marL="0">
              <a:buNone/>
            </a:pPr>
            <a:r>
              <a:rPr lang="en-US" sz="1400" b="1" dirty="0">
                <a:solidFill>
                  <a:srgbClr val="FB923C"/>
                </a:solidFill>
              </a:rPr>
              <a:t>LMCI</a:t>
            </a:r>
            <a:endParaRPr lang="en-US" sz="1400" dirty="0"/>
          </a:p>
        </p:txBody>
      </p:sp>
      <p:pic>
        <p:nvPicPr>
          <p:cNvPr id="12" name="Phantom AD" descr="Phantom slice, stage AD">    </p:cNvPr>
          <p:cNvPicPr>
            <a:picLocks noChangeAspect="1"/>
          </p:cNvPicPr>
          <p:nvPr/>
        </p:nvPicPr>
        <p:blipFill>
          <a:blip r:embed="rId4"/>
          <a:stretch>
            <a:fillRect/>
          </a:stretch>
        </p:blipFill>
        <p:spPr>
          <a:xfrm>
            <a:off x="4882896" y="1783080"/>
            <a:ext cx="1325880" cy="1325880"/>
          </a:xfrm>
          <a:prstGeom prst="rect">
            <a:avLst/>
          </a:prstGeom>
        </p:spPr>
      </p:pic>
      <p:sp>
        <p:nvSpPr>
          <p:cNvPr id="13" name="Phantom label AD"/>
          <p:cNvSpPr txBox="1"/>
          <p:nvPr/>
        </p:nvSpPr>
        <p:spPr>
          <a:xfrm>
            <a:off x="4882896" y="3154680"/>
            <a:ext cx="1325880" cy="274320"/>
          </a:xfrm>
          <a:prstGeom prst="rect">
            <a:avLst/>
          </a:prstGeom>
          <a:noFill/>
          <a:ln/>
        </p:spPr>
        <p:txBody>
          <a:bodyPr wrap="square" lIns="0" tIns="0" rIns="0" bIns="0" rtlCol="0" anchor="t"/>
          <a:lstStyle/>
          <a:p>
            <a:pPr algn="ctr" indent="0" marL="0">
              <a:buNone/>
            </a:pPr>
            <a:r>
              <a:rPr lang="en-US" sz="1400" b="1" dirty="0">
                <a:solidFill>
                  <a:srgbClr val="F43F5E"/>
                </a:solidFill>
              </a:rPr>
              <a:t>AD</a:t>
            </a:r>
            <a:endParaRPr lang="en-US" sz="1400" dirty="0"/>
          </a:p>
        </p:txBody>
      </p:sp>
      <p:sp>
        <p:nvSpPr>
          <p:cNvPr id="14" name="Data bullets"/>
          <p:cNvSpPr/>
          <p:nvPr/>
        </p:nvSpPr>
        <p:spPr>
          <a:xfrm>
            <a:off x="548640" y="3611880"/>
            <a:ext cx="5669280" cy="2606040"/>
          </a:xfrm>
          <a:prstGeom prst="roundRect">
            <a:avLst>
              <a:gd name="adj" fmla="val 4211"/>
            </a:avLst>
          </a:prstGeom>
          <a:solidFill>
            <a:schemeClr val="bg2">
              <a:alpha val="88000"/>
            </a:schemeClr>
          </a:solidFill>
          <a:ln w="9525">
            <a:solidFill>
              <a:srgbClr val="FFFFFF">
                <a:alpha val="12000"/>
              </a:srgbClr>
            </a:solidFill>
            <a:prstDash val="solid"/>
          </a:ln>
        </p:spPr>
      </p:sp>
      <p:sp>
        <p:nvSpPr>
          <p:cNvPr id="15" name="Data bullet list"/>
          <p:cNvSpPr txBox="1"/>
          <p:nvPr/>
        </p:nvSpPr>
        <p:spPr>
          <a:xfrm>
            <a:off x="822960" y="3794760"/>
            <a:ext cx="5120640" cy="2240280"/>
          </a:xfrm>
          <a:prstGeom prst="rect">
            <a:avLst/>
          </a:prstGeom>
          <a:noFill/>
          <a:ln/>
        </p:spPr>
        <p:txBody>
          <a:bodyPr wrap="square" lIns="0" tIns="0" rIns="0" bIns="0" rtlCol="0" anchor="ctr"/>
          <a:lstStyle/>
          <a:p>
            <a:pPr marL="342900" indent="-342900">
              <a:spcAft>
                <a:spcPts val="1000"/>
              </a:spcAft>
              <a:buSzPct val="100000"/>
              <a:buChar char="•"/>
            </a:pPr>
            <a:r>
              <a:rPr lang="en-US" sz="1500" dirty="0">
                <a:solidFill>
                  <a:schemeClr val="tx1"/>
                </a:solidFill>
              </a:rPr>
              <a:t>ADNI access takes weeks: a generator lets the whole pipeline run today</a:t>
            </a:r>
            <a:endParaRPr lang="en-US" sz="1500" dirty="0"/>
          </a:p>
          <a:p>
            <a:pPr marL="342900" indent="-342900">
              <a:spcAft>
                <a:spcPts val="1000"/>
              </a:spcAft>
              <a:buSzPct val="100000"/>
              <a:buChar char="•"/>
            </a:pPr>
            <a:r>
              <a:rPr lang="en-US" sz="1500" dirty="0">
                <a:solidFill>
                  <a:schemeClr val="tx1"/>
                </a:solidFill>
              </a:rPr>
              <a:t>As the stage advances: ventricles larger, cortex thinner, hippocampus smaller</a:t>
            </a:r>
            <a:endParaRPr lang="en-US" sz="1500" dirty="0"/>
          </a:p>
          <a:p>
            <a:pPr marL="342900" indent="-342900">
              <a:spcAft>
                <a:spcPts val="1000"/>
              </a:spcAft>
              <a:buSzPct val="100000"/>
              <a:buChar char="•"/>
            </a:pPr>
            <a:r>
              <a:rPr lang="en-US" sz="1500" dirty="0">
                <a:solidFill>
                  <a:schemeClr val="tx1"/>
                </a:solidFill>
              </a:rPr>
              <a:t>Clinical table of 7 measures; gaps rise with stage, CSF amyloid most often missing</a:t>
            </a:r>
            <a:endParaRPr lang="en-US" sz="1500" dirty="0"/>
          </a:p>
        </p:txBody>
      </p:sp>
      <p:sp>
        <p:nvSpPr>
          <p:cNvPr id="16" name="Class chart card"/>
          <p:cNvSpPr/>
          <p:nvPr/>
        </p:nvSpPr>
        <p:spPr>
          <a:xfrm>
            <a:off x="6537960" y="1783080"/>
            <a:ext cx="5102352" cy="4434840"/>
          </a:xfrm>
          <a:prstGeom prst="roundRect">
            <a:avLst>
              <a:gd name="adj" fmla="val 2474"/>
            </a:avLst>
          </a:prstGeom>
          <a:solidFill>
            <a:schemeClr val="bg2">
              <a:alpha val="88000"/>
            </a:schemeClr>
          </a:solidFill>
          <a:ln w="9525">
            <a:solidFill>
              <a:srgbClr val="FFFFFF">
                <a:alpha val="12000"/>
              </a:srgbClr>
            </a:solidFill>
            <a:prstDash val="solid"/>
          </a:ln>
        </p:spPr>
      </p:sp>
      <p:sp>
        <p:nvSpPr>
          <p:cNvPr id="17" name="Imbalance callout"/>
          <p:cNvSpPr txBox="1"/>
          <p:nvPr/>
        </p:nvSpPr>
        <p:spPr>
          <a:xfrm>
            <a:off x="6812280" y="1920240"/>
            <a:ext cx="4572000" cy="548640"/>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3.2 : 1</a:t>
            </a:r>
            <a:pPr indent="0" marL="0">
              <a:buNone/>
            </a:pPr>
            <a:r>
              <a:rPr lang="en-US" sz="1400" dirty="0">
                <a:solidFill>
                  <a:schemeClr val="tx2"/>
                </a:solidFill>
              </a:rPr>
              <a:t>   class imbalance in the 285-slice cohort</a:t>
            </a:r>
            <a:endParaRPr lang="en-US" sz="1400" dirty="0"/>
          </a:p>
        </p:txBody>
      </p:sp>
      <p:graphicFrame>
        <p:nvGraphicFramePr>
          <p:cNvPr id="18" name="Chart 0" descr=""/>
          <p:cNvGraphicFramePr/>
          <p:nvPr/>
        </p:nvGraphicFramePr>
        <p:xfrm>
          <a:off x="6675120" y="2560320"/>
          <a:ext cx="4846320" cy="3566160"/>
        </p:xfrm>
        <a:graphic xmlns:a="http://schemas.openxmlformats.org/drawingml/2006/main">
          <a:graphicData uri="http://schemas.openxmlformats.org/drawingml/2006/chart">
            <c:chart xmlns:c="http://schemas.openxmlformats.org/drawingml/2006/chart" r:id="rId5"/>
          </a:graphicData>
        </a:graphic>
      </p:graphicFrame>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7F9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resenter badge"/>
          <p:cNvSpPr/>
          <p:nvPr/>
        </p:nvSpPr>
        <p:spPr>
          <a:xfrm>
            <a:off x="548640" y="384048"/>
            <a:ext cx="365760" cy="365760"/>
          </a:xfrm>
          <a:prstGeom prst="ellipse">
            <a:avLst/>
          </a:prstGeom>
          <a:solidFill>
            <a:schemeClr val="accent1"/>
          </a:solidFill>
          <a:ln w="12700">
            <a:solidFill>
              <a:schemeClr val="accent1"/>
            </a:solidFill>
            <a:prstDash val="solid"/>
          </a:ln>
        </p:spPr>
      </p:sp>
      <p:sp>
        <p:nvSpPr>
          <p:cNvPr id="3" name="Presenter initials"/>
          <p:cNvSpPr txBox="1"/>
          <p:nvPr/>
        </p:nvSpPr>
        <p:spPr>
          <a:xfrm>
            <a:off x="548640" y="384048"/>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SB</a:t>
            </a:r>
            <a:endParaRPr lang="en-US" sz="1100" dirty="0"/>
          </a:p>
        </p:txBody>
      </p:sp>
      <p:sp>
        <p:nvSpPr>
          <p:cNvPr id="4" name="Presenter line"/>
          <p:cNvSpPr txBox="1"/>
          <p:nvPr/>
        </p:nvSpPr>
        <p:spPr>
          <a:xfrm>
            <a:off x="1051560" y="384048"/>
            <a:ext cx="9601200"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SATHWIK HEJAMADY BHAT</a:t>
            </a:r>
            <a:pPr indent="0" marL="0">
              <a:buNone/>
            </a:pPr>
            <a:r>
              <a:rPr lang="en-US" sz="1200" dirty="0">
                <a:solidFill>
                  <a:schemeClr val="tx2"/>
                </a:solidFill>
              </a:rPr>
              <a:t>   ·   Data, imputation and balancing</a:t>
            </a:r>
            <a:endParaRPr lang="en-US" sz="1200" dirty="0"/>
          </a:p>
        </p:txBody>
      </p:sp>
      <p:sp>
        <p:nvSpPr>
          <p:cNvPr id="5" name="Text 0"/>
          <p:cNvSpPr/>
          <p:nvPr>
            <p:ph idx="100" type="title" hasCustomPrompt="1"/>
          </p:nvPr>
        </p:nvSpPr>
        <p:spPr>
          <a:xfrm>
            <a:off x="548640" y="8686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Hot-deck kept the spread; ADASYN did not help</a:t>
            </a:r>
            <a:endParaRPr lang="en-US" sz="3400" dirty="0"/>
          </a:p>
        </p:txBody>
      </p:sp>
      <p:sp>
        <p:nvSpPr>
          <p:cNvPr id="6" name="Imputation card"/>
          <p:cNvSpPr/>
          <p:nvPr/>
        </p:nvSpPr>
        <p:spPr>
          <a:xfrm>
            <a:off x="548640" y="1783080"/>
            <a:ext cx="5440680" cy="4434840"/>
          </a:xfrm>
          <a:prstGeom prst="roundRect">
            <a:avLst>
              <a:gd name="adj" fmla="val 2474"/>
            </a:avLst>
          </a:prstGeom>
          <a:solidFill>
            <a:schemeClr val="bg2">
              <a:alpha val="88000"/>
            </a:schemeClr>
          </a:solidFill>
          <a:ln w="9525">
            <a:solidFill>
              <a:srgbClr val="FFFFFF">
                <a:alpha val="12000"/>
              </a:srgbClr>
            </a:solidFill>
            <a:prstDash val="solid"/>
          </a:ln>
        </p:spPr>
      </p:sp>
      <p:graphicFrame>
        <p:nvGraphicFramePr>
          <p:cNvPr id="7" name="Chart 0" descr=""/>
          <p:cNvGraphicFramePr/>
          <p:nvPr/>
        </p:nvGraphicFramePr>
        <p:xfrm>
          <a:off x="685800" y="1874520"/>
          <a:ext cx="5166360" cy="2743200"/>
        </p:xfrm>
        <a:graphic xmlns:a="http://schemas.openxmlformats.org/drawingml/2006/main">
          <a:graphicData uri="http://schemas.openxmlformats.org/drawingml/2006/chart">
            <c:chart xmlns:c="http://schemas.openxmlformats.org/drawingml/2006/chart" r:id="rId1"/>
          </a:graphicData>
        </a:graphic>
      </p:graphicFrame>
      <p:sp>
        <p:nvSpPr>
          <p:cNvPr id="8" name="Imputation takeaway"/>
          <p:cNvSpPr txBox="1"/>
          <p:nvPr/>
        </p:nvSpPr>
        <p:spPr>
          <a:xfrm>
            <a:off x="822960" y="4754880"/>
            <a:ext cx="4937760" cy="1325880"/>
          </a:xfrm>
          <a:prstGeom prst="rect">
            <a:avLst/>
          </a:prstGeom>
          <a:noFill/>
          <a:ln/>
        </p:spPr>
        <p:txBody>
          <a:bodyPr wrap="square" lIns="0" tIns="0" rIns="0" bIns="0" rtlCol="0" anchor="t"/>
          <a:lstStyle/>
          <a:p>
            <a:pPr indent="0" marL="0">
              <a:buNone/>
            </a:pPr>
            <a:r>
              <a:rPr lang="en-US" sz="1400" b="1" dirty="0">
                <a:solidFill>
                  <a:schemeClr val="tx1"/>
                </a:solidFill>
              </a:rPr>
              <a:t>Mean imputation: </a:t>
            </a:r>
            <a:pPr indent="0" marL="0">
              <a:buNone/>
            </a:pPr>
            <a:r>
              <a:rPr lang="en-US" sz="1400" dirty="0">
                <a:solidFill>
                  <a:schemeClr val="tx1"/>
                </a:solidFill>
              </a:rPr>
              <a:t>variance 0 and AD hippocampal volume 1.47 sd too large. </a:t>
            </a:r>
            <a:pPr indent="0" marL="0">
              <a:buNone/>
            </a:pPr>
            <a:r>
              <a:rPr lang="en-US" sz="1400" b="1" dirty="0">
                <a:solidFill>
                  <a:schemeClr val="accent1"/>
                </a:solidFill>
              </a:rPr>
              <a:t>Hot-deck: </a:t>
            </a:r>
            <a:pPr indent="0" marL="0">
              <a:buNone/>
            </a:pPr>
            <a:r>
              <a:rPr lang="en-US" sz="1400" dirty="0">
                <a:solidFill>
                  <a:schemeClr val="tx1"/>
                </a:solidFill>
              </a:rPr>
              <a:t>variance ≈ 1.0, bias −0.05 sd, at the cost of noisier single guesses.</a:t>
            </a:r>
            <a:endParaRPr lang="en-US" sz="1400" dirty="0"/>
          </a:p>
        </p:txBody>
      </p:sp>
      <p:sp>
        <p:nvSpPr>
          <p:cNvPr id="9" name="ADASYN card"/>
          <p:cNvSpPr/>
          <p:nvPr/>
        </p:nvSpPr>
        <p:spPr>
          <a:xfrm>
            <a:off x="6199632" y="1783080"/>
            <a:ext cx="5440680" cy="4434840"/>
          </a:xfrm>
          <a:prstGeom prst="roundRect">
            <a:avLst>
              <a:gd name="adj" fmla="val 2474"/>
            </a:avLst>
          </a:prstGeom>
          <a:solidFill>
            <a:schemeClr val="bg2">
              <a:alpha val="88000"/>
            </a:schemeClr>
          </a:solidFill>
          <a:ln w="9525">
            <a:solidFill>
              <a:srgbClr val="FFFFFF">
                <a:alpha val="12000"/>
              </a:srgbClr>
            </a:solidFill>
            <a:prstDash val="solid"/>
          </a:ln>
        </p:spPr>
      </p:sp>
      <p:graphicFrame>
        <p:nvGraphicFramePr>
          <p:cNvPr id="10" name="Chart 1" descr=""/>
          <p:cNvGraphicFramePr/>
          <p:nvPr/>
        </p:nvGraphicFramePr>
        <p:xfrm>
          <a:off x="6336792" y="1874520"/>
          <a:ext cx="5166360" cy="2743200"/>
        </p:xfrm>
        <a:graphic xmlns:a="http://schemas.openxmlformats.org/drawingml/2006/main">
          <a:graphicData uri="http://schemas.openxmlformats.org/drawingml/2006/chart">
            <c:chart xmlns:c="http://schemas.openxmlformats.org/drawingml/2006/chart" r:id="rId2"/>
          </a:graphicData>
        </a:graphic>
      </p:graphicFrame>
      <p:sp>
        <p:nvSpPr>
          <p:cNvPr id="11" name="ADASYN takeaway"/>
          <p:cNvSpPr txBox="1"/>
          <p:nvPr/>
        </p:nvSpPr>
        <p:spPr>
          <a:xfrm>
            <a:off x="6473952" y="4754880"/>
            <a:ext cx="4937760" cy="1325880"/>
          </a:xfrm>
          <a:prstGeom prst="rect">
            <a:avLst/>
          </a:prstGeom>
          <a:noFill/>
          <a:ln/>
        </p:spPr>
        <p:txBody>
          <a:bodyPr wrap="square" lIns="0" tIns="0" rIns="0" bIns="0" rtlCol="0" anchor="t"/>
          <a:lstStyle/>
          <a:p>
            <a:pPr indent="0" marL="0">
              <a:buNone/>
            </a:pPr>
            <a:r>
              <a:rPr lang="en-US" sz="1400" b="1" dirty="0">
                <a:solidFill>
                  <a:schemeClr val="tx1"/>
                </a:solidFill>
              </a:rPr>
              <a:t>ADASYN balances exactly </a:t>
            </a:r>
            <a:pPr indent="0" marL="0">
              <a:buNone/>
            </a:pPr>
            <a:r>
              <a:rPr lang="en-US" sz="1400" dirty="0">
                <a:solidFill>
                  <a:schemeClr val="tx1"/>
                </a:solidFill>
              </a:rPr>
              <a:t>(+455 synthetic rows, 3.26 → 1.00) </a:t>
            </a:r>
            <a:pPr indent="0" marL="0">
              <a:buNone/>
            </a:pPr>
            <a:r>
              <a:rPr lang="en-US" sz="1400" dirty="0">
                <a:solidFill>
                  <a:schemeClr val="tx1"/>
                </a:solidFill>
              </a:rPr>
              <a:t>but macro F1 moves </a:t>
            </a:r>
            <a:pPr indent="0" marL="0">
              <a:buNone/>
            </a:pPr>
            <a:r>
              <a:rPr lang="en-US" sz="1400" b="1" dirty="0">
                <a:solidFill>
                  <a:schemeClr val="accent1"/>
                </a:solidFill>
              </a:rPr>
              <a:t>-0.002 ± 0.015</a:t>
            </a:r>
            <a:pPr indent="0" marL="0">
              <a:buNone/>
            </a:pPr>
            <a:r>
              <a:rPr lang="en-US" sz="1400" dirty="0">
                <a:solidFill>
                  <a:schemeClr val="tx1"/>
                </a:solidFill>
              </a:rPr>
              <a:t>, ahead in 14 of 30 splits: no measurable gain.</a:t>
            </a:r>
            <a:endParaRPr lang="en-US" sz="1400" dirty="0"/>
          </a:p>
        </p:txBody>
      </p:sp>
      <p:sp>
        <p:nvSpPr>
          <p:cNvPr id="12" name="Footnote"/>
          <p:cNvSpPr txBox="1"/>
          <p:nvPr/>
        </p:nvSpPr>
        <p:spPr>
          <a:xfrm>
            <a:off x="822960" y="5943600"/>
            <a:ext cx="4937760" cy="228600"/>
          </a:xfrm>
          <a:prstGeom prst="rect">
            <a:avLst/>
          </a:prstGeom>
          <a:noFill/>
          <a:ln/>
        </p:spPr>
        <p:txBody>
          <a:bodyPr wrap="square" lIns="0" tIns="0" rIns="0" bIns="0" rtlCol="0" anchor="t"/>
          <a:lstStyle/>
          <a:p>
            <a:pPr indent="0" marL="0">
              <a:buNone/>
            </a:pPr>
            <a:r>
              <a:rPr lang="en-US" sz="1000" dirty="0">
                <a:solidFill>
                  <a:schemeClr val="tx2"/>
                </a:solidFill>
              </a:rPr>
              <a:t>* Class mean uses the true label, so it is only a reference.</a:t>
            </a:r>
            <a:endParaRPr lang="en-US" sz="10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7F9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resenter badge"/>
          <p:cNvSpPr/>
          <p:nvPr/>
        </p:nvSpPr>
        <p:spPr>
          <a:xfrm>
            <a:off x="548640" y="384048"/>
            <a:ext cx="365760" cy="365760"/>
          </a:xfrm>
          <a:prstGeom prst="ellipse">
            <a:avLst/>
          </a:prstGeom>
          <a:solidFill>
            <a:schemeClr val="accent1"/>
          </a:solidFill>
          <a:ln w="12700">
            <a:solidFill>
              <a:schemeClr val="accent1"/>
            </a:solidFill>
            <a:prstDash val="solid"/>
          </a:ln>
        </p:spPr>
      </p:sp>
      <p:sp>
        <p:nvSpPr>
          <p:cNvPr id="3" name="Presenter initials"/>
          <p:cNvSpPr txBox="1"/>
          <p:nvPr/>
        </p:nvSpPr>
        <p:spPr>
          <a:xfrm>
            <a:off x="548640" y="384048"/>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HR</a:t>
            </a:r>
            <a:endParaRPr lang="en-US" sz="1100" dirty="0"/>
          </a:p>
        </p:txBody>
      </p:sp>
      <p:sp>
        <p:nvSpPr>
          <p:cNvPr id="4" name="Presenter line"/>
          <p:cNvSpPr txBox="1"/>
          <p:nvPr/>
        </p:nvSpPr>
        <p:spPr>
          <a:xfrm>
            <a:off x="1051560" y="384048"/>
            <a:ext cx="9601200"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HARIT RAVAL</a:t>
            </a:r>
            <a:pPr indent="0" marL="0">
              <a:buNone/>
            </a:pPr>
            <a:r>
              <a:rPr lang="en-US" sz="1200" dirty="0">
                <a:solidFill>
                  <a:schemeClr val="tx2"/>
                </a:solidFill>
              </a:rPr>
              <a:t>   ·   The MRI model</a:t>
            </a:r>
            <a:endParaRPr lang="en-US" sz="1200" dirty="0"/>
          </a:p>
        </p:txBody>
      </p:sp>
      <p:sp>
        <p:nvSpPr>
          <p:cNvPr id="5" name="Text 0"/>
          <p:cNvSpPr/>
          <p:nvPr>
            <p:ph idx="100" type="title" hasCustomPrompt="1"/>
          </p:nvPr>
        </p:nvSpPr>
        <p:spPr>
          <a:xfrm>
            <a:off x="548640" y="8686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A pretrained VGG19, fine-tuned where it matters</a:t>
            </a:r>
            <a:endParaRPr lang="en-US" sz="3400" dirty="0"/>
          </a:p>
        </p:txBody>
      </p:sp>
      <p:sp>
        <p:nvSpPr>
          <p:cNvPr id="6" name="VGG box 1"/>
          <p:cNvSpPr/>
          <p:nvPr/>
        </p:nvSpPr>
        <p:spPr>
          <a:xfrm>
            <a:off x="548640" y="1783080"/>
            <a:ext cx="2057400" cy="1417320"/>
          </a:xfrm>
          <a:prstGeom prst="roundRect">
            <a:avLst>
              <a:gd name="adj" fmla="val 7742"/>
            </a:avLst>
          </a:prstGeom>
          <a:solidFill>
            <a:schemeClr val="bg2">
              <a:alpha val="88000"/>
            </a:schemeClr>
          </a:solidFill>
          <a:ln w="9525">
            <a:solidFill>
              <a:srgbClr val="FFFFFF">
                <a:alpha val="12000"/>
              </a:srgbClr>
            </a:solidFill>
            <a:prstDash val="solid"/>
          </a:ln>
        </p:spPr>
      </p:sp>
      <p:sp>
        <p:nvSpPr>
          <p:cNvPr id="7" name="VGG title 1"/>
          <p:cNvSpPr txBox="1"/>
          <p:nvPr/>
        </p:nvSpPr>
        <p:spPr>
          <a:xfrm>
            <a:off x="658368" y="1920240"/>
            <a:ext cx="1837944" cy="365760"/>
          </a:xfrm>
          <a:prstGeom prst="rect">
            <a:avLst/>
          </a:prstGeom>
          <a:noFill/>
          <a:ln/>
        </p:spPr>
        <p:txBody>
          <a:bodyPr wrap="square" lIns="0" tIns="0" rIns="0" bIns="0" rtlCol="0" anchor="t"/>
          <a:lstStyle/>
          <a:p>
            <a:pPr algn="ctr" indent="0" marL="0">
              <a:buNone/>
            </a:pPr>
            <a:r>
              <a:rPr lang="en-US" sz="1600" b="1" dirty="0">
                <a:solidFill>
                  <a:schemeClr val="tx1"/>
                </a:solidFill>
              </a:rPr>
              <a:t>Input</a:t>
            </a:r>
            <a:endParaRPr lang="en-US" sz="1600" dirty="0"/>
          </a:p>
        </p:txBody>
      </p:sp>
      <p:sp>
        <p:nvSpPr>
          <p:cNvPr id="8" name="VGG detail 1"/>
          <p:cNvSpPr txBox="1"/>
          <p:nvPr/>
        </p:nvSpPr>
        <p:spPr>
          <a:xfrm>
            <a:off x="658368" y="2331720"/>
            <a:ext cx="1837944" cy="777240"/>
          </a:xfrm>
          <a:prstGeom prst="rect">
            <a:avLst/>
          </a:prstGeom>
          <a:noFill/>
          <a:ln/>
        </p:spPr>
        <p:txBody>
          <a:bodyPr wrap="square" lIns="0" tIns="0" rIns="0" bIns="0" rtlCol="0" anchor="t"/>
          <a:lstStyle/>
          <a:p>
            <a:pPr algn="ctr" indent="0" marL="0">
              <a:buNone/>
            </a:pPr>
            <a:r>
              <a:rPr lang="en-US" sz="1300" dirty="0">
                <a:solidFill>
                  <a:schemeClr val="tx2"/>
                </a:solidFill>
              </a:rPr>
              <a:t>224 × 224 MRI slice</a:t>
            </a:r>
            <a:endParaRPr lang="en-US" sz="1300" dirty="0"/>
          </a:p>
        </p:txBody>
      </p:sp>
      <p:sp>
        <p:nvSpPr>
          <p:cNvPr id="9" name="VGG arrow 1"/>
          <p:cNvSpPr txBox="1"/>
          <p:nvPr/>
        </p:nvSpPr>
        <p:spPr>
          <a:xfrm>
            <a:off x="2606040" y="2194560"/>
            <a:ext cx="201168" cy="457200"/>
          </a:xfrm>
          <a:prstGeom prst="rect">
            <a:avLst/>
          </a:prstGeom>
          <a:noFill/>
          <a:ln/>
        </p:spPr>
        <p:txBody>
          <a:bodyPr wrap="square" lIns="0" tIns="0" rIns="0" bIns="0" rtlCol="0" anchor="ctr"/>
          <a:lstStyle/>
          <a:p>
            <a:pPr algn="ctr" indent="0" marL="0">
              <a:buNone/>
            </a:pPr>
            <a:r>
              <a:rPr lang="en-US" sz="2200" dirty="0">
                <a:solidFill>
                  <a:schemeClr val="tx2"/>
                </a:solidFill>
              </a:rPr>
              <a:t>›</a:t>
            </a:r>
            <a:endParaRPr lang="en-US" sz="2200" dirty="0"/>
          </a:p>
        </p:txBody>
      </p:sp>
      <p:sp>
        <p:nvSpPr>
          <p:cNvPr id="10" name="VGG box 2"/>
          <p:cNvSpPr/>
          <p:nvPr/>
        </p:nvSpPr>
        <p:spPr>
          <a:xfrm>
            <a:off x="2807208" y="1783080"/>
            <a:ext cx="2057400" cy="1417320"/>
          </a:xfrm>
          <a:prstGeom prst="roundRect">
            <a:avLst>
              <a:gd name="adj" fmla="val 7742"/>
            </a:avLst>
          </a:prstGeom>
          <a:solidFill>
            <a:schemeClr val="accent6">
              <a:alpha val="30000"/>
            </a:schemeClr>
          </a:solidFill>
          <a:ln w="9525">
            <a:solidFill>
              <a:srgbClr val="FFFFFF">
                <a:alpha val="30000"/>
              </a:srgbClr>
            </a:solidFill>
            <a:prstDash val="solid"/>
          </a:ln>
        </p:spPr>
      </p:sp>
      <p:sp>
        <p:nvSpPr>
          <p:cNvPr id="11" name="VGG title 2"/>
          <p:cNvSpPr txBox="1"/>
          <p:nvPr/>
        </p:nvSpPr>
        <p:spPr>
          <a:xfrm>
            <a:off x="2916936" y="1920240"/>
            <a:ext cx="1837944" cy="365760"/>
          </a:xfrm>
          <a:prstGeom prst="rect">
            <a:avLst/>
          </a:prstGeom>
          <a:noFill/>
          <a:ln/>
        </p:spPr>
        <p:txBody>
          <a:bodyPr wrap="square" lIns="0" tIns="0" rIns="0" bIns="0" rtlCol="0" anchor="t"/>
          <a:lstStyle/>
          <a:p>
            <a:pPr algn="ctr" indent="0" marL="0">
              <a:buNone/>
            </a:pPr>
            <a:r>
              <a:rPr lang="en-US" sz="1600" b="1" dirty="0">
                <a:solidFill>
                  <a:schemeClr val="tx1"/>
                </a:solidFill>
              </a:rPr>
              <a:t>Conv blocks 1–4</a:t>
            </a:r>
            <a:endParaRPr lang="en-US" sz="1600" dirty="0"/>
          </a:p>
        </p:txBody>
      </p:sp>
      <p:sp>
        <p:nvSpPr>
          <p:cNvPr id="12" name="VGG detail 2"/>
          <p:cNvSpPr txBox="1"/>
          <p:nvPr/>
        </p:nvSpPr>
        <p:spPr>
          <a:xfrm>
            <a:off x="2916936" y="2331720"/>
            <a:ext cx="1837944" cy="777240"/>
          </a:xfrm>
          <a:prstGeom prst="rect">
            <a:avLst/>
          </a:prstGeom>
          <a:noFill/>
          <a:ln/>
        </p:spPr>
        <p:txBody>
          <a:bodyPr wrap="square" lIns="0" tIns="0" rIns="0" bIns="0" rtlCol="0" anchor="t"/>
          <a:lstStyle/>
          <a:p>
            <a:pPr algn="ctr" indent="0" marL="0">
              <a:buNone/>
            </a:pPr>
            <a:r>
              <a:rPr lang="en-US" sz="1300" dirty="0">
                <a:solidFill>
                  <a:schemeClr val="tx2"/>
                </a:solidFill>
              </a:rPr>
              <a:t>Frozen · ImageNet filters</a:t>
            </a:r>
            <a:endParaRPr lang="en-US" sz="1300" dirty="0"/>
          </a:p>
        </p:txBody>
      </p:sp>
      <p:sp>
        <p:nvSpPr>
          <p:cNvPr id="13" name="VGG arrow 2"/>
          <p:cNvSpPr txBox="1"/>
          <p:nvPr/>
        </p:nvSpPr>
        <p:spPr>
          <a:xfrm>
            <a:off x="4864608" y="2194560"/>
            <a:ext cx="201168" cy="457200"/>
          </a:xfrm>
          <a:prstGeom prst="rect">
            <a:avLst/>
          </a:prstGeom>
          <a:noFill/>
          <a:ln/>
        </p:spPr>
        <p:txBody>
          <a:bodyPr wrap="square" lIns="0" tIns="0" rIns="0" bIns="0" rtlCol="0" anchor="ctr"/>
          <a:lstStyle/>
          <a:p>
            <a:pPr algn="ctr" indent="0" marL="0">
              <a:buNone/>
            </a:pPr>
            <a:r>
              <a:rPr lang="en-US" sz="2200" dirty="0">
                <a:solidFill>
                  <a:schemeClr val="tx2"/>
                </a:solidFill>
              </a:rPr>
              <a:t>›</a:t>
            </a:r>
            <a:endParaRPr lang="en-US" sz="2200" dirty="0"/>
          </a:p>
        </p:txBody>
      </p:sp>
      <p:sp>
        <p:nvSpPr>
          <p:cNvPr id="14" name="VGG box 3"/>
          <p:cNvSpPr/>
          <p:nvPr/>
        </p:nvSpPr>
        <p:spPr>
          <a:xfrm>
            <a:off x="5065776" y="1783080"/>
            <a:ext cx="2057400" cy="1417320"/>
          </a:xfrm>
          <a:prstGeom prst="roundRect">
            <a:avLst>
              <a:gd name="adj" fmla="val 7742"/>
            </a:avLst>
          </a:prstGeom>
          <a:solidFill>
            <a:schemeClr val="accent1">
              <a:alpha val="30000"/>
            </a:schemeClr>
          </a:solidFill>
          <a:ln w="9525">
            <a:solidFill>
              <a:srgbClr val="C99BDB">
                <a:alpha val="80000"/>
              </a:srgbClr>
            </a:solidFill>
            <a:prstDash val="solid"/>
          </a:ln>
        </p:spPr>
      </p:sp>
      <p:sp>
        <p:nvSpPr>
          <p:cNvPr id="15" name="VGG title 3"/>
          <p:cNvSpPr txBox="1"/>
          <p:nvPr/>
        </p:nvSpPr>
        <p:spPr>
          <a:xfrm>
            <a:off x="5175504" y="1920240"/>
            <a:ext cx="1837944" cy="365760"/>
          </a:xfrm>
          <a:prstGeom prst="rect">
            <a:avLst/>
          </a:prstGeom>
          <a:noFill/>
          <a:ln/>
        </p:spPr>
        <p:txBody>
          <a:bodyPr wrap="square" lIns="0" tIns="0" rIns="0" bIns="0" rtlCol="0" anchor="t"/>
          <a:lstStyle/>
          <a:p>
            <a:pPr algn="ctr" indent="0" marL="0">
              <a:buNone/>
            </a:pPr>
            <a:r>
              <a:rPr lang="en-US" sz="1600" b="1" dirty="0">
                <a:solidFill>
                  <a:schemeClr val="tx1"/>
                </a:solidFill>
              </a:rPr>
              <a:t>Conv block 5</a:t>
            </a:r>
            <a:endParaRPr lang="en-US" sz="1600" dirty="0"/>
          </a:p>
        </p:txBody>
      </p:sp>
      <p:sp>
        <p:nvSpPr>
          <p:cNvPr id="16" name="VGG detail 3"/>
          <p:cNvSpPr txBox="1"/>
          <p:nvPr/>
        </p:nvSpPr>
        <p:spPr>
          <a:xfrm>
            <a:off x="5175504" y="2331720"/>
            <a:ext cx="1837944" cy="777240"/>
          </a:xfrm>
          <a:prstGeom prst="rect">
            <a:avLst/>
          </a:prstGeom>
          <a:noFill/>
          <a:ln/>
        </p:spPr>
        <p:txBody>
          <a:bodyPr wrap="square" lIns="0" tIns="0" rIns="0" bIns="0" rtlCol="0" anchor="t"/>
          <a:lstStyle/>
          <a:p>
            <a:pPr algn="ctr" indent="0" marL="0">
              <a:buNone/>
            </a:pPr>
            <a:r>
              <a:rPr lang="en-US" sz="1300" dirty="0">
                <a:solidFill>
                  <a:schemeClr val="tx2"/>
                </a:solidFill>
              </a:rPr>
              <a:t>Fine-tuned on MRI</a:t>
            </a:r>
            <a:endParaRPr lang="en-US" sz="1300" dirty="0"/>
          </a:p>
        </p:txBody>
      </p:sp>
      <p:sp>
        <p:nvSpPr>
          <p:cNvPr id="17" name="VGG arrow 3"/>
          <p:cNvSpPr txBox="1"/>
          <p:nvPr/>
        </p:nvSpPr>
        <p:spPr>
          <a:xfrm>
            <a:off x="7123176" y="2194560"/>
            <a:ext cx="201168" cy="457200"/>
          </a:xfrm>
          <a:prstGeom prst="rect">
            <a:avLst/>
          </a:prstGeom>
          <a:noFill/>
          <a:ln/>
        </p:spPr>
        <p:txBody>
          <a:bodyPr wrap="square" lIns="0" tIns="0" rIns="0" bIns="0" rtlCol="0" anchor="ctr"/>
          <a:lstStyle/>
          <a:p>
            <a:pPr algn="ctr" indent="0" marL="0">
              <a:buNone/>
            </a:pPr>
            <a:r>
              <a:rPr lang="en-US" sz="2200" dirty="0">
                <a:solidFill>
                  <a:schemeClr val="tx2"/>
                </a:solidFill>
              </a:rPr>
              <a:t>›</a:t>
            </a:r>
            <a:endParaRPr lang="en-US" sz="2200" dirty="0"/>
          </a:p>
        </p:txBody>
      </p:sp>
      <p:sp>
        <p:nvSpPr>
          <p:cNvPr id="18" name="VGG box 4"/>
          <p:cNvSpPr/>
          <p:nvPr/>
        </p:nvSpPr>
        <p:spPr>
          <a:xfrm>
            <a:off x="7324344" y="1783080"/>
            <a:ext cx="2057400" cy="1417320"/>
          </a:xfrm>
          <a:prstGeom prst="roundRect">
            <a:avLst>
              <a:gd name="adj" fmla="val 7742"/>
            </a:avLst>
          </a:prstGeom>
          <a:solidFill>
            <a:schemeClr val="accent1">
              <a:alpha val="12000"/>
            </a:schemeClr>
          </a:solidFill>
          <a:ln w="9525">
            <a:solidFill>
              <a:srgbClr val="C99BDB">
                <a:alpha val="55000"/>
              </a:srgbClr>
            </a:solidFill>
            <a:prstDash val="solid"/>
          </a:ln>
        </p:spPr>
      </p:sp>
      <p:sp>
        <p:nvSpPr>
          <p:cNvPr id="19" name="VGG title 4"/>
          <p:cNvSpPr txBox="1"/>
          <p:nvPr/>
        </p:nvSpPr>
        <p:spPr>
          <a:xfrm>
            <a:off x="7434072" y="1920240"/>
            <a:ext cx="1837944" cy="365760"/>
          </a:xfrm>
          <a:prstGeom prst="rect">
            <a:avLst/>
          </a:prstGeom>
          <a:noFill/>
          <a:ln/>
        </p:spPr>
        <p:txBody>
          <a:bodyPr wrap="square" lIns="0" tIns="0" rIns="0" bIns="0" rtlCol="0" anchor="t"/>
          <a:lstStyle/>
          <a:p>
            <a:pPr algn="ctr" indent="0" marL="0">
              <a:buNone/>
            </a:pPr>
            <a:r>
              <a:rPr lang="en-US" sz="1600" b="1" dirty="0">
                <a:solidFill>
                  <a:schemeClr val="tx1"/>
                </a:solidFill>
              </a:rPr>
              <a:t>New head</a:t>
            </a:r>
            <a:endParaRPr lang="en-US" sz="1600" dirty="0"/>
          </a:p>
        </p:txBody>
      </p:sp>
      <p:sp>
        <p:nvSpPr>
          <p:cNvPr id="20" name="VGG detail 4"/>
          <p:cNvSpPr txBox="1"/>
          <p:nvPr/>
        </p:nvSpPr>
        <p:spPr>
          <a:xfrm>
            <a:off x="7434072" y="2331720"/>
            <a:ext cx="1837944" cy="777240"/>
          </a:xfrm>
          <a:prstGeom prst="rect">
            <a:avLst/>
          </a:prstGeom>
          <a:noFill/>
          <a:ln/>
        </p:spPr>
        <p:txBody>
          <a:bodyPr wrap="square" lIns="0" tIns="0" rIns="0" bIns="0" rtlCol="0" anchor="t"/>
          <a:lstStyle/>
          <a:p>
            <a:pPr algn="ctr" indent="0" marL="0">
              <a:buNone/>
            </a:pPr>
            <a:r>
              <a:rPr lang="en-US" sz="1300" dirty="0">
                <a:solidFill>
                  <a:schemeClr val="tx2"/>
                </a:solidFill>
              </a:rPr>
              <a:t>25088 → 512 → 256 → 4 · dropout</a:t>
            </a:r>
            <a:endParaRPr lang="en-US" sz="1300" dirty="0"/>
          </a:p>
        </p:txBody>
      </p:sp>
      <p:sp>
        <p:nvSpPr>
          <p:cNvPr id="21" name="VGG arrow 4"/>
          <p:cNvSpPr txBox="1"/>
          <p:nvPr/>
        </p:nvSpPr>
        <p:spPr>
          <a:xfrm>
            <a:off x="9381744" y="2194560"/>
            <a:ext cx="201168" cy="457200"/>
          </a:xfrm>
          <a:prstGeom prst="rect">
            <a:avLst/>
          </a:prstGeom>
          <a:noFill/>
          <a:ln/>
        </p:spPr>
        <p:txBody>
          <a:bodyPr wrap="square" lIns="0" tIns="0" rIns="0" bIns="0" rtlCol="0" anchor="ctr"/>
          <a:lstStyle/>
          <a:p>
            <a:pPr algn="ctr" indent="0" marL="0">
              <a:buNone/>
            </a:pPr>
            <a:r>
              <a:rPr lang="en-US" sz="2200" dirty="0">
                <a:solidFill>
                  <a:schemeClr val="tx2"/>
                </a:solidFill>
              </a:rPr>
              <a:t>›</a:t>
            </a:r>
            <a:endParaRPr lang="en-US" sz="2200" dirty="0"/>
          </a:p>
        </p:txBody>
      </p:sp>
      <p:sp>
        <p:nvSpPr>
          <p:cNvPr id="22" name="VGG box 5"/>
          <p:cNvSpPr/>
          <p:nvPr/>
        </p:nvSpPr>
        <p:spPr>
          <a:xfrm>
            <a:off x="9582912" y="1783080"/>
            <a:ext cx="2057400" cy="1417320"/>
          </a:xfrm>
          <a:prstGeom prst="roundRect">
            <a:avLst>
              <a:gd name="adj" fmla="val 7742"/>
            </a:avLst>
          </a:prstGeom>
          <a:solidFill>
            <a:schemeClr val="bg2">
              <a:alpha val="88000"/>
            </a:schemeClr>
          </a:solidFill>
          <a:ln w="9525">
            <a:solidFill>
              <a:srgbClr val="FFFFFF">
                <a:alpha val="12000"/>
              </a:srgbClr>
            </a:solidFill>
            <a:prstDash val="solid"/>
          </a:ln>
        </p:spPr>
      </p:sp>
      <p:sp>
        <p:nvSpPr>
          <p:cNvPr id="23" name="VGG title 5"/>
          <p:cNvSpPr txBox="1"/>
          <p:nvPr/>
        </p:nvSpPr>
        <p:spPr>
          <a:xfrm>
            <a:off x="9692640" y="1920240"/>
            <a:ext cx="1837944" cy="365760"/>
          </a:xfrm>
          <a:prstGeom prst="rect">
            <a:avLst/>
          </a:prstGeom>
          <a:noFill/>
          <a:ln/>
        </p:spPr>
        <p:txBody>
          <a:bodyPr wrap="square" lIns="0" tIns="0" rIns="0" bIns="0" rtlCol="0" anchor="t"/>
          <a:lstStyle/>
          <a:p>
            <a:pPr algn="ctr" indent="0" marL="0">
              <a:buNone/>
            </a:pPr>
            <a:r>
              <a:rPr lang="en-US" sz="1600" b="1" dirty="0">
                <a:solidFill>
                  <a:schemeClr val="tx1"/>
                </a:solidFill>
              </a:rPr>
              <a:t>Output</a:t>
            </a:r>
            <a:endParaRPr lang="en-US" sz="1600" dirty="0"/>
          </a:p>
        </p:txBody>
      </p:sp>
      <p:sp>
        <p:nvSpPr>
          <p:cNvPr id="24" name="VGG detail 5"/>
          <p:cNvSpPr txBox="1"/>
          <p:nvPr/>
        </p:nvSpPr>
        <p:spPr>
          <a:xfrm>
            <a:off x="9692640" y="2331720"/>
            <a:ext cx="1837944" cy="777240"/>
          </a:xfrm>
          <a:prstGeom prst="rect">
            <a:avLst/>
          </a:prstGeom>
          <a:noFill/>
          <a:ln/>
        </p:spPr>
        <p:txBody>
          <a:bodyPr wrap="square" lIns="0" tIns="0" rIns="0" bIns="0" rtlCol="0" anchor="t"/>
          <a:lstStyle/>
          <a:p>
            <a:pPr algn="ctr" indent="0" marL="0">
              <a:buNone/>
            </a:pPr>
            <a:r>
              <a:rPr lang="en-US" sz="1300" dirty="0">
                <a:solidFill>
                  <a:schemeClr val="tx2"/>
                </a:solidFill>
              </a:rPr>
              <a:t>4 stage probabilities</a:t>
            </a:r>
            <a:endParaRPr lang="en-US" sz="1300" dirty="0"/>
          </a:p>
        </p:txBody>
      </p:sp>
      <p:sp>
        <p:nvSpPr>
          <p:cNvPr id="25" name="Stat total"/>
          <p:cNvSpPr/>
          <p:nvPr/>
        </p:nvSpPr>
        <p:spPr>
          <a:xfrm>
            <a:off x="548640" y="3520440"/>
            <a:ext cx="3566160" cy="1417320"/>
          </a:xfrm>
          <a:prstGeom prst="roundRect">
            <a:avLst>
              <a:gd name="adj" fmla="val 7742"/>
            </a:avLst>
          </a:prstGeom>
          <a:solidFill>
            <a:schemeClr val="bg2">
              <a:alpha val="88000"/>
            </a:schemeClr>
          </a:solidFill>
          <a:ln w="9525">
            <a:solidFill>
              <a:srgbClr val="FFFFFF">
                <a:alpha val="12000"/>
              </a:srgbClr>
            </a:solidFill>
            <a:prstDash val="solid"/>
          </a:ln>
        </p:spPr>
      </p:sp>
      <p:sp>
        <p:nvSpPr>
          <p:cNvPr id="26" name="Stat total value"/>
          <p:cNvSpPr txBox="1"/>
          <p:nvPr/>
        </p:nvSpPr>
        <p:spPr>
          <a:xfrm>
            <a:off x="777240" y="3630168"/>
            <a:ext cx="3108960" cy="737006"/>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33.0 M</a:t>
            </a:r>
            <a:endParaRPr lang="en-US" sz="4000" dirty="0"/>
          </a:p>
        </p:txBody>
      </p:sp>
      <p:sp>
        <p:nvSpPr>
          <p:cNvPr id="27" name="Stat total label"/>
          <p:cNvSpPr txBox="1"/>
          <p:nvPr/>
        </p:nvSpPr>
        <p:spPr>
          <a:xfrm>
            <a:off x="777240" y="4342486"/>
            <a:ext cx="3108960" cy="538582"/>
          </a:xfrm>
          <a:prstGeom prst="rect">
            <a:avLst/>
          </a:prstGeom>
          <a:noFill/>
          <a:ln/>
        </p:spPr>
        <p:txBody>
          <a:bodyPr wrap="square" lIns="0" tIns="0" rIns="0" bIns="0" rtlCol="0" anchor="t"/>
          <a:lstStyle/>
          <a:p>
            <a:pPr indent="0" marL="0">
              <a:buNone/>
            </a:pPr>
            <a:r>
              <a:rPr lang="en-US" sz="1300" dirty="0">
                <a:solidFill>
                  <a:schemeClr val="tx2"/>
                </a:solidFill>
              </a:rPr>
              <a:t>parameters in total</a:t>
            </a:r>
            <a:endParaRPr lang="en-US" sz="1300" dirty="0"/>
          </a:p>
        </p:txBody>
      </p:sp>
      <p:sp>
        <p:nvSpPr>
          <p:cNvPr id="28" name="Stat trainable"/>
          <p:cNvSpPr/>
          <p:nvPr/>
        </p:nvSpPr>
        <p:spPr>
          <a:xfrm>
            <a:off x="4315968" y="3520440"/>
            <a:ext cx="3566160" cy="1417320"/>
          </a:xfrm>
          <a:prstGeom prst="roundRect">
            <a:avLst>
              <a:gd name="adj" fmla="val 7742"/>
            </a:avLst>
          </a:prstGeom>
          <a:solidFill>
            <a:schemeClr val="bg2">
              <a:alpha val="88000"/>
            </a:schemeClr>
          </a:solidFill>
          <a:ln w="9525">
            <a:solidFill>
              <a:srgbClr val="FFFFFF">
                <a:alpha val="12000"/>
              </a:srgbClr>
            </a:solidFill>
            <a:prstDash val="solid"/>
          </a:ln>
        </p:spPr>
      </p:sp>
      <p:sp>
        <p:nvSpPr>
          <p:cNvPr id="29" name="Stat trainable value"/>
          <p:cNvSpPr txBox="1"/>
          <p:nvPr/>
        </p:nvSpPr>
        <p:spPr>
          <a:xfrm>
            <a:off x="4544568" y="3630168"/>
            <a:ext cx="3108960" cy="737006"/>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22.4 M</a:t>
            </a:r>
            <a:endParaRPr lang="en-US" sz="4000" dirty="0"/>
          </a:p>
        </p:txBody>
      </p:sp>
      <p:sp>
        <p:nvSpPr>
          <p:cNvPr id="30" name="Stat trainable label"/>
          <p:cNvSpPr txBox="1"/>
          <p:nvPr/>
        </p:nvSpPr>
        <p:spPr>
          <a:xfrm>
            <a:off x="4544568" y="4342486"/>
            <a:ext cx="3108960" cy="538582"/>
          </a:xfrm>
          <a:prstGeom prst="rect">
            <a:avLst/>
          </a:prstGeom>
          <a:noFill/>
          <a:ln/>
        </p:spPr>
        <p:txBody>
          <a:bodyPr wrap="square" lIns="0" tIns="0" rIns="0" bIns="0" rtlCol="0" anchor="t"/>
          <a:lstStyle/>
          <a:p>
            <a:pPr indent="0" marL="0">
              <a:buNone/>
            </a:pPr>
            <a:r>
              <a:rPr lang="en-US" sz="1300" dirty="0">
                <a:solidFill>
                  <a:schemeClr val="tx2"/>
                </a:solidFill>
              </a:rPr>
              <a:t>trainable: block 5 + new head</a:t>
            </a:r>
            <a:endParaRPr lang="en-US" sz="1300" dirty="0"/>
          </a:p>
        </p:txBody>
      </p:sp>
      <p:sp>
        <p:nvSpPr>
          <p:cNvPr id="31" name="Stat classes"/>
          <p:cNvSpPr/>
          <p:nvPr/>
        </p:nvSpPr>
        <p:spPr>
          <a:xfrm>
            <a:off x="8083296" y="3520440"/>
            <a:ext cx="3557016" cy="1417320"/>
          </a:xfrm>
          <a:prstGeom prst="roundRect">
            <a:avLst>
              <a:gd name="adj" fmla="val 7742"/>
            </a:avLst>
          </a:prstGeom>
          <a:solidFill>
            <a:schemeClr val="bg2">
              <a:alpha val="88000"/>
            </a:schemeClr>
          </a:solidFill>
          <a:ln w="9525">
            <a:solidFill>
              <a:srgbClr val="FFFFFF">
                <a:alpha val="12000"/>
              </a:srgbClr>
            </a:solidFill>
            <a:prstDash val="solid"/>
          </a:ln>
        </p:spPr>
      </p:sp>
      <p:sp>
        <p:nvSpPr>
          <p:cNvPr id="32" name="Stat classes value"/>
          <p:cNvSpPr txBox="1"/>
          <p:nvPr/>
        </p:nvSpPr>
        <p:spPr>
          <a:xfrm>
            <a:off x="8311896" y="3630168"/>
            <a:ext cx="3099816" cy="737006"/>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4</a:t>
            </a:r>
            <a:endParaRPr lang="en-US" sz="4000" dirty="0"/>
          </a:p>
        </p:txBody>
      </p:sp>
      <p:sp>
        <p:nvSpPr>
          <p:cNvPr id="33" name="Stat classes label"/>
          <p:cNvSpPr txBox="1"/>
          <p:nvPr/>
        </p:nvSpPr>
        <p:spPr>
          <a:xfrm>
            <a:off x="8311896" y="4342486"/>
            <a:ext cx="3099816" cy="538582"/>
          </a:xfrm>
          <a:prstGeom prst="rect">
            <a:avLst/>
          </a:prstGeom>
          <a:noFill/>
          <a:ln/>
        </p:spPr>
        <p:txBody>
          <a:bodyPr wrap="square" lIns="0" tIns="0" rIns="0" bIns="0" rtlCol="0" anchor="t"/>
          <a:lstStyle/>
          <a:p>
            <a:pPr indent="0" marL="0">
              <a:buNone/>
            </a:pPr>
            <a:r>
              <a:rPr lang="en-US" sz="1300" dirty="0">
                <a:solidFill>
                  <a:schemeClr val="tx2"/>
                </a:solidFill>
              </a:rPr>
              <a:t>ordered stages: NC &lt; EMCI &lt; LMCI &lt; AD</a:t>
            </a:r>
            <a:endParaRPr lang="en-US" sz="1300" dirty="0"/>
          </a:p>
        </p:txBody>
      </p:sp>
      <p:sp>
        <p:nvSpPr>
          <p:cNvPr id="34" name="ReLU note"/>
          <p:cNvSpPr/>
          <p:nvPr/>
        </p:nvSpPr>
        <p:spPr>
          <a:xfrm>
            <a:off x="548640" y="5166360"/>
            <a:ext cx="11091672" cy="1051560"/>
          </a:xfrm>
          <a:prstGeom prst="roundRect">
            <a:avLst>
              <a:gd name="adj" fmla="val 10435"/>
            </a:avLst>
          </a:prstGeom>
          <a:solidFill>
            <a:schemeClr val="bg2">
              <a:alpha val="88000"/>
            </a:schemeClr>
          </a:solidFill>
          <a:ln w="9525">
            <a:solidFill>
              <a:srgbClr val="FFFFFF">
                <a:alpha val="12000"/>
              </a:srgbClr>
            </a:solidFill>
            <a:prstDash val="solid"/>
          </a:ln>
        </p:spPr>
      </p:sp>
      <p:sp>
        <p:nvSpPr>
          <p:cNvPr id="35" name="ReLU note icon circle"/>
          <p:cNvSpPr/>
          <p:nvPr/>
        </p:nvSpPr>
        <p:spPr>
          <a:xfrm>
            <a:off x="822960" y="5458968"/>
            <a:ext cx="457200" cy="457200"/>
          </a:xfrm>
          <a:prstGeom prst="ellipse">
            <a:avLst/>
          </a:prstGeom>
          <a:solidFill>
            <a:schemeClr val="accent1"/>
          </a:solidFill>
          <a:ln w="12700">
            <a:solidFill>
              <a:schemeClr val="accent1"/>
            </a:solidFill>
            <a:prstDash val="solid"/>
          </a:ln>
        </p:spPr>
      </p:sp>
      <p:pic>
        <p:nvPicPr>
          <p:cNvPr id="36" name="ReLU note icon" descr="Layers icon">    </p:cNvPr>
          <p:cNvPicPr>
            <a:picLocks noChangeAspect="1"/>
          </p:cNvPicPr>
          <p:nvPr/>
        </p:nvPicPr>
        <p:blipFill>
          <a:blip r:embed="rId1"/>
          <a:stretch>
            <a:fillRect/>
          </a:stretch>
        </p:blipFill>
        <p:spPr>
          <a:xfrm>
            <a:off x="941832" y="5577840"/>
            <a:ext cx="219456" cy="219456"/>
          </a:xfrm>
          <a:prstGeom prst="rect">
            <a:avLst/>
          </a:prstGeom>
        </p:spPr>
      </p:pic>
      <p:sp>
        <p:nvSpPr>
          <p:cNvPr id="37" name="ReLU note text"/>
          <p:cNvSpPr txBox="1"/>
          <p:nvPr/>
        </p:nvSpPr>
        <p:spPr>
          <a:xfrm>
            <a:off x="1508760" y="5166360"/>
            <a:ext cx="9875520" cy="1051560"/>
          </a:xfrm>
          <a:prstGeom prst="rect">
            <a:avLst/>
          </a:prstGeom>
          <a:noFill/>
          <a:ln/>
        </p:spPr>
        <p:txBody>
          <a:bodyPr wrap="square" lIns="0" tIns="0" rIns="0" bIns="0" rtlCol="0" anchor="ctr"/>
          <a:lstStyle/>
          <a:p>
            <a:pPr indent="0" marL="0">
              <a:buNone/>
            </a:pPr>
            <a:r>
              <a:rPr lang="en-US" sz="1500" b="1" dirty="0">
                <a:solidFill>
                  <a:schemeClr val="tx1"/>
                </a:solidFill>
              </a:rPr>
              <a:t>A small detail that matters: </a:t>
            </a:r>
            <a:pPr indent="0" marL="0">
              <a:buNone/>
            </a:pPr>
            <a:r>
              <a:rPr lang="en-US" sz="1500" dirty="0">
                <a:solidFill>
                  <a:schemeClr val="tx1"/>
                </a:solidFill>
              </a:rPr>
              <a:t>in-place ReLUs are replaced with normal ones, because in-place layers overwrite the activations that Grad-CAM must read.</a:t>
            </a:r>
            <a:endParaRPr lang="en-US" sz="15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7F9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resenter badge"/>
          <p:cNvSpPr/>
          <p:nvPr/>
        </p:nvSpPr>
        <p:spPr>
          <a:xfrm>
            <a:off x="548640" y="384048"/>
            <a:ext cx="365760" cy="365760"/>
          </a:xfrm>
          <a:prstGeom prst="ellipse">
            <a:avLst/>
          </a:prstGeom>
          <a:solidFill>
            <a:schemeClr val="accent1"/>
          </a:solidFill>
          <a:ln w="12700">
            <a:solidFill>
              <a:schemeClr val="accent1"/>
            </a:solidFill>
            <a:prstDash val="solid"/>
          </a:ln>
        </p:spPr>
      </p:sp>
      <p:sp>
        <p:nvSpPr>
          <p:cNvPr id="3" name="Presenter initials"/>
          <p:cNvSpPr txBox="1"/>
          <p:nvPr/>
        </p:nvSpPr>
        <p:spPr>
          <a:xfrm>
            <a:off x="548640" y="384048"/>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HR</a:t>
            </a:r>
            <a:endParaRPr lang="en-US" sz="1100" dirty="0"/>
          </a:p>
        </p:txBody>
      </p:sp>
      <p:sp>
        <p:nvSpPr>
          <p:cNvPr id="4" name="Presenter line"/>
          <p:cNvSpPr txBox="1"/>
          <p:nvPr/>
        </p:nvSpPr>
        <p:spPr>
          <a:xfrm>
            <a:off x="1051560" y="384048"/>
            <a:ext cx="9601200"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HARIT RAVAL</a:t>
            </a:r>
            <a:pPr indent="0" marL="0">
              <a:buNone/>
            </a:pPr>
            <a:r>
              <a:rPr lang="en-US" sz="1200" dirty="0">
                <a:solidFill>
                  <a:schemeClr val="tx2"/>
                </a:solidFill>
              </a:rPr>
              <a:t>   ·   The MRI model</a:t>
            </a:r>
            <a:endParaRPr lang="en-US" sz="1200" dirty="0"/>
          </a:p>
        </p:txBody>
      </p:sp>
      <p:sp>
        <p:nvSpPr>
          <p:cNvPr id="5" name="Text 0"/>
          <p:cNvSpPr/>
          <p:nvPr>
            <p:ph idx="100" type="title" hasCustomPrompt="1"/>
          </p:nvPr>
        </p:nvSpPr>
        <p:spPr>
          <a:xfrm>
            <a:off x="548640" y="8686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How it was trained, and what we evaluated</a:t>
            </a:r>
            <a:endParaRPr lang="en-US" sz="3400" dirty="0"/>
          </a:p>
        </p:txBody>
      </p:sp>
      <p:sp>
        <p:nvSpPr>
          <p:cNvPr id="6" name="Recipe card"/>
          <p:cNvSpPr/>
          <p:nvPr/>
        </p:nvSpPr>
        <p:spPr>
          <a:xfrm>
            <a:off x="548640" y="1783080"/>
            <a:ext cx="6035040" cy="4434840"/>
          </a:xfrm>
          <a:prstGeom prst="roundRect">
            <a:avLst>
              <a:gd name="adj" fmla="val 2474"/>
            </a:avLst>
          </a:prstGeom>
          <a:solidFill>
            <a:schemeClr val="bg2">
              <a:alpha val="88000"/>
            </a:schemeClr>
          </a:solidFill>
          <a:ln w="9525">
            <a:solidFill>
              <a:srgbClr val="FFFFFF">
                <a:alpha val="12000"/>
              </a:srgbClr>
            </a:solidFill>
            <a:prstDash val="solid"/>
          </a:ln>
        </p:spPr>
      </p:sp>
      <p:sp>
        <p:nvSpPr>
          <p:cNvPr id="7" name="Recipe label"/>
          <p:cNvSpPr txBox="1"/>
          <p:nvPr/>
        </p:nvSpPr>
        <p:spPr>
          <a:xfrm>
            <a:off x="822960" y="1965960"/>
            <a:ext cx="45720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TRAINING RECIPE</a:t>
            </a:r>
            <a:endParaRPr lang="en-US" sz="1200" dirty="0"/>
          </a:p>
        </p:txBody>
      </p:sp>
      <p:sp>
        <p:nvSpPr>
          <p:cNvPr id="8" name="Recipe list"/>
          <p:cNvSpPr txBox="1"/>
          <p:nvPr/>
        </p:nvSpPr>
        <p:spPr>
          <a:xfrm>
            <a:off x="822960" y="2423160"/>
            <a:ext cx="5486400" cy="3657600"/>
          </a:xfrm>
          <a:prstGeom prst="rect">
            <a:avLst/>
          </a:prstGeom>
          <a:noFill/>
          <a:ln/>
        </p:spPr>
        <p:txBody>
          <a:bodyPr wrap="square" lIns="0" tIns="0" rIns="0" bIns="0" rtlCol="0" anchor="t"/>
          <a:lstStyle/>
          <a:p>
            <a:pPr marL="342900" indent="-342900">
              <a:spcAft>
                <a:spcPts val="2200"/>
              </a:spcAft>
              <a:buSzPct val="100000"/>
              <a:buChar char="•"/>
            </a:pPr>
            <a:r>
              <a:rPr lang="en-US" sz="1700" dirty="0">
                <a:solidFill>
                  <a:schemeClr val="tx1"/>
                </a:solidFill>
              </a:rPr>
              <a:t>AdamW: backbone 1e-4, new head ten times higher</a:t>
            </a:r>
            <a:endParaRPr lang="en-US" sz="1700" dirty="0"/>
          </a:p>
          <a:p>
            <a:pPr marL="342900" indent="-342900">
              <a:spcAft>
                <a:spcPts val="2200"/>
              </a:spcAft>
              <a:buSzPct val="100000"/>
              <a:buChar char="•"/>
            </a:pPr>
            <a:r>
              <a:rPr lang="en-US" sz="1700" dirty="0">
                <a:solidFill>
                  <a:schemeClr val="tx1"/>
                </a:solidFill>
              </a:rPr>
              <a:t>Label smoothing 0.05, inverse-frequency class weights</a:t>
            </a:r>
            <a:endParaRPr lang="en-US" sz="1700" dirty="0"/>
          </a:p>
          <a:p>
            <a:pPr marL="342900" indent="-342900">
              <a:spcAft>
                <a:spcPts val="2200"/>
              </a:spcAft>
              <a:buSzPct val="100000"/>
              <a:buChar char="•"/>
            </a:pPr>
            <a:r>
              <a:rPr lang="en-US" sz="1700" dirty="0">
                <a:solidFill>
                  <a:schemeClr val="tx1"/>
                </a:solidFill>
              </a:rPr>
              <a:t>Cosine decay, up to 25 epochs, early stopping (patience 6)</a:t>
            </a:r>
            <a:endParaRPr lang="en-US" sz="1700" dirty="0"/>
          </a:p>
          <a:p>
            <a:pPr marL="342900" indent="-342900">
              <a:spcAft>
                <a:spcPts val="2200"/>
              </a:spcAft>
              <a:buSzPct val="100000"/>
              <a:buChar char="•"/>
            </a:pPr>
            <a:r>
              <a:rPr lang="en-US" sz="1700" dirty="0">
                <a:solidFill>
                  <a:schemeClr val="tx1"/>
                </a:solidFill>
              </a:rPr>
              <a:t>Checkpoint chosen by validation macro F1, not accuracy</a:t>
            </a:r>
            <a:endParaRPr lang="en-US" sz="1700" dirty="0"/>
          </a:p>
          <a:p>
            <a:pPr marL="342900" indent="-342900">
              <a:spcAft>
                <a:spcPts val="2200"/>
              </a:spcAft>
              <a:buSzPct val="100000"/>
              <a:buChar char="•"/>
            </a:pPr>
            <a:r>
              <a:rPr lang="en-US" sz="1700" dirty="0">
                <a:solidFill>
                  <a:schemeClr val="tx1"/>
                </a:solidFill>
              </a:rPr>
              <a:t>Mild augmentation: flip, 7° rotation, 3% shift, 10% jitter</a:t>
            </a:r>
            <a:endParaRPr lang="en-US" sz="1700" dirty="0"/>
          </a:p>
        </p:txBody>
      </p:sp>
      <p:sp>
        <p:nvSpPr>
          <p:cNvPr id="9" name="Stat epoch"/>
          <p:cNvSpPr/>
          <p:nvPr/>
        </p:nvSpPr>
        <p:spPr>
          <a:xfrm>
            <a:off x="6766560" y="1783080"/>
            <a:ext cx="2395728" cy="1371600"/>
          </a:xfrm>
          <a:prstGeom prst="roundRect">
            <a:avLst>
              <a:gd name="adj" fmla="val 8000"/>
            </a:avLst>
          </a:prstGeom>
          <a:solidFill>
            <a:schemeClr val="bg2">
              <a:alpha val="88000"/>
            </a:schemeClr>
          </a:solidFill>
          <a:ln w="9525">
            <a:solidFill>
              <a:srgbClr val="FFFFFF">
                <a:alpha val="12000"/>
              </a:srgbClr>
            </a:solidFill>
            <a:prstDash val="solid"/>
          </a:ln>
        </p:spPr>
      </p:sp>
      <p:sp>
        <p:nvSpPr>
          <p:cNvPr id="10" name="Stat epoch value"/>
          <p:cNvSpPr txBox="1"/>
          <p:nvPr/>
        </p:nvSpPr>
        <p:spPr>
          <a:xfrm>
            <a:off x="6995160" y="1892808"/>
            <a:ext cx="1938528" cy="713232"/>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Epoch 1</a:t>
            </a:r>
            <a:endParaRPr lang="en-US" sz="3200" dirty="0"/>
          </a:p>
        </p:txBody>
      </p:sp>
      <p:sp>
        <p:nvSpPr>
          <p:cNvPr id="11" name="Stat epoch label"/>
          <p:cNvSpPr txBox="1"/>
          <p:nvPr/>
        </p:nvSpPr>
        <p:spPr>
          <a:xfrm>
            <a:off x="6995160" y="2578608"/>
            <a:ext cx="1938528" cy="521208"/>
          </a:xfrm>
          <a:prstGeom prst="rect">
            <a:avLst/>
          </a:prstGeom>
          <a:noFill/>
          <a:ln/>
        </p:spPr>
        <p:txBody>
          <a:bodyPr wrap="square" lIns="0" tIns="0" rIns="0" bIns="0" rtlCol="0" anchor="t"/>
          <a:lstStyle/>
          <a:p>
            <a:pPr indent="0" marL="0">
              <a:buNone/>
            </a:pPr>
            <a:r>
              <a:rPr lang="en-US" sz="1300" dirty="0">
                <a:solidFill>
                  <a:schemeClr val="tx2"/>
                </a:solidFill>
              </a:rPr>
              <a:t>selected checkpoint</a:t>
            </a:r>
            <a:endParaRPr lang="en-US" sz="1300" dirty="0"/>
          </a:p>
        </p:txBody>
      </p:sp>
      <p:sp>
        <p:nvSpPr>
          <p:cNvPr id="12" name="Stat val F1"/>
          <p:cNvSpPr/>
          <p:nvPr/>
        </p:nvSpPr>
        <p:spPr>
          <a:xfrm>
            <a:off x="9253728" y="1783080"/>
            <a:ext cx="2386584" cy="1371600"/>
          </a:xfrm>
          <a:prstGeom prst="roundRect">
            <a:avLst>
              <a:gd name="adj" fmla="val 8000"/>
            </a:avLst>
          </a:prstGeom>
          <a:solidFill>
            <a:schemeClr val="bg2">
              <a:alpha val="88000"/>
            </a:schemeClr>
          </a:solidFill>
          <a:ln w="9525">
            <a:solidFill>
              <a:srgbClr val="FFFFFF">
                <a:alpha val="12000"/>
              </a:srgbClr>
            </a:solidFill>
            <a:prstDash val="solid"/>
          </a:ln>
        </p:spPr>
      </p:sp>
      <p:sp>
        <p:nvSpPr>
          <p:cNvPr id="13" name="Stat val F1 value"/>
          <p:cNvSpPr txBox="1"/>
          <p:nvPr/>
        </p:nvSpPr>
        <p:spPr>
          <a:xfrm>
            <a:off x="9482328" y="1892808"/>
            <a:ext cx="1929384" cy="713232"/>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1.000</a:t>
            </a:r>
            <a:endParaRPr lang="en-US" sz="3200" dirty="0"/>
          </a:p>
        </p:txBody>
      </p:sp>
      <p:sp>
        <p:nvSpPr>
          <p:cNvPr id="14" name="Stat val F1 label"/>
          <p:cNvSpPr txBox="1"/>
          <p:nvPr/>
        </p:nvSpPr>
        <p:spPr>
          <a:xfrm>
            <a:off x="9482328" y="2578608"/>
            <a:ext cx="1929384" cy="521208"/>
          </a:xfrm>
          <a:prstGeom prst="rect">
            <a:avLst/>
          </a:prstGeom>
          <a:noFill/>
          <a:ln/>
        </p:spPr>
        <p:txBody>
          <a:bodyPr wrap="square" lIns="0" tIns="0" rIns="0" bIns="0" rtlCol="0" anchor="t"/>
          <a:lstStyle/>
          <a:p>
            <a:pPr indent="0" marL="0">
              <a:buNone/>
            </a:pPr>
            <a:r>
              <a:rPr lang="en-US" sz="1300" dirty="0">
                <a:solidFill>
                  <a:schemeClr val="tx2"/>
                </a:solidFill>
              </a:rPr>
              <a:t>validation macro F1</a:t>
            </a:r>
            <a:endParaRPr lang="en-US" sz="1300" dirty="0"/>
          </a:p>
        </p:txBody>
      </p:sp>
      <p:sp>
        <p:nvSpPr>
          <p:cNvPr id="15" name="Saturated note"/>
          <p:cNvSpPr/>
          <p:nvPr/>
        </p:nvSpPr>
        <p:spPr>
          <a:xfrm>
            <a:off x="6766560" y="3337560"/>
            <a:ext cx="4873752" cy="1600200"/>
          </a:xfrm>
          <a:prstGeom prst="roundRect">
            <a:avLst>
              <a:gd name="adj" fmla="val 6857"/>
            </a:avLst>
          </a:prstGeom>
          <a:solidFill>
            <a:schemeClr val="accent4">
              <a:alpha val="12000"/>
            </a:schemeClr>
          </a:solidFill>
          <a:ln w="9525">
            <a:solidFill>
              <a:srgbClr val="FBBF24">
                <a:alpha val="45000"/>
              </a:srgbClr>
            </a:solidFill>
            <a:prstDash val="solid"/>
          </a:ln>
        </p:spPr>
      </p:sp>
      <p:pic>
        <p:nvPicPr>
          <p:cNvPr id="16" name="Saturated warning icon" descr="Warning icon">    </p:cNvPr>
          <p:cNvPicPr>
            <a:picLocks noChangeAspect="1"/>
          </p:cNvPicPr>
          <p:nvPr/>
        </p:nvPicPr>
        <p:blipFill>
          <a:blip r:embed="rId1"/>
          <a:stretch>
            <a:fillRect/>
          </a:stretch>
        </p:blipFill>
        <p:spPr>
          <a:xfrm>
            <a:off x="6995160" y="3566160"/>
            <a:ext cx="310896" cy="310896"/>
          </a:xfrm>
          <a:prstGeom prst="rect">
            <a:avLst/>
          </a:prstGeom>
        </p:spPr>
      </p:pic>
      <p:sp>
        <p:nvSpPr>
          <p:cNvPr id="17" name="Saturated text"/>
          <p:cNvSpPr txBox="1"/>
          <p:nvPr/>
        </p:nvSpPr>
        <p:spPr>
          <a:xfrm>
            <a:off x="7498080" y="3429000"/>
            <a:ext cx="3977640" cy="1417320"/>
          </a:xfrm>
          <a:prstGeom prst="rect">
            <a:avLst/>
          </a:prstGeom>
          <a:noFill/>
          <a:ln/>
        </p:spPr>
        <p:txBody>
          <a:bodyPr wrap="square" lIns="0" tIns="0" rIns="0" bIns="0" rtlCol="0" anchor="ctr"/>
          <a:lstStyle/>
          <a:p>
            <a:pPr indent="0" marL="0">
              <a:buNone/>
            </a:pPr>
            <a:r>
              <a:rPr lang="en-US" sz="1500" b="1" dirty="0">
                <a:solidFill>
                  <a:schemeClr val="tx1"/>
                </a:solidFill>
              </a:rPr>
              <a:t>Validation is saturated. </a:t>
            </a:r>
            <a:pPr indent="0" marL="0">
              <a:buNone/>
            </a:pPr>
            <a:r>
              <a:rPr lang="en-US" sz="1500" dirty="0">
                <a:solidFill>
                  <a:schemeClr val="tx1"/>
                </a:solidFill>
              </a:rPr>
              <a:t>A perfect score at epoch 1 on 43 slices means model selection carried almost no information.</a:t>
            </a:r>
            <a:endParaRPr lang="en-US" sz="1500" dirty="0"/>
          </a:p>
        </p:txBody>
      </p:sp>
      <p:sp>
        <p:nvSpPr>
          <p:cNvPr id="18" name="Not retrained note"/>
          <p:cNvSpPr/>
          <p:nvPr/>
        </p:nvSpPr>
        <p:spPr>
          <a:xfrm>
            <a:off x="6766560" y="5120640"/>
            <a:ext cx="4873752" cy="1097280"/>
          </a:xfrm>
          <a:prstGeom prst="roundRect">
            <a:avLst>
              <a:gd name="adj" fmla="val 10000"/>
            </a:avLst>
          </a:prstGeom>
          <a:solidFill>
            <a:schemeClr val="bg2">
              <a:alpha val="88000"/>
            </a:schemeClr>
          </a:solidFill>
          <a:ln w="9525">
            <a:solidFill>
              <a:srgbClr val="FFFFFF">
                <a:alpha val="12000"/>
              </a:srgbClr>
            </a:solidFill>
            <a:prstDash val="solid"/>
          </a:ln>
        </p:spPr>
      </p:sp>
      <p:sp>
        <p:nvSpPr>
          <p:cNvPr id="19" name="Not retrained text"/>
          <p:cNvSpPr txBox="1"/>
          <p:nvPr/>
        </p:nvSpPr>
        <p:spPr>
          <a:xfrm>
            <a:off x="7040880" y="5120640"/>
            <a:ext cx="4389120" cy="1097280"/>
          </a:xfrm>
          <a:prstGeom prst="rect">
            <a:avLst/>
          </a:prstGeom>
          <a:noFill/>
          <a:ln/>
        </p:spPr>
        <p:txBody>
          <a:bodyPr wrap="square" lIns="0" tIns="0" rIns="0" bIns="0" rtlCol="0" anchor="ctr"/>
          <a:lstStyle/>
          <a:p>
            <a:pPr indent="0" marL="0">
              <a:buNone/>
            </a:pPr>
            <a:r>
              <a:rPr lang="en-US" sz="1500" b="1" dirty="0">
                <a:solidFill>
                  <a:schemeClr val="accent1"/>
                </a:solidFill>
              </a:rPr>
              <a:t>We did not retrain. </a:t>
            </a:r>
            <a:pPr indent="0" marL="0">
              <a:buNone/>
            </a:pPr>
            <a:r>
              <a:rPr lang="en-US" sz="1500" dirty="0">
                <a:solidFill>
                  <a:schemeClr val="tx1"/>
                </a:solidFill>
              </a:rPr>
              <a:t>Every result that follows comes from running the released checkpoint.</a:t>
            </a:r>
            <a:endParaRPr lang="en-US" sz="15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7F9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resenter badge"/>
          <p:cNvSpPr/>
          <p:nvPr/>
        </p:nvSpPr>
        <p:spPr>
          <a:xfrm>
            <a:off x="548640" y="384048"/>
            <a:ext cx="365760" cy="365760"/>
          </a:xfrm>
          <a:prstGeom prst="ellipse">
            <a:avLst/>
          </a:prstGeom>
          <a:solidFill>
            <a:schemeClr val="accent1"/>
          </a:solidFill>
          <a:ln w="12700">
            <a:solidFill>
              <a:schemeClr val="accent1"/>
            </a:solidFill>
            <a:prstDash val="solid"/>
          </a:ln>
        </p:spPr>
      </p:sp>
      <p:sp>
        <p:nvSpPr>
          <p:cNvPr id="3" name="Presenter initials"/>
          <p:cNvSpPr txBox="1"/>
          <p:nvPr/>
        </p:nvSpPr>
        <p:spPr>
          <a:xfrm>
            <a:off x="548640" y="384048"/>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SJ</a:t>
            </a:r>
            <a:endParaRPr lang="en-US" sz="1100" dirty="0"/>
          </a:p>
        </p:txBody>
      </p:sp>
      <p:sp>
        <p:nvSpPr>
          <p:cNvPr id="4" name="Presenter line"/>
          <p:cNvSpPr txBox="1"/>
          <p:nvPr/>
        </p:nvSpPr>
        <p:spPr>
          <a:xfrm>
            <a:off x="1051560" y="384048"/>
            <a:ext cx="9601200"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SHREYA JAIN</a:t>
            </a:r>
            <a:pPr indent="0" marL="0">
              <a:buNone/>
            </a:pPr>
            <a:r>
              <a:rPr lang="en-US" sz="1200" dirty="0">
                <a:solidFill>
                  <a:schemeClr val="tx2"/>
                </a:solidFill>
              </a:rPr>
              <a:t>   ·   MRI results and benchmarks</a:t>
            </a:r>
            <a:endParaRPr lang="en-US" sz="1200" dirty="0"/>
          </a:p>
        </p:txBody>
      </p:sp>
      <p:sp>
        <p:nvSpPr>
          <p:cNvPr id="5" name="Text 0"/>
          <p:cNvSpPr/>
          <p:nvPr>
            <p:ph idx="100" type="title" hasCustomPrompt="1"/>
          </p:nvPr>
        </p:nvSpPr>
        <p:spPr>
          <a:xfrm>
            <a:off x="548640" y="8686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Reproduced exactly, then tested on fresh data</a:t>
            </a:r>
            <a:endParaRPr lang="en-US" sz="3400" dirty="0"/>
          </a:p>
        </p:txBody>
      </p:sp>
      <p:sp>
        <p:nvSpPr>
          <p:cNvPr id="6" name="Reproduction card"/>
          <p:cNvSpPr/>
          <p:nvPr/>
        </p:nvSpPr>
        <p:spPr>
          <a:xfrm>
            <a:off x="548640" y="1783080"/>
            <a:ext cx="5029200" cy="2148840"/>
          </a:xfrm>
          <a:prstGeom prst="roundRect">
            <a:avLst>
              <a:gd name="adj" fmla="val 5106"/>
            </a:avLst>
          </a:prstGeom>
          <a:solidFill>
            <a:schemeClr val="bg2">
              <a:alpha val="88000"/>
            </a:schemeClr>
          </a:solidFill>
          <a:ln w="9525">
            <a:solidFill>
              <a:srgbClr val="FFFFFF">
                <a:alpha val="12000"/>
              </a:srgbClr>
            </a:solidFill>
            <a:prstDash val="solid"/>
          </a:ln>
        </p:spPr>
      </p:sp>
      <p:sp>
        <p:nvSpPr>
          <p:cNvPr id="7" name="Repro label"/>
          <p:cNvSpPr txBox="1"/>
          <p:nvPr/>
        </p:nvSpPr>
        <p:spPr>
          <a:xfrm>
            <a:off x="822960" y="1920240"/>
            <a:ext cx="27432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REPRODUCED</a:t>
            </a:r>
            <a:endParaRPr lang="en-US" sz="1200" dirty="0"/>
          </a:p>
        </p:txBody>
      </p:sp>
      <p:sp>
        <p:nvSpPr>
          <p:cNvPr id="8" name="Repro value"/>
          <p:cNvSpPr txBox="1"/>
          <p:nvPr/>
        </p:nvSpPr>
        <p:spPr>
          <a:xfrm>
            <a:off x="822960" y="2194560"/>
            <a:ext cx="4480560" cy="822960"/>
          </a:xfrm>
          <a:prstGeom prst="rect">
            <a:avLst/>
          </a:prstGeom>
          <a:noFill/>
          <a:ln/>
        </p:spPr>
        <p:txBody>
          <a:bodyPr wrap="square" lIns="0" tIns="0" rIns="0" bIns="0" rtlCol="0" anchor="ctr"/>
          <a:lstStyle/>
          <a:p>
            <a:pPr indent="0" marL="0">
              <a:buNone/>
            </a:pPr>
            <a:r>
              <a:rPr lang="en-US" sz="4800" b="1" dirty="0">
                <a:solidFill>
                  <a:schemeClr val="accent1"/>
                </a:solidFill>
                <a:latin typeface="+mj-lt" pitchFamily="34" charset="0"/>
                <a:ea typeface="+mj-lt" pitchFamily="34" charset="-122"/>
                <a:cs typeface="+mj-lt" pitchFamily="34" charset="-120"/>
              </a:rPr>
              <a:t>95.35%</a:t>
            </a:r>
            <a:endParaRPr lang="en-US" sz="4800" dirty="0"/>
          </a:p>
        </p:txBody>
      </p:sp>
      <p:sp>
        <p:nvSpPr>
          <p:cNvPr id="9" name="Repro detail"/>
          <p:cNvSpPr txBox="1"/>
          <p:nvPr/>
        </p:nvSpPr>
        <p:spPr>
          <a:xfrm>
            <a:off x="822960" y="3063240"/>
            <a:ext cx="4480560" cy="777240"/>
          </a:xfrm>
          <a:prstGeom prst="rect">
            <a:avLst/>
          </a:prstGeom>
          <a:noFill/>
          <a:ln/>
        </p:spPr>
        <p:txBody>
          <a:bodyPr wrap="square" lIns="0" tIns="0" rIns="0" bIns="0" rtlCol="0" anchor="t"/>
          <a:lstStyle/>
          <a:p>
            <a:pPr indent="0" marL="0">
              <a:buNone/>
            </a:pPr>
            <a:r>
              <a:rPr lang="en-US" sz="1300" dirty="0">
                <a:solidFill>
                  <a:schemeClr val="tx2"/>
                </a:solidFill>
              </a:rPr>
              <a:t>43-slice test split · macro F1 0.9653 · kappa 0.9783 · confusion matrix identical to the documentation</a:t>
            </a:r>
            <a:endParaRPr lang="en-US" sz="1300" dirty="0"/>
          </a:p>
        </p:txBody>
      </p:sp>
      <p:sp>
        <p:nvSpPr>
          <p:cNvPr id="10" name="Fresh cohorts card"/>
          <p:cNvSpPr/>
          <p:nvPr/>
        </p:nvSpPr>
        <p:spPr>
          <a:xfrm>
            <a:off x="548640" y="4114800"/>
            <a:ext cx="5029200" cy="2103120"/>
          </a:xfrm>
          <a:prstGeom prst="roundRect">
            <a:avLst>
              <a:gd name="adj" fmla="val 5217"/>
            </a:avLst>
          </a:prstGeom>
          <a:solidFill>
            <a:schemeClr val="bg2">
              <a:alpha val="88000"/>
            </a:schemeClr>
          </a:solidFill>
          <a:ln w="9525">
            <a:solidFill>
              <a:srgbClr val="FFFFFF">
                <a:alpha val="12000"/>
              </a:srgbClr>
            </a:solidFill>
            <a:prstDash val="solid"/>
          </a:ln>
        </p:spPr>
      </p:sp>
      <p:sp>
        <p:nvSpPr>
          <p:cNvPr id="11" name="Fresh label"/>
          <p:cNvSpPr txBox="1"/>
          <p:nvPr/>
        </p:nvSpPr>
        <p:spPr>
          <a:xfrm>
            <a:off x="822960" y="4251960"/>
            <a:ext cx="41148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FRESH, UNSEEN COHORTS</a:t>
            </a:r>
            <a:endParaRPr lang="en-US" sz="1200" dirty="0"/>
          </a:p>
        </p:txBody>
      </p:sp>
      <p:sp>
        <p:nvSpPr>
          <p:cNvPr id="12" name="Fresh value"/>
          <p:cNvSpPr txBox="1"/>
          <p:nvPr/>
        </p:nvSpPr>
        <p:spPr>
          <a:xfrm>
            <a:off x="822960" y="4526280"/>
            <a:ext cx="4480560" cy="822960"/>
          </a:xfrm>
          <a:prstGeom prst="rect">
            <a:avLst/>
          </a:prstGeom>
          <a:noFill/>
          <a:ln/>
        </p:spPr>
        <p:txBody>
          <a:bodyPr wrap="square" lIns="0" tIns="0" rIns="0" bIns="0" rtlCol="0" anchor="ctr"/>
          <a:lstStyle/>
          <a:p>
            <a:pPr indent="0" marL="0">
              <a:buNone/>
            </a:pPr>
            <a:r>
              <a:rPr lang="en-US" sz="4800" b="1" dirty="0">
                <a:solidFill>
                  <a:schemeClr val="accent1"/>
                </a:solidFill>
                <a:latin typeface="+mj-lt" pitchFamily="34" charset="0"/>
                <a:ea typeface="+mj-lt" pitchFamily="34" charset="-122"/>
                <a:cs typeface="+mj-lt" pitchFamily="34" charset="-120"/>
              </a:rPr>
              <a:t>97.8%</a:t>
            </a:r>
            <a:endParaRPr lang="en-US" sz="4800" dirty="0"/>
          </a:p>
        </p:txBody>
      </p:sp>
      <p:sp>
        <p:nvSpPr>
          <p:cNvPr id="13" name="Fresh detail"/>
          <p:cNvSpPr txBox="1"/>
          <p:nvPr/>
        </p:nvSpPr>
        <p:spPr>
          <a:xfrm>
            <a:off x="822960" y="5394960"/>
            <a:ext cx="4480560" cy="731520"/>
          </a:xfrm>
          <a:prstGeom prst="rect">
            <a:avLst/>
          </a:prstGeom>
          <a:noFill/>
          <a:ln/>
        </p:spPr>
        <p:txBody>
          <a:bodyPr wrap="square" lIns="0" tIns="0" rIns="0" bIns="0" rtlCol="0" anchor="t"/>
          <a:lstStyle/>
          <a:p>
            <a:pPr indent="0" marL="0">
              <a:buNone/>
            </a:pPr>
            <a:r>
              <a:rPr lang="en-US" sz="1300" dirty="0">
                <a:solidFill>
                  <a:schemeClr val="tx2"/>
                </a:solidFill>
              </a:rPr>
              <a:t>1,065 slices from 3 new seeds · macro F1 0.978 (95% CI 0.968–0.986)</a:t>
            </a:r>
            <a:endParaRPr lang="en-US" sz="1300" dirty="0"/>
          </a:p>
        </p:txBody>
      </p:sp>
      <p:sp>
        <p:nvSpPr>
          <p:cNvPr id="14" name="Accuracy chart card"/>
          <p:cNvSpPr/>
          <p:nvPr/>
        </p:nvSpPr>
        <p:spPr>
          <a:xfrm>
            <a:off x="5806440" y="1783080"/>
            <a:ext cx="5833872" cy="4434840"/>
          </a:xfrm>
          <a:prstGeom prst="roundRect">
            <a:avLst>
              <a:gd name="adj" fmla="val 2474"/>
            </a:avLst>
          </a:prstGeom>
          <a:solidFill>
            <a:schemeClr val="bg2">
              <a:alpha val="88000"/>
            </a:schemeClr>
          </a:solidFill>
          <a:ln w="9525">
            <a:solidFill>
              <a:srgbClr val="FFFFFF">
                <a:alpha val="12000"/>
              </a:srgbClr>
            </a:solidFill>
            <a:prstDash val="solid"/>
          </a:ln>
        </p:spPr>
      </p:sp>
      <p:graphicFrame>
        <p:nvGraphicFramePr>
          <p:cNvPr id="15" name="Chart 0" descr=""/>
          <p:cNvGraphicFramePr/>
          <p:nvPr/>
        </p:nvGraphicFramePr>
        <p:xfrm>
          <a:off x="5943600" y="1874520"/>
          <a:ext cx="5559552" cy="42519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7F9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Presenter badge"/>
          <p:cNvSpPr/>
          <p:nvPr/>
        </p:nvSpPr>
        <p:spPr>
          <a:xfrm>
            <a:off x="548640" y="384048"/>
            <a:ext cx="365760" cy="365760"/>
          </a:xfrm>
          <a:prstGeom prst="ellipse">
            <a:avLst/>
          </a:prstGeom>
          <a:solidFill>
            <a:schemeClr val="accent1"/>
          </a:solidFill>
          <a:ln w="12700">
            <a:solidFill>
              <a:schemeClr val="accent1"/>
            </a:solidFill>
            <a:prstDash val="solid"/>
          </a:ln>
        </p:spPr>
      </p:sp>
      <p:sp>
        <p:nvSpPr>
          <p:cNvPr id="3" name="Presenter initials"/>
          <p:cNvSpPr txBox="1"/>
          <p:nvPr/>
        </p:nvSpPr>
        <p:spPr>
          <a:xfrm>
            <a:off x="548640" y="384048"/>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SJ</a:t>
            </a:r>
            <a:endParaRPr lang="en-US" sz="1100" dirty="0"/>
          </a:p>
        </p:txBody>
      </p:sp>
      <p:sp>
        <p:nvSpPr>
          <p:cNvPr id="4" name="Presenter line"/>
          <p:cNvSpPr txBox="1"/>
          <p:nvPr/>
        </p:nvSpPr>
        <p:spPr>
          <a:xfrm>
            <a:off x="1051560" y="384048"/>
            <a:ext cx="9601200"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SHREYA JAIN</a:t>
            </a:r>
            <a:pPr indent="0" marL="0">
              <a:buNone/>
            </a:pPr>
            <a:r>
              <a:rPr lang="en-US" sz="1200" dirty="0">
                <a:solidFill>
                  <a:schemeClr val="tx2"/>
                </a:solidFill>
              </a:rPr>
              <a:t>   ·   MRI results and benchmarks</a:t>
            </a:r>
            <a:endParaRPr lang="en-US" sz="1200" dirty="0"/>
          </a:p>
        </p:txBody>
      </p:sp>
      <p:sp>
        <p:nvSpPr>
          <p:cNvPr id="5" name="Text 0"/>
          <p:cNvSpPr/>
          <p:nvPr>
            <p:ph idx="100" type="title" hasCustomPrompt="1"/>
          </p:nvPr>
        </p:nvSpPr>
        <p:spPr>
          <a:xfrm>
            <a:off x="548640" y="8686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Every error is between neighbouring stages</a:t>
            </a:r>
            <a:endParaRPr lang="en-US" sz="3400" dirty="0"/>
          </a:p>
        </p:txBody>
      </p:sp>
      <p:sp>
        <p:nvSpPr>
          <p:cNvPr id="6" name="Matrix card"/>
          <p:cNvSpPr/>
          <p:nvPr/>
        </p:nvSpPr>
        <p:spPr>
          <a:xfrm>
            <a:off x="548640" y="1783080"/>
            <a:ext cx="5943600" cy="4434840"/>
          </a:xfrm>
          <a:prstGeom prst="roundRect">
            <a:avLst>
              <a:gd name="adj" fmla="val 2474"/>
            </a:avLst>
          </a:prstGeom>
          <a:solidFill>
            <a:schemeClr val="bg2">
              <a:alpha val="88000"/>
            </a:schemeClr>
          </a:solidFill>
          <a:ln w="9525">
            <a:solidFill>
              <a:srgbClr val="FFFFFF">
                <a:alpha val="12000"/>
              </a:srgbClr>
            </a:solidFill>
            <a:prstDash val="solid"/>
          </a:ln>
        </p:spPr>
      </p:sp>
      <p:sp>
        <p:nvSpPr>
          <p:cNvPr id="7" name="Matrix heading"/>
          <p:cNvSpPr txBox="1"/>
          <p:nvPr/>
        </p:nvSpPr>
        <p:spPr>
          <a:xfrm>
            <a:off x="822960" y="1920240"/>
            <a:ext cx="5394960" cy="274320"/>
          </a:xfrm>
          <a:prstGeom prst="rect">
            <a:avLst/>
          </a:prstGeom>
          <a:noFill/>
          <a:ln/>
        </p:spPr>
        <p:txBody>
          <a:bodyPr wrap="square" lIns="0" tIns="0" rIns="0" bIns="0" rtlCol="0" anchor="t"/>
          <a:lstStyle/>
          <a:p>
            <a:pPr indent="0" marL="0">
              <a:buNone/>
            </a:pPr>
            <a:r>
              <a:rPr lang="en-US" sz="1400" b="1" dirty="0">
                <a:solidFill>
                  <a:schemeClr val="tx1"/>
                </a:solidFill>
              </a:rPr>
              <a:t>Pooled confusion matrix · rows are the true stage</a:t>
            </a:r>
            <a:endParaRPr lang="en-US" sz="1400" dirty="0"/>
          </a:p>
        </p:txBody>
      </p:sp>
      <p:graphicFrame>
        <p:nvGraphicFramePr>
          <p:cNvPr id="11" name="Confusion matrix"/>
          <p:cNvGraphicFramePr>
            <a:graphicFrameLocks noGrp="1"/>
          </p:cNvGraphicFramePr>
          <p:nvPr>
            <p:extLst>
              <p:ext uri="{D42A27DB-BD31-4B8C-83A1-F6EECF244321}">
                <p14:modId xmlns:p14="http://schemas.microsoft.com/office/powerpoint/2010/main" val="1579011935"/>
              </p:ext>
            </p:extLst>
          </p:nvPr>
        </p:nvGraphicFramePr>
        <p:xfrm>
          <a:off x="822960" y="2377440"/>
          <a:ext cx="5394960" cy="914400"/>
        </p:xfrm>
        <a:graphic>
          <a:graphicData uri="http://schemas.openxmlformats.org/drawingml/2006/table">
            <a:tbl>
              <a:tblPr/>
              <a:tblGrid>
                <a:gridCol w="1371600"/>
                <a:gridCol w="1005840"/>
                <a:gridCol w="1005840"/>
                <a:gridCol w="1005840"/>
                <a:gridCol w="1005840"/>
              </a:tblGrid>
              <a:tr h="566928">
                <a:tc>
                  <a:txBody>
                    <a:bodyPr/>
                    <a:lstStyle/>
                    <a:p>
                      <a:pPr algn="ctr" indent="0" marL="0">
                        <a:buNone/>
                      </a:pPr>
                      <a:r>
                        <a:rPr lang="en-US" sz="1200" dirty="0">
                          <a:solidFill>
                            <a:srgbClr val="B3A9B4"/>
                          </a:solidFill>
                        </a:rPr>
                        <a:t>True \ Pred</a:t>
                      </a:r>
                      <a:endParaRPr lang="en-US" sz="12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tcPr>
                </a:tc>
                <a:tc>
                  <a:txBody>
                    <a:bodyPr/>
                    <a:lstStyle/>
                    <a:p>
                      <a:pPr algn="ctr" indent="0" marL="0">
                        <a:buNone/>
                      </a:pPr>
                      <a:r>
                        <a:rPr lang="en-US" sz="1500" b="1" dirty="0">
                          <a:solidFill>
                            <a:srgbClr val="34D399"/>
                          </a:solidFill>
                        </a:rPr>
                        <a:t>NC</a:t>
                      </a:r>
                      <a:endParaRPr lang="en-US" sz="15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tcPr>
                </a:tc>
                <a:tc>
                  <a:txBody>
                    <a:bodyPr/>
                    <a:lstStyle/>
                    <a:p>
                      <a:pPr algn="ctr" indent="0" marL="0">
                        <a:buNone/>
                      </a:pPr>
                      <a:r>
                        <a:rPr lang="en-US" sz="1500" b="1" dirty="0">
                          <a:solidFill>
                            <a:srgbClr val="FBBF24"/>
                          </a:solidFill>
                        </a:rPr>
                        <a:t>EMCI</a:t>
                      </a:r>
                      <a:endParaRPr lang="en-US" sz="15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tcPr>
                </a:tc>
                <a:tc>
                  <a:txBody>
                    <a:bodyPr/>
                    <a:lstStyle/>
                    <a:p>
                      <a:pPr algn="ctr" indent="0" marL="0">
                        <a:buNone/>
                      </a:pPr>
                      <a:r>
                        <a:rPr lang="en-US" sz="1500" b="1" dirty="0">
                          <a:solidFill>
                            <a:srgbClr val="FB923C"/>
                          </a:solidFill>
                        </a:rPr>
                        <a:t>LMCI</a:t>
                      </a:r>
                      <a:endParaRPr lang="en-US" sz="15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tcPr>
                </a:tc>
                <a:tc>
                  <a:txBody>
                    <a:bodyPr/>
                    <a:lstStyle/>
                    <a:p>
                      <a:pPr algn="ctr" indent="0" marL="0">
                        <a:buNone/>
                      </a:pPr>
                      <a:r>
                        <a:rPr lang="en-US" sz="1500" b="1" dirty="0">
                          <a:solidFill>
                            <a:srgbClr val="F43F5E"/>
                          </a:solidFill>
                        </a:rPr>
                        <a:t>AD</a:t>
                      </a:r>
                      <a:endParaRPr lang="en-US" sz="15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tcPr>
                </a:tc>
              </a:tr>
              <a:tr h="566928">
                <a:tc>
                  <a:txBody>
                    <a:bodyPr/>
                    <a:lstStyle/>
                    <a:p>
                      <a:pPr algn="ctr" indent="0" marL="0">
                        <a:buNone/>
                      </a:pPr>
                      <a:r>
                        <a:rPr lang="en-US" sz="1500" b="1" dirty="0">
                          <a:solidFill>
                            <a:srgbClr val="34D399"/>
                          </a:solidFill>
                        </a:rPr>
                        <a:t>NC</a:t>
                      </a:r>
                      <a:endParaRPr lang="en-US" sz="15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tcPr>
                </a:tc>
                <a:tc>
                  <a:txBody>
                    <a:bodyPr/>
                    <a:lstStyle/>
                    <a:p>
                      <a:pPr algn="ctr" indent="0" marL="0">
                        <a:buNone/>
                      </a:pPr>
                      <a:r>
                        <a:rPr lang="en-US" sz="1800" dirty="0">
                          <a:solidFill>
                            <a:srgbClr val="F4F1F4"/>
                          </a:solidFill>
                        </a:rPr>
                        <a:t>447</a:t>
                      </a:r>
                      <a:endParaRPr lang="en-US" sz="18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solidFill>
                      <a:srgbClr val="6F4E80"/>
                    </a:solidFill>
                  </a:tcPr>
                </a:tc>
                <a:tc>
                  <a:txBody>
                    <a:bodyPr/>
                    <a:lstStyle/>
                    <a:p>
                      <a:pPr algn="ctr" indent="0" marL="0">
                        <a:buNone/>
                      </a:pPr>
                      <a:r>
                        <a:rPr lang="en-US" sz="1800" b="1" dirty="0">
                          <a:solidFill>
                            <a:srgbClr val="F4F1F4"/>
                          </a:solidFill>
                        </a:rPr>
                        <a:t>3</a:t>
                      </a:r>
                      <a:endParaRPr lang="en-US" sz="18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solidFill>
                      <a:srgbClr val="8A3A52"/>
                    </a:solidFill>
                  </a:tcPr>
                </a:tc>
                <a:tc>
                  <a:txBody>
                    <a:bodyPr/>
                    <a:lstStyle/>
                    <a:p>
                      <a:pPr algn="ctr" indent="0" marL="0">
                        <a:buNone/>
                      </a:pPr>
                      <a:r>
                        <a:rPr lang="en-US" sz="1800" dirty="0">
                          <a:solidFill>
                            <a:srgbClr val="F4F1F4"/>
                          </a:solidFill>
                        </a:rPr>
                        <a:t>0</a:t>
                      </a:r>
                      <a:endParaRPr lang="en-US" sz="18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solidFill>
                      <a:srgbClr val="241B26"/>
                    </a:solidFill>
                  </a:tcPr>
                </a:tc>
                <a:tc>
                  <a:txBody>
                    <a:bodyPr/>
                    <a:lstStyle/>
                    <a:p>
                      <a:pPr algn="ctr" indent="0" marL="0">
                        <a:buNone/>
                      </a:pPr>
                      <a:r>
                        <a:rPr lang="en-US" sz="1800" dirty="0">
                          <a:solidFill>
                            <a:srgbClr val="F4F1F4"/>
                          </a:solidFill>
                        </a:rPr>
                        <a:t>0</a:t>
                      </a:r>
                      <a:endParaRPr lang="en-US" sz="18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solidFill>
                      <a:srgbClr val="241B26"/>
                    </a:solidFill>
                  </a:tcPr>
                </a:tc>
              </a:tr>
              <a:tr h="566928">
                <a:tc>
                  <a:txBody>
                    <a:bodyPr/>
                    <a:lstStyle/>
                    <a:p>
                      <a:pPr algn="ctr" indent="0" marL="0">
                        <a:buNone/>
                      </a:pPr>
                      <a:r>
                        <a:rPr lang="en-US" sz="1500" b="1" dirty="0">
                          <a:solidFill>
                            <a:srgbClr val="FBBF24"/>
                          </a:solidFill>
                        </a:rPr>
                        <a:t>EMCI</a:t>
                      </a:r>
                      <a:endParaRPr lang="en-US" sz="15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tcPr>
                </a:tc>
                <a:tc>
                  <a:txBody>
                    <a:bodyPr/>
                    <a:lstStyle/>
                    <a:p>
                      <a:pPr algn="ctr" indent="0" marL="0">
                        <a:buNone/>
                      </a:pPr>
                      <a:r>
                        <a:rPr lang="en-US" sz="1800" b="1" dirty="0">
                          <a:solidFill>
                            <a:srgbClr val="F4F1F4"/>
                          </a:solidFill>
                        </a:rPr>
                        <a:t>5</a:t>
                      </a:r>
                      <a:endParaRPr lang="en-US" sz="18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solidFill>
                      <a:srgbClr val="8A3A52"/>
                    </a:solidFill>
                  </a:tcPr>
                </a:tc>
                <a:tc>
                  <a:txBody>
                    <a:bodyPr/>
                    <a:lstStyle/>
                    <a:p>
                      <a:pPr algn="ctr" indent="0" marL="0">
                        <a:buNone/>
                      </a:pPr>
                      <a:r>
                        <a:rPr lang="en-US" sz="1800" dirty="0">
                          <a:solidFill>
                            <a:srgbClr val="F4F1F4"/>
                          </a:solidFill>
                        </a:rPr>
                        <a:t>257</a:t>
                      </a:r>
                      <a:endParaRPr lang="en-US" sz="18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solidFill>
                      <a:srgbClr val="6F4E80"/>
                    </a:solidFill>
                  </a:tcPr>
                </a:tc>
                <a:tc>
                  <a:txBody>
                    <a:bodyPr/>
                    <a:lstStyle/>
                    <a:p>
                      <a:pPr algn="ctr" indent="0" marL="0">
                        <a:buNone/>
                      </a:pPr>
                      <a:r>
                        <a:rPr lang="en-US" sz="1800" b="1" dirty="0">
                          <a:solidFill>
                            <a:srgbClr val="F4F1F4"/>
                          </a:solidFill>
                        </a:rPr>
                        <a:t>14</a:t>
                      </a:r>
                      <a:endParaRPr lang="en-US" sz="18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solidFill>
                      <a:srgbClr val="8A3A52"/>
                    </a:solidFill>
                  </a:tcPr>
                </a:tc>
                <a:tc>
                  <a:txBody>
                    <a:bodyPr/>
                    <a:lstStyle/>
                    <a:p>
                      <a:pPr algn="ctr" indent="0" marL="0">
                        <a:buNone/>
                      </a:pPr>
                      <a:r>
                        <a:rPr lang="en-US" sz="1800" dirty="0">
                          <a:solidFill>
                            <a:srgbClr val="F4F1F4"/>
                          </a:solidFill>
                        </a:rPr>
                        <a:t>0</a:t>
                      </a:r>
                      <a:endParaRPr lang="en-US" sz="18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solidFill>
                      <a:srgbClr val="241B26"/>
                    </a:solidFill>
                  </a:tcPr>
                </a:tc>
              </a:tr>
              <a:tr h="566928">
                <a:tc>
                  <a:txBody>
                    <a:bodyPr/>
                    <a:lstStyle/>
                    <a:p>
                      <a:pPr algn="ctr" indent="0" marL="0">
                        <a:buNone/>
                      </a:pPr>
                      <a:r>
                        <a:rPr lang="en-US" sz="1500" b="1" dirty="0">
                          <a:solidFill>
                            <a:srgbClr val="FB923C"/>
                          </a:solidFill>
                        </a:rPr>
                        <a:t>LMCI</a:t>
                      </a:r>
                      <a:endParaRPr lang="en-US" sz="15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tcPr>
                </a:tc>
                <a:tc>
                  <a:txBody>
                    <a:bodyPr/>
                    <a:lstStyle/>
                    <a:p>
                      <a:pPr algn="ctr" indent="0" marL="0">
                        <a:buNone/>
                      </a:pPr>
                      <a:r>
                        <a:rPr lang="en-US" sz="1800" dirty="0">
                          <a:solidFill>
                            <a:srgbClr val="F4F1F4"/>
                          </a:solidFill>
                        </a:rPr>
                        <a:t>0</a:t>
                      </a:r>
                      <a:endParaRPr lang="en-US" sz="18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solidFill>
                      <a:srgbClr val="241B26"/>
                    </a:solidFill>
                  </a:tcPr>
                </a:tc>
                <a:tc>
                  <a:txBody>
                    <a:bodyPr/>
                    <a:lstStyle/>
                    <a:p>
                      <a:pPr algn="ctr" indent="0" marL="0">
                        <a:buNone/>
                      </a:pPr>
                      <a:r>
                        <a:rPr lang="en-US" sz="1800" dirty="0">
                          <a:solidFill>
                            <a:srgbClr val="F4F1F4"/>
                          </a:solidFill>
                        </a:rPr>
                        <a:t>0</a:t>
                      </a:r>
                      <a:endParaRPr lang="en-US" sz="18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solidFill>
                      <a:srgbClr val="241B26"/>
                    </a:solidFill>
                  </a:tcPr>
                </a:tc>
                <a:tc>
                  <a:txBody>
                    <a:bodyPr/>
                    <a:lstStyle/>
                    <a:p>
                      <a:pPr algn="ctr" indent="0" marL="0">
                        <a:buNone/>
                      </a:pPr>
                      <a:r>
                        <a:rPr lang="en-US" sz="1800" dirty="0">
                          <a:solidFill>
                            <a:srgbClr val="F4F1F4"/>
                          </a:solidFill>
                        </a:rPr>
                        <a:t>201</a:t>
                      </a:r>
                      <a:endParaRPr lang="en-US" sz="18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solidFill>
                      <a:srgbClr val="6F4E80"/>
                    </a:solidFill>
                  </a:tcPr>
                </a:tc>
                <a:tc>
                  <a:txBody>
                    <a:bodyPr/>
                    <a:lstStyle/>
                    <a:p>
                      <a:pPr algn="ctr" indent="0" marL="0">
                        <a:buNone/>
                      </a:pPr>
                      <a:r>
                        <a:rPr lang="en-US" sz="1800" dirty="0">
                          <a:solidFill>
                            <a:srgbClr val="F4F1F4"/>
                          </a:solidFill>
                        </a:rPr>
                        <a:t>0</a:t>
                      </a:r>
                      <a:endParaRPr lang="en-US" sz="18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solidFill>
                      <a:srgbClr val="241B26"/>
                    </a:solidFill>
                  </a:tcPr>
                </a:tc>
              </a:tr>
              <a:tr h="566928">
                <a:tc>
                  <a:txBody>
                    <a:bodyPr/>
                    <a:lstStyle/>
                    <a:p>
                      <a:pPr algn="ctr" indent="0" marL="0">
                        <a:buNone/>
                      </a:pPr>
                      <a:r>
                        <a:rPr lang="en-US" sz="1500" b="1" dirty="0">
                          <a:solidFill>
                            <a:srgbClr val="F43F5E"/>
                          </a:solidFill>
                        </a:rPr>
                        <a:t>AD</a:t>
                      </a:r>
                      <a:endParaRPr lang="en-US" sz="15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tcPr>
                </a:tc>
                <a:tc>
                  <a:txBody>
                    <a:bodyPr/>
                    <a:lstStyle/>
                    <a:p>
                      <a:pPr algn="ctr" indent="0" marL="0">
                        <a:buNone/>
                      </a:pPr>
                      <a:r>
                        <a:rPr lang="en-US" sz="1800" dirty="0">
                          <a:solidFill>
                            <a:srgbClr val="F4F1F4"/>
                          </a:solidFill>
                        </a:rPr>
                        <a:t>0</a:t>
                      </a:r>
                      <a:endParaRPr lang="en-US" sz="18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solidFill>
                      <a:srgbClr val="241B26"/>
                    </a:solidFill>
                  </a:tcPr>
                </a:tc>
                <a:tc>
                  <a:txBody>
                    <a:bodyPr/>
                    <a:lstStyle/>
                    <a:p>
                      <a:pPr algn="ctr" indent="0" marL="0">
                        <a:buNone/>
                      </a:pPr>
                      <a:r>
                        <a:rPr lang="en-US" sz="1800" dirty="0">
                          <a:solidFill>
                            <a:srgbClr val="F4F1F4"/>
                          </a:solidFill>
                        </a:rPr>
                        <a:t>0</a:t>
                      </a:r>
                      <a:endParaRPr lang="en-US" sz="18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solidFill>
                      <a:srgbClr val="241B26"/>
                    </a:solidFill>
                  </a:tcPr>
                </a:tc>
                <a:tc>
                  <a:txBody>
                    <a:bodyPr/>
                    <a:lstStyle/>
                    <a:p>
                      <a:pPr algn="ctr" indent="0" marL="0">
                        <a:buNone/>
                      </a:pPr>
                      <a:r>
                        <a:rPr lang="en-US" sz="1800" b="1" dirty="0">
                          <a:solidFill>
                            <a:srgbClr val="F4F1F4"/>
                          </a:solidFill>
                        </a:rPr>
                        <a:t>1</a:t>
                      </a:r>
                      <a:endParaRPr lang="en-US" sz="18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solidFill>
                      <a:srgbClr val="8A3A52"/>
                    </a:solidFill>
                  </a:tcPr>
                </a:tc>
                <a:tc>
                  <a:txBody>
                    <a:bodyPr/>
                    <a:lstStyle/>
                    <a:p>
                      <a:pPr algn="ctr" indent="0" marL="0">
                        <a:buNone/>
                      </a:pPr>
                      <a:r>
                        <a:rPr lang="en-US" sz="1800" dirty="0">
                          <a:solidFill>
                            <a:srgbClr val="F4F1F4"/>
                          </a:solidFill>
                        </a:rPr>
                        <a:t>137</a:t>
                      </a:r>
                      <a:endParaRPr lang="en-US" sz="1800" dirty="0"/>
                    </a:p>
                  </a:txBody>
                  <a:tcPr marL="91440" marR="91440" marT="45720" marB="45720" anchor="ctr">
                    <a:lnL w="25400" cap="flat" cmpd="sng" algn="ctr">
                      <a:solidFill>
                        <a:srgbClr val="0E0A0F"/>
                      </a:solidFill>
                      <a:prstDash val="solid"/>
                      <a:round/>
                      <a:headEnd type="none" w="med" len="med"/>
                      <a:tailEnd type="none" w="med" len="med"/>
                    </a:lnL>
                    <a:lnR w="25400" cap="flat" cmpd="sng" algn="ctr">
                      <a:solidFill>
                        <a:srgbClr val="0E0A0F"/>
                      </a:solidFill>
                      <a:prstDash val="solid"/>
                      <a:round/>
                      <a:headEnd type="none" w="med" len="med"/>
                      <a:tailEnd type="none" w="med" len="med"/>
                    </a:lnR>
                    <a:lnT w="25400" cap="flat" cmpd="sng" algn="ctr">
                      <a:solidFill>
                        <a:srgbClr val="0E0A0F"/>
                      </a:solidFill>
                      <a:prstDash val="solid"/>
                      <a:round/>
                      <a:headEnd type="none" w="med" len="med"/>
                      <a:tailEnd type="none" w="med" len="med"/>
                    </a:lnT>
                    <a:lnB w="25400" cap="flat" cmpd="sng" algn="ctr">
                      <a:solidFill>
                        <a:srgbClr val="0E0A0F"/>
                      </a:solidFill>
                      <a:prstDash val="solid"/>
                      <a:round/>
                      <a:headEnd type="none" w="med" len="med"/>
                      <a:tailEnd type="none" w="med" len="med"/>
                    </a:lnB>
                    <a:solidFill>
                      <a:srgbClr val="6F4E80"/>
                    </a:solidFill>
                  </a:tcPr>
                </a:tc>
              </a:tr>
            </a:tbl>
          </a:graphicData>
        </a:graphic>
      </p:graphicFrame>
      <p:sp>
        <p:nvSpPr>
          <p:cNvPr id="9" name="Matrix note"/>
          <p:cNvSpPr txBox="1"/>
          <p:nvPr/>
        </p:nvSpPr>
        <p:spPr>
          <a:xfrm>
            <a:off x="822960" y="5349240"/>
            <a:ext cx="5394960" cy="777240"/>
          </a:xfrm>
          <a:prstGeom prst="rect">
            <a:avLst/>
          </a:prstGeom>
          <a:noFill/>
          <a:ln/>
        </p:spPr>
        <p:txBody>
          <a:bodyPr wrap="square" lIns="0" tIns="0" rIns="0" bIns="0" rtlCol="0" anchor="t"/>
          <a:lstStyle/>
          <a:p>
            <a:pPr indent="0" marL="0">
              <a:buNone/>
            </a:pPr>
            <a:r>
              <a:rPr lang="en-US" sz="1300" dirty="0">
                <a:solidFill>
                  <a:schemeClr val="tx2"/>
                </a:solidFill>
              </a:rPr>
              <a:t>14 early-MCI slices read as late MCI · 5 as normal · 3 normal as early MCI · 1 AD as late MCI</a:t>
            </a:r>
            <a:endParaRPr lang="en-US" sz="1300" dirty="0"/>
          </a:p>
        </p:txBody>
      </p:sp>
      <p:sp>
        <p:nvSpPr>
          <p:cNvPr id="10" name="Recall chart card"/>
          <p:cNvSpPr/>
          <p:nvPr/>
        </p:nvSpPr>
        <p:spPr>
          <a:xfrm>
            <a:off x="6675120" y="1783080"/>
            <a:ext cx="4965192" cy="2331720"/>
          </a:xfrm>
          <a:prstGeom prst="roundRect">
            <a:avLst>
              <a:gd name="adj" fmla="val 4706"/>
            </a:avLst>
          </a:prstGeom>
          <a:solidFill>
            <a:schemeClr val="bg2">
              <a:alpha val="88000"/>
            </a:schemeClr>
          </a:solidFill>
          <a:ln w="9525">
            <a:solidFill>
              <a:srgbClr val="FFFFFF">
                <a:alpha val="12000"/>
              </a:srgbClr>
            </a:solidFill>
            <a:prstDash val="solid"/>
          </a:ln>
        </p:spPr>
      </p:sp>
      <p:graphicFrame>
        <p:nvGraphicFramePr>
          <p:cNvPr id="11" name="Chart 0" descr=""/>
          <p:cNvGraphicFramePr/>
          <p:nvPr/>
        </p:nvGraphicFramePr>
        <p:xfrm>
          <a:off x="6766560" y="1828800"/>
          <a:ext cx="4782312" cy="2240280"/>
        </p:xfrm>
        <a:graphic xmlns:a="http://schemas.openxmlformats.org/drawingml/2006/main">
          <a:graphicData uri="http://schemas.openxmlformats.org/drawingml/2006/chart">
            <c:chart xmlns:c="http://schemas.openxmlformats.org/drawingml/2006/chart" r:id="rId1"/>
          </a:graphicData>
        </a:graphic>
      </p:graphicFrame>
      <p:sp>
        <p:nvSpPr>
          <p:cNvPr id="12" name="Stat early recall"/>
          <p:cNvSpPr/>
          <p:nvPr/>
        </p:nvSpPr>
        <p:spPr>
          <a:xfrm>
            <a:off x="6675120" y="4297680"/>
            <a:ext cx="1572768" cy="1920240"/>
          </a:xfrm>
          <a:prstGeom prst="roundRect">
            <a:avLst>
              <a:gd name="adj" fmla="val 6977"/>
            </a:avLst>
          </a:prstGeom>
          <a:solidFill>
            <a:schemeClr val="bg2">
              <a:alpha val="88000"/>
            </a:schemeClr>
          </a:solidFill>
          <a:ln w="9525">
            <a:solidFill>
              <a:srgbClr val="FFFFFF">
                <a:alpha val="12000"/>
              </a:srgbClr>
            </a:solidFill>
            <a:prstDash val="solid"/>
          </a:ln>
        </p:spPr>
      </p:sp>
      <p:sp>
        <p:nvSpPr>
          <p:cNvPr id="13" name="Stat early recall value"/>
          <p:cNvSpPr txBox="1"/>
          <p:nvPr/>
        </p:nvSpPr>
        <p:spPr>
          <a:xfrm>
            <a:off x="6903720" y="4407408"/>
            <a:ext cx="1115568" cy="998525"/>
          </a:xfrm>
          <a:prstGeom prst="rect">
            <a:avLst/>
          </a:prstGeom>
          <a:noFill/>
          <a:ln/>
        </p:spPr>
        <p:txBody>
          <a:bodyPr wrap="square" lIns="0" tIns="0" rIns="0" bIns="0" rtlCol="0" anchor="ctr"/>
          <a:lstStyle/>
          <a:p>
            <a:pPr indent="0" marL="0">
              <a:buNone/>
            </a:pPr>
            <a:r>
              <a:rPr lang="en-US" sz="2600" b="1" dirty="0">
                <a:solidFill>
                  <a:schemeClr val="accent1"/>
                </a:solidFill>
                <a:latin typeface="+mj-lt" pitchFamily="34" charset="0"/>
                <a:ea typeface="+mj-lt" pitchFamily="34" charset="-122"/>
                <a:cs typeface="+mj-lt" pitchFamily="34" charset="-120"/>
              </a:rPr>
              <a:t>0.992</a:t>
            </a:r>
            <a:endParaRPr lang="en-US" sz="2600" dirty="0"/>
          </a:p>
        </p:txBody>
      </p:sp>
      <p:sp>
        <p:nvSpPr>
          <p:cNvPr id="14" name="Stat early recall label"/>
          <p:cNvSpPr txBox="1"/>
          <p:nvPr/>
        </p:nvSpPr>
        <p:spPr>
          <a:xfrm>
            <a:off x="6903720" y="5411419"/>
            <a:ext cx="1115568" cy="729691"/>
          </a:xfrm>
          <a:prstGeom prst="rect">
            <a:avLst/>
          </a:prstGeom>
          <a:noFill/>
          <a:ln/>
        </p:spPr>
        <p:txBody>
          <a:bodyPr wrap="square" lIns="0" tIns="0" rIns="0" bIns="0" rtlCol="0" anchor="t"/>
          <a:lstStyle/>
          <a:p>
            <a:pPr indent="0" marL="0">
              <a:buNone/>
            </a:pPr>
            <a:r>
              <a:rPr lang="en-US" sz="1300" dirty="0">
                <a:solidFill>
                  <a:schemeClr val="tx2"/>
                </a:solidFill>
              </a:rPr>
              <a:t>early-detection recall</a:t>
            </a:r>
            <a:endParaRPr lang="en-US" sz="1300" dirty="0"/>
          </a:p>
        </p:txBody>
      </p:sp>
      <p:sp>
        <p:nvSpPr>
          <p:cNvPr id="15" name="Stat errors"/>
          <p:cNvSpPr/>
          <p:nvPr/>
        </p:nvSpPr>
        <p:spPr>
          <a:xfrm>
            <a:off x="8330184" y="4297680"/>
            <a:ext cx="1572768" cy="1920240"/>
          </a:xfrm>
          <a:prstGeom prst="roundRect">
            <a:avLst>
              <a:gd name="adj" fmla="val 6977"/>
            </a:avLst>
          </a:prstGeom>
          <a:solidFill>
            <a:schemeClr val="bg2">
              <a:alpha val="88000"/>
            </a:schemeClr>
          </a:solidFill>
          <a:ln w="9525">
            <a:solidFill>
              <a:srgbClr val="FFFFFF">
                <a:alpha val="12000"/>
              </a:srgbClr>
            </a:solidFill>
            <a:prstDash val="solid"/>
          </a:ln>
        </p:spPr>
      </p:sp>
      <p:sp>
        <p:nvSpPr>
          <p:cNvPr id="16" name="Stat errors value"/>
          <p:cNvSpPr txBox="1"/>
          <p:nvPr/>
        </p:nvSpPr>
        <p:spPr>
          <a:xfrm>
            <a:off x="8558784" y="4407408"/>
            <a:ext cx="1115568" cy="998525"/>
          </a:xfrm>
          <a:prstGeom prst="rect">
            <a:avLst/>
          </a:prstGeom>
          <a:noFill/>
          <a:ln/>
        </p:spPr>
        <p:txBody>
          <a:bodyPr wrap="square" lIns="0" tIns="0" rIns="0" bIns="0" rtlCol="0" anchor="ctr"/>
          <a:lstStyle/>
          <a:p>
            <a:pPr indent="0" marL="0">
              <a:buNone/>
            </a:pPr>
            <a:r>
              <a:rPr lang="en-US" sz="2600" b="1" dirty="0">
                <a:solidFill>
                  <a:schemeClr val="accent1"/>
                </a:solidFill>
                <a:latin typeface="+mj-lt" pitchFamily="34" charset="0"/>
                <a:ea typeface="+mj-lt" pitchFamily="34" charset="-122"/>
                <a:cs typeface="+mj-lt" pitchFamily="34" charset="-120"/>
              </a:rPr>
              <a:t>23</a:t>
            </a:r>
            <a:endParaRPr lang="en-US" sz="2600" dirty="0"/>
          </a:p>
        </p:txBody>
      </p:sp>
      <p:sp>
        <p:nvSpPr>
          <p:cNvPr id="17" name="Stat errors label"/>
          <p:cNvSpPr txBox="1"/>
          <p:nvPr/>
        </p:nvSpPr>
        <p:spPr>
          <a:xfrm>
            <a:off x="8558784" y="5411419"/>
            <a:ext cx="1115568" cy="729691"/>
          </a:xfrm>
          <a:prstGeom prst="rect">
            <a:avLst/>
          </a:prstGeom>
          <a:noFill/>
          <a:ln/>
        </p:spPr>
        <p:txBody>
          <a:bodyPr wrap="square" lIns="0" tIns="0" rIns="0" bIns="0" rtlCol="0" anchor="t"/>
          <a:lstStyle/>
          <a:p>
            <a:pPr indent="0" marL="0">
              <a:buNone/>
            </a:pPr>
            <a:r>
              <a:rPr lang="en-US" sz="1300" dirty="0">
                <a:solidFill>
                  <a:schemeClr val="tx2"/>
                </a:solidFill>
              </a:rPr>
              <a:t>errors, all adjacent</a:t>
            </a:r>
            <a:endParaRPr lang="en-US" sz="1300" dirty="0"/>
          </a:p>
        </p:txBody>
      </p:sp>
      <p:sp>
        <p:nvSpPr>
          <p:cNvPr id="18" name="Stat calibration"/>
          <p:cNvSpPr/>
          <p:nvPr/>
        </p:nvSpPr>
        <p:spPr>
          <a:xfrm>
            <a:off x="9985248" y="4297680"/>
            <a:ext cx="1655064" cy="1920240"/>
          </a:xfrm>
          <a:prstGeom prst="roundRect">
            <a:avLst>
              <a:gd name="adj" fmla="val 6630"/>
            </a:avLst>
          </a:prstGeom>
          <a:solidFill>
            <a:schemeClr val="bg2">
              <a:alpha val="88000"/>
            </a:schemeClr>
          </a:solidFill>
          <a:ln w="9525">
            <a:solidFill>
              <a:srgbClr val="FFFFFF">
                <a:alpha val="12000"/>
              </a:srgbClr>
            </a:solidFill>
            <a:prstDash val="solid"/>
          </a:ln>
        </p:spPr>
      </p:sp>
      <p:sp>
        <p:nvSpPr>
          <p:cNvPr id="19" name="Stat calibration value"/>
          <p:cNvSpPr txBox="1"/>
          <p:nvPr/>
        </p:nvSpPr>
        <p:spPr>
          <a:xfrm>
            <a:off x="10213848" y="4407408"/>
            <a:ext cx="1197864" cy="998525"/>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98.6 vs 91.8</a:t>
            </a:r>
            <a:endParaRPr lang="en-US" sz="2000" dirty="0"/>
          </a:p>
        </p:txBody>
      </p:sp>
      <p:sp>
        <p:nvSpPr>
          <p:cNvPr id="20" name="Stat calibration label"/>
          <p:cNvSpPr txBox="1"/>
          <p:nvPr/>
        </p:nvSpPr>
        <p:spPr>
          <a:xfrm>
            <a:off x="10213848" y="5411419"/>
            <a:ext cx="1197864" cy="729691"/>
          </a:xfrm>
          <a:prstGeom prst="rect">
            <a:avLst/>
          </a:prstGeom>
          <a:noFill/>
          <a:ln/>
        </p:spPr>
        <p:txBody>
          <a:bodyPr wrap="square" lIns="0" tIns="0" rIns="0" bIns="0" rtlCol="0" anchor="t"/>
          <a:lstStyle/>
          <a:p>
            <a:pPr indent="0" marL="0">
              <a:buNone/>
            </a:pPr>
            <a:r>
              <a:rPr lang="en-US" sz="1300" dirty="0">
                <a:solidFill>
                  <a:schemeClr val="tx2"/>
                </a:solidFill>
              </a:rPr>
              <a:t>accuracy vs mean confidence (%)</a:t>
            </a:r>
            <a:endParaRPr lang="en-US" sz="13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7F9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Presenter badge"/>
          <p:cNvSpPr/>
          <p:nvPr/>
        </p:nvSpPr>
        <p:spPr>
          <a:xfrm>
            <a:off x="548640" y="384048"/>
            <a:ext cx="365760" cy="365760"/>
          </a:xfrm>
          <a:prstGeom prst="ellipse">
            <a:avLst/>
          </a:prstGeom>
          <a:solidFill>
            <a:schemeClr val="accent1"/>
          </a:solidFill>
          <a:ln w="12700">
            <a:solidFill>
              <a:schemeClr val="accent1"/>
            </a:solidFill>
            <a:prstDash val="solid"/>
          </a:ln>
        </p:spPr>
      </p:sp>
      <p:sp>
        <p:nvSpPr>
          <p:cNvPr id="3" name="Presenter initials"/>
          <p:cNvSpPr txBox="1"/>
          <p:nvPr/>
        </p:nvSpPr>
        <p:spPr>
          <a:xfrm>
            <a:off x="548640" y="384048"/>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TP</a:t>
            </a:r>
            <a:endParaRPr lang="en-US" sz="1100" dirty="0"/>
          </a:p>
        </p:txBody>
      </p:sp>
      <p:sp>
        <p:nvSpPr>
          <p:cNvPr id="4" name="Presenter line"/>
          <p:cNvSpPr txBox="1"/>
          <p:nvPr/>
        </p:nvSpPr>
        <p:spPr>
          <a:xfrm>
            <a:off x="1051560" y="384048"/>
            <a:ext cx="9601200"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TANEESHA RAJIV PRASAD</a:t>
            </a:r>
            <a:pPr indent="0" marL="0">
              <a:buNone/>
            </a:pPr>
            <a:r>
              <a:rPr lang="en-US" sz="1200" dirty="0">
                <a:solidFill>
                  <a:schemeClr val="tx2"/>
                </a:solidFill>
              </a:rPr>
              <a:t>   ·   Explainability and robustness</a:t>
            </a:r>
            <a:endParaRPr lang="en-US" sz="1200" dirty="0"/>
          </a:p>
        </p:txBody>
      </p:sp>
      <p:sp>
        <p:nvSpPr>
          <p:cNvPr id="5" name="Text 0"/>
          <p:cNvSpPr/>
          <p:nvPr>
            <p:ph idx="100" type="title" hasCustomPrompt="1"/>
          </p:nvPr>
        </p:nvSpPr>
        <p:spPr>
          <a:xfrm>
            <a:off x="548640" y="8686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Explanations you can check, not just trust</a:t>
            </a:r>
            <a:endParaRPr lang="en-US" sz="3400" dirty="0"/>
          </a:p>
        </p:txBody>
      </p:sp>
      <p:sp>
        <p:nvSpPr>
          <p:cNvPr id="6" name="Attribution screenshot frame"/>
          <p:cNvSpPr/>
          <p:nvPr/>
        </p:nvSpPr>
        <p:spPr>
          <a:xfrm>
            <a:off x="548640" y="1783080"/>
            <a:ext cx="3345240" cy="3941064"/>
          </a:xfrm>
          <a:prstGeom prst="roundRect">
            <a:avLst>
              <a:gd name="adj" fmla="val 3280"/>
            </a:avLst>
          </a:prstGeom>
          <a:solidFill>
            <a:schemeClr val="bg2"/>
          </a:solidFill>
          <a:ln w="9525">
            <a:solidFill>
              <a:srgbClr val="FFFFFF">
                <a:alpha val="20000"/>
              </a:srgbClr>
            </a:solidFill>
            <a:prstDash val="solid"/>
          </a:ln>
        </p:spPr>
      </p:sp>
      <p:pic>
        <p:nvPicPr>
          <p:cNvPr id="7" name="Attribution screenshot" descr="Screenshot: scan beside its Grad-CAM attribution map with a draggable divider">    </p:cNvPr>
          <p:cNvPicPr>
            <a:picLocks noChangeAspect="1"/>
          </p:cNvPicPr>
          <p:nvPr/>
        </p:nvPicPr>
        <p:blipFill>
          <a:blip r:embed="rId1"/>
          <a:stretch>
            <a:fillRect/>
          </a:stretch>
        </p:blipFill>
        <p:spPr>
          <a:xfrm>
            <a:off x="621792" y="1856232"/>
            <a:ext cx="3198936" cy="3794760"/>
          </a:xfrm>
          <a:prstGeom prst="rect">
            <a:avLst/>
          </a:prstGeom>
        </p:spPr>
      </p:pic>
      <p:sp>
        <p:nvSpPr>
          <p:cNvPr id="8" name="Counterfactual screenshot frame"/>
          <p:cNvSpPr/>
          <p:nvPr/>
        </p:nvSpPr>
        <p:spPr>
          <a:xfrm>
            <a:off x="4067616" y="1783080"/>
            <a:ext cx="3345240" cy="3941064"/>
          </a:xfrm>
          <a:prstGeom prst="roundRect">
            <a:avLst>
              <a:gd name="adj" fmla="val 3280"/>
            </a:avLst>
          </a:prstGeom>
          <a:solidFill>
            <a:schemeClr val="bg2"/>
          </a:solidFill>
          <a:ln w="9525">
            <a:solidFill>
              <a:srgbClr val="FFFFFF">
                <a:alpha val="20000"/>
              </a:srgbClr>
            </a:solidFill>
            <a:prstDash val="solid"/>
          </a:ln>
        </p:spPr>
      </p:sp>
      <p:pic>
        <p:nvPicPr>
          <p:cNvPr id="9" name="Counterfactual screenshot" descr="Screenshot: Grad-CAM map for the class AD on a healthy scan, almost entirely cold">    </p:cNvPr>
          <p:cNvPicPr>
            <a:picLocks noChangeAspect="1"/>
          </p:cNvPicPr>
          <p:nvPr/>
        </p:nvPicPr>
        <p:blipFill>
          <a:blip r:embed="rId2"/>
          <a:stretch>
            <a:fillRect/>
          </a:stretch>
        </p:blipFill>
        <p:spPr>
          <a:xfrm>
            <a:off x="4140768" y="1856232"/>
            <a:ext cx="3198936" cy="3794760"/>
          </a:xfrm>
          <a:prstGeom prst="rect">
            <a:avLst/>
          </a:prstGeom>
        </p:spPr>
      </p:pic>
      <p:sp>
        <p:nvSpPr>
          <p:cNvPr id="10" name="Caption 1"/>
          <p:cNvSpPr txBox="1"/>
          <p:nvPr/>
        </p:nvSpPr>
        <p:spPr>
          <a:xfrm>
            <a:off x="621792" y="5760720"/>
            <a:ext cx="3198936" cy="411480"/>
          </a:xfrm>
          <a:prstGeom prst="rect">
            <a:avLst/>
          </a:prstGeom>
          <a:noFill/>
          <a:ln/>
        </p:spPr>
        <p:txBody>
          <a:bodyPr wrap="square" lIns="0" tIns="0" rIns="0" bIns="0" rtlCol="0" anchor="t"/>
          <a:lstStyle/>
          <a:p>
            <a:pPr indent="0" marL="0">
              <a:buNone/>
            </a:pPr>
            <a:r>
              <a:rPr lang="en-US" sz="1200" dirty="0">
                <a:solidFill>
                  <a:schemeClr val="tx2"/>
                </a:solidFill>
              </a:rPr>
              <a:t>Drag to compare: scan vs map</a:t>
            </a:r>
            <a:endParaRPr lang="en-US" sz="1200" dirty="0"/>
          </a:p>
        </p:txBody>
      </p:sp>
      <p:sp>
        <p:nvSpPr>
          <p:cNvPr id="11" name="Caption 2"/>
          <p:cNvSpPr txBox="1"/>
          <p:nvPr/>
        </p:nvSpPr>
        <p:spPr>
          <a:xfrm>
            <a:off x="4140768" y="5760720"/>
            <a:ext cx="3198936" cy="411480"/>
          </a:xfrm>
          <a:prstGeom prst="rect">
            <a:avLst/>
          </a:prstGeom>
          <a:noFill/>
          <a:ln/>
        </p:spPr>
        <p:txBody>
          <a:bodyPr wrap="square" lIns="0" tIns="0" rIns="0" bIns="0" rtlCol="0" anchor="t"/>
          <a:lstStyle/>
          <a:p>
            <a:pPr indent="0" marL="0">
              <a:buNone/>
            </a:pPr>
            <a:r>
              <a:rPr lang="en-US" sz="1200" dirty="0">
                <a:solidFill>
                  <a:schemeClr val="tx2"/>
                </a:solidFill>
              </a:rPr>
              <a:t>Counterfactual: “what would make this AD?”</a:t>
            </a:r>
            <a:endParaRPr lang="en-US" sz="1200" dirty="0"/>
          </a:p>
        </p:txBody>
      </p:sp>
      <p:sp>
        <p:nvSpPr>
          <p:cNvPr id="12" name="Step card 1"/>
          <p:cNvSpPr/>
          <p:nvPr/>
        </p:nvSpPr>
        <p:spPr>
          <a:xfrm>
            <a:off x="7589520" y="1783080"/>
            <a:ext cx="4050792" cy="1097280"/>
          </a:xfrm>
          <a:prstGeom prst="roundRect">
            <a:avLst>
              <a:gd name="adj" fmla="val 10000"/>
            </a:avLst>
          </a:prstGeom>
          <a:solidFill>
            <a:schemeClr val="bg2">
              <a:alpha val="88000"/>
            </a:schemeClr>
          </a:solidFill>
          <a:ln w="9525">
            <a:solidFill>
              <a:srgbClr val="FFFFFF">
                <a:alpha val="12000"/>
              </a:srgbClr>
            </a:solidFill>
            <a:prstDash val="solid"/>
          </a:ln>
        </p:spPr>
      </p:sp>
      <p:sp>
        <p:nvSpPr>
          <p:cNvPr id="13" name="Step dot 1"/>
          <p:cNvSpPr/>
          <p:nvPr/>
        </p:nvSpPr>
        <p:spPr>
          <a:xfrm>
            <a:off x="7772400" y="2112264"/>
            <a:ext cx="438912" cy="438912"/>
          </a:xfrm>
          <a:prstGeom prst="ellipse">
            <a:avLst/>
          </a:prstGeom>
          <a:solidFill>
            <a:schemeClr val="accent1"/>
          </a:solidFill>
          <a:ln w="12700">
            <a:solidFill>
              <a:schemeClr val="accent1"/>
            </a:solidFill>
            <a:prstDash val="solid"/>
          </a:ln>
        </p:spPr>
      </p:sp>
      <p:sp>
        <p:nvSpPr>
          <p:cNvPr id="14" name="Step number 1"/>
          <p:cNvSpPr txBox="1"/>
          <p:nvPr/>
        </p:nvSpPr>
        <p:spPr>
          <a:xfrm>
            <a:off x="7772400" y="2112264"/>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5" name="Step text 1"/>
          <p:cNvSpPr txBox="1"/>
          <p:nvPr/>
        </p:nvSpPr>
        <p:spPr>
          <a:xfrm>
            <a:off x="8366760" y="1783080"/>
            <a:ext cx="3090672" cy="1097280"/>
          </a:xfrm>
          <a:prstGeom prst="rect">
            <a:avLst/>
          </a:prstGeom>
          <a:noFill/>
          <a:ln/>
        </p:spPr>
        <p:txBody>
          <a:bodyPr wrap="square" lIns="0" tIns="0" rIns="0" bIns="0" rtlCol="0" anchor="ctr"/>
          <a:lstStyle/>
          <a:p>
            <a:pPr indent="0" marL="0">
              <a:buNone/>
            </a:pPr>
            <a:r>
              <a:rPr lang="en-US" sz="1400" b="1" dirty="0">
                <a:solidFill>
                  <a:schemeClr val="accent1"/>
                </a:solidFill>
              </a:rPr>
              <a:t>Weight  </a:t>
            </a:r>
            <a:pPr indent="0" marL="0">
              <a:buNone/>
            </a:pPr>
            <a:r>
              <a:rPr lang="en-US" sz="1400" dirty="0">
                <a:solidFill>
                  <a:schemeClr val="tx1"/>
                </a:solidFill>
              </a:rPr>
              <a:t>Gradient of the stage score weights the last conv feature maps</a:t>
            </a:r>
            <a:endParaRPr lang="en-US" sz="1400" dirty="0"/>
          </a:p>
        </p:txBody>
      </p:sp>
      <p:sp>
        <p:nvSpPr>
          <p:cNvPr id="16" name="Step card 2"/>
          <p:cNvSpPr/>
          <p:nvPr/>
        </p:nvSpPr>
        <p:spPr>
          <a:xfrm>
            <a:off x="7589520" y="3008376"/>
            <a:ext cx="4050792" cy="1097280"/>
          </a:xfrm>
          <a:prstGeom prst="roundRect">
            <a:avLst>
              <a:gd name="adj" fmla="val 10000"/>
            </a:avLst>
          </a:prstGeom>
          <a:solidFill>
            <a:schemeClr val="bg2">
              <a:alpha val="88000"/>
            </a:schemeClr>
          </a:solidFill>
          <a:ln w="9525">
            <a:solidFill>
              <a:srgbClr val="FFFFFF">
                <a:alpha val="12000"/>
              </a:srgbClr>
            </a:solidFill>
            <a:prstDash val="solid"/>
          </a:ln>
        </p:spPr>
      </p:sp>
      <p:sp>
        <p:nvSpPr>
          <p:cNvPr id="17" name="Step dot 2"/>
          <p:cNvSpPr/>
          <p:nvPr/>
        </p:nvSpPr>
        <p:spPr>
          <a:xfrm>
            <a:off x="7772400" y="3337560"/>
            <a:ext cx="438912" cy="438912"/>
          </a:xfrm>
          <a:prstGeom prst="ellipse">
            <a:avLst/>
          </a:prstGeom>
          <a:solidFill>
            <a:schemeClr val="accent1"/>
          </a:solidFill>
          <a:ln w="12700">
            <a:solidFill>
              <a:schemeClr val="accent1"/>
            </a:solidFill>
            <a:prstDash val="solid"/>
          </a:ln>
        </p:spPr>
      </p:sp>
      <p:sp>
        <p:nvSpPr>
          <p:cNvPr id="18" name="Step number 2"/>
          <p:cNvSpPr txBox="1"/>
          <p:nvPr/>
        </p:nvSpPr>
        <p:spPr>
          <a:xfrm>
            <a:off x="7772400" y="333756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9" name="Step text 2"/>
          <p:cNvSpPr txBox="1"/>
          <p:nvPr/>
        </p:nvSpPr>
        <p:spPr>
          <a:xfrm>
            <a:off x="8366760" y="3008376"/>
            <a:ext cx="3090672" cy="1097280"/>
          </a:xfrm>
          <a:prstGeom prst="rect">
            <a:avLst/>
          </a:prstGeom>
          <a:noFill/>
          <a:ln/>
        </p:spPr>
        <p:txBody>
          <a:bodyPr wrap="square" lIns="0" tIns="0" rIns="0" bIns="0" rtlCol="0" anchor="ctr"/>
          <a:lstStyle/>
          <a:p>
            <a:pPr indent="0" marL="0">
              <a:buNone/>
            </a:pPr>
            <a:r>
              <a:rPr lang="en-US" sz="1400" b="1" dirty="0">
                <a:solidFill>
                  <a:schemeClr val="accent1"/>
                </a:solidFill>
              </a:rPr>
              <a:t>Map  </a:t>
            </a:r>
            <a:pPr indent="0" marL="0">
              <a:buNone/>
            </a:pPr>
            <a:r>
              <a:rPr lang="en-US" sz="1400" dirty="0">
                <a:solidFill>
                  <a:schemeClr val="tx1"/>
                </a:solidFill>
              </a:rPr>
              <a:t>Weighted sum + ReLU: warm regions pushed the score up</a:t>
            </a:r>
            <a:endParaRPr lang="en-US" sz="1400" dirty="0"/>
          </a:p>
        </p:txBody>
      </p:sp>
      <p:sp>
        <p:nvSpPr>
          <p:cNvPr id="20" name="Step card 3"/>
          <p:cNvSpPr/>
          <p:nvPr/>
        </p:nvSpPr>
        <p:spPr>
          <a:xfrm>
            <a:off x="7589520" y="4233672"/>
            <a:ext cx="4050792" cy="1097280"/>
          </a:xfrm>
          <a:prstGeom prst="roundRect">
            <a:avLst>
              <a:gd name="adj" fmla="val 10000"/>
            </a:avLst>
          </a:prstGeom>
          <a:solidFill>
            <a:schemeClr val="bg2">
              <a:alpha val="88000"/>
            </a:schemeClr>
          </a:solidFill>
          <a:ln w="9525">
            <a:solidFill>
              <a:srgbClr val="FFFFFF">
                <a:alpha val="12000"/>
              </a:srgbClr>
            </a:solidFill>
            <a:prstDash val="solid"/>
          </a:ln>
        </p:spPr>
      </p:sp>
      <p:sp>
        <p:nvSpPr>
          <p:cNvPr id="21" name="Step dot 3"/>
          <p:cNvSpPr/>
          <p:nvPr/>
        </p:nvSpPr>
        <p:spPr>
          <a:xfrm>
            <a:off x="7772400" y="4562856"/>
            <a:ext cx="438912" cy="438912"/>
          </a:xfrm>
          <a:prstGeom prst="ellipse">
            <a:avLst/>
          </a:prstGeom>
          <a:solidFill>
            <a:schemeClr val="accent1"/>
          </a:solidFill>
          <a:ln w="12700">
            <a:solidFill>
              <a:schemeClr val="accent1"/>
            </a:solidFill>
            <a:prstDash val="solid"/>
          </a:ln>
        </p:spPr>
      </p:sp>
      <p:sp>
        <p:nvSpPr>
          <p:cNvPr id="22" name="Step number 3"/>
          <p:cNvSpPr txBox="1"/>
          <p:nvPr/>
        </p:nvSpPr>
        <p:spPr>
          <a:xfrm>
            <a:off x="7772400" y="4562856"/>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3" name="Step text 3"/>
          <p:cNvSpPr txBox="1"/>
          <p:nvPr/>
        </p:nvSpPr>
        <p:spPr>
          <a:xfrm>
            <a:off x="8366760" y="4233672"/>
            <a:ext cx="3090672" cy="1097280"/>
          </a:xfrm>
          <a:prstGeom prst="rect">
            <a:avLst/>
          </a:prstGeom>
          <a:noFill/>
          <a:ln/>
        </p:spPr>
        <p:txBody>
          <a:bodyPr wrap="square" lIns="0" tIns="0" rIns="0" bIns="0" rtlCol="0" anchor="ctr"/>
          <a:lstStyle/>
          <a:p>
            <a:pPr indent="0" marL="0">
              <a:buNone/>
            </a:pPr>
            <a:r>
              <a:rPr lang="en-US" sz="1400" b="1" dirty="0">
                <a:solidFill>
                  <a:schemeClr val="accent1"/>
                </a:solidFill>
              </a:rPr>
              <a:t>Audit  </a:t>
            </a:r>
            <a:pPr indent="0" marL="0">
              <a:buNone/>
            </a:pPr>
            <a:r>
              <a:rPr lang="en-US" sz="1400" dirty="0">
                <a:solidFill>
                  <a:schemeClr val="tx1"/>
                </a:solidFill>
              </a:rPr>
              <a:t>Central share of the map below 40% flags the prediction</a:t>
            </a:r>
            <a:endParaRPr lang="en-US" sz="1400" dirty="0"/>
          </a:p>
        </p:txBody>
      </p:sp>
      <p:sp>
        <p:nvSpPr>
          <p:cNvPr id="24" name="Audit stat"/>
          <p:cNvSpPr/>
          <p:nvPr/>
        </p:nvSpPr>
        <p:spPr>
          <a:xfrm>
            <a:off x="7589520" y="5486400"/>
            <a:ext cx="4050792" cy="731520"/>
          </a:xfrm>
          <a:prstGeom prst="roundRect">
            <a:avLst>
              <a:gd name="adj" fmla="val 15000"/>
            </a:avLst>
          </a:prstGeom>
          <a:solidFill>
            <a:schemeClr val="bg2">
              <a:alpha val="88000"/>
            </a:schemeClr>
          </a:solidFill>
          <a:ln w="9525">
            <a:solidFill>
              <a:srgbClr val="FFFFFF">
                <a:alpha val="12000"/>
              </a:srgbClr>
            </a:solidFill>
            <a:prstDash val="solid"/>
          </a:ln>
        </p:spPr>
      </p:sp>
      <p:sp>
        <p:nvSpPr>
          <p:cNvPr id="25" name="Audit stat value"/>
          <p:cNvSpPr txBox="1"/>
          <p:nvPr/>
        </p:nvSpPr>
        <p:spPr>
          <a:xfrm>
            <a:off x="7818120" y="5596128"/>
            <a:ext cx="3593592" cy="380390"/>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0 of 710 maps flagged</a:t>
            </a:r>
            <a:endParaRPr lang="en-US" sz="1800" dirty="0"/>
          </a:p>
        </p:txBody>
      </p:sp>
      <p:sp>
        <p:nvSpPr>
          <p:cNvPr id="26" name="Audit stat label"/>
          <p:cNvSpPr txBox="1"/>
          <p:nvPr/>
        </p:nvSpPr>
        <p:spPr>
          <a:xfrm>
            <a:off x="7818120" y="5910682"/>
            <a:ext cx="3593592" cy="277978"/>
          </a:xfrm>
          <a:prstGeom prst="rect">
            <a:avLst/>
          </a:prstGeom>
          <a:noFill/>
          <a:ln/>
        </p:spPr>
        <p:txBody>
          <a:bodyPr wrap="square" lIns="0" tIns="0" rIns="0" bIns="0" rtlCol="0" anchor="t"/>
          <a:lstStyle/>
          <a:p>
            <a:pPr indent="0" marL="0">
              <a:buNone/>
            </a:pPr>
            <a:endParaRPr lang="en-US" sz="13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7F9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Presenter badge"/>
          <p:cNvSpPr/>
          <p:nvPr/>
        </p:nvSpPr>
        <p:spPr>
          <a:xfrm>
            <a:off x="548640" y="384048"/>
            <a:ext cx="365760" cy="365760"/>
          </a:xfrm>
          <a:prstGeom prst="ellipse">
            <a:avLst/>
          </a:prstGeom>
          <a:solidFill>
            <a:schemeClr val="accent1"/>
          </a:solidFill>
          <a:ln w="12700">
            <a:solidFill>
              <a:schemeClr val="accent1"/>
            </a:solidFill>
            <a:prstDash val="solid"/>
          </a:ln>
        </p:spPr>
      </p:sp>
      <p:sp>
        <p:nvSpPr>
          <p:cNvPr id="3" name="Presenter initials"/>
          <p:cNvSpPr txBox="1"/>
          <p:nvPr/>
        </p:nvSpPr>
        <p:spPr>
          <a:xfrm>
            <a:off x="548640" y="384048"/>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TP</a:t>
            </a:r>
            <a:endParaRPr lang="en-US" sz="1100" dirty="0"/>
          </a:p>
        </p:txBody>
      </p:sp>
      <p:sp>
        <p:nvSpPr>
          <p:cNvPr id="4" name="Presenter line"/>
          <p:cNvSpPr txBox="1"/>
          <p:nvPr/>
        </p:nvSpPr>
        <p:spPr>
          <a:xfrm>
            <a:off x="1051560" y="384048"/>
            <a:ext cx="9601200"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TANEESHA RAJIV PRASAD</a:t>
            </a:r>
            <a:pPr indent="0" marL="0">
              <a:buNone/>
            </a:pPr>
            <a:r>
              <a:rPr lang="en-US" sz="1200" dirty="0">
                <a:solidFill>
                  <a:schemeClr val="tx2"/>
                </a:solidFill>
              </a:rPr>
              <a:t>   ·   Explainability and robustness</a:t>
            </a:r>
            <a:endParaRPr lang="en-US" sz="1200" dirty="0"/>
          </a:p>
        </p:txBody>
      </p:sp>
      <p:sp>
        <p:nvSpPr>
          <p:cNvPr id="5" name="Text 0"/>
          <p:cNvSpPr/>
          <p:nvPr>
            <p:ph idx="100" type="title" hasCustomPrompt="1"/>
          </p:nvPr>
        </p:nvSpPr>
        <p:spPr>
          <a:xfrm>
            <a:off x="548640" y="8686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Clean-data scores do not survive degraded images</a:t>
            </a:r>
            <a:endParaRPr lang="en-US" sz="3400" dirty="0"/>
          </a:p>
        </p:txBody>
      </p:sp>
      <p:sp>
        <p:nvSpPr>
          <p:cNvPr id="6" name="Robustness chart card"/>
          <p:cNvSpPr/>
          <p:nvPr/>
        </p:nvSpPr>
        <p:spPr>
          <a:xfrm>
            <a:off x="548640" y="1783080"/>
            <a:ext cx="6400800" cy="4434840"/>
          </a:xfrm>
          <a:prstGeom prst="roundRect">
            <a:avLst>
              <a:gd name="adj" fmla="val 2474"/>
            </a:avLst>
          </a:prstGeom>
          <a:solidFill>
            <a:schemeClr val="bg2">
              <a:alpha val="88000"/>
            </a:schemeClr>
          </a:solidFill>
          <a:ln w="9525">
            <a:solidFill>
              <a:srgbClr val="FFFFFF">
                <a:alpha val="12000"/>
              </a:srgbClr>
            </a:solidFill>
            <a:prstDash val="solid"/>
          </a:ln>
        </p:spPr>
      </p:sp>
      <p:graphicFrame>
        <p:nvGraphicFramePr>
          <p:cNvPr id="7" name="Chart 0" descr=""/>
          <p:cNvGraphicFramePr/>
          <p:nvPr/>
        </p:nvGraphicFramePr>
        <p:xfrm>
          <a:off x="685800" y="1874520"/>
          <a:ext cx="6126480" cy="4251960"/>
        </p:xfrm>
        <a:graphic xmlns:a="http://schemas.openxmlformats.org/drawingml/2006/main">
          <a:graphicData uri="http://schemas.openxmlformats.org/drawingml/2006/chart">
            <c:chart xmlns:c="http://schemas.openxmlformats.org/drawingml/2006/chart" r:id="rId1"/>
          </a:graphicData>
        </a:graphic>
      </p:graphicFrame>
      <p:sp>
        <p:nvSpPr>
          <p:cNvPr id="8" name="Noise stat"/>
          <p:cNvSpPr/>
          <p:nvPr/>
        </p:nvSpPr>
        <p:spPr>
          <a:xfrm>
            <a:off x="7223760" y="1783080"/>
            <a:ext cx="4416552" cy="1371600"/>
          </a:xfrm>
          <a:prstGeom prst="roundRect">
            <a:avLst>
              <a:gd name="adj" fmla="val 8000"/>
            </a:avLst>
          </a:prstGeom>
          <a:solidFill>
            <a:schemeClr val="bg2">
              <a:alpha val="88000"/>
            </a:schemeClr>
          </a:solidFill>
          <a:ln w="9525">
            <a:solidFill>
              <a:srgbClr val="FFFFFF">
                <a:alpha val="12000"/>
              </a:srgbClr>
            </a:solidFill>
            <a:prstDash val="solid"/>
          </a:ln>
        </p:spPr>
      </p:sp>
      <p:sp>
        <p:nvSpPr>
          <p:cNvPr id="9" name="Noise stat value"/>
          <p:cNvSpPr txBox="1"/>
          <p:nvPr/>
        </p:nvSpPr>
        <p:spPr>
          <a:xfrm>
            <a:off x="7452360" y="1892808"/>
            <a:ext cx="3959352" cy="713232"/>
          </a:xfrm>
          <a:prstGeom prst="rect">
            <a:avLst/>
          </a:prstGeom>
          <a:noFill/>
          <a:ln/>
        </p:spPr>
        <p:txBody>
          <a:bodyPr wrap="square" lIns="0" tIns="0" rIns="0" bIns="0" rtlCol="0" anchor="ctr"/>
          <a:lstStyle/>
          <a:p>
            <a:pPr indent="0" marL="0">
              <a:buNone/>
            </a:pPr>
            <a:r>
              <a:rPr lang="en-US" sz="3000" b="1" dirty="0">
                <a:solidFill>
                  <a:schemeClr val="accent2"/>
                </a:solidFill>
                <a:latin typeface="+mj-lt" pitchFamily="34" charset="0"/>
                <a:ea typeface="+mj-lt" pitchFamily="34" charset="-122"/>
                <a:cs typeface="+mj-lt" pitchFamily="34" charset="-120"/>
              </a:rPr>
              <a:t>0.987 → 0.648</a:t>
            </a:r>
            <a:endParaRPr lang="en-US" sz="3000" dirty="0"/>
          </a:p>
        </p:txBody>
      </p:sp>
      <p:sp>
        <p:nvSpPr>
          <p:cNvPr id="10" name="Noise stat label"/>
          <p:cNvSpPr txBox="1"/>
          <p:nvPr/>
        </p:nvSpPr>
        <p:spPr>
          <a:xfrm>
            <a:off x="7452360" y="2578608"/>
            <a:ext cx="3959352" cy="521208"/>
          </a:xfrm>
          <a:prstGeom prst="rect">
            <a:avLst/>
          </a:prstGeom>
          <a:noFill/>
          <a:ln/>
        </p:spPr>
        <p:txBody>
          <a:bodyPr wrap="square" lIns="0" tIns="0" rIns="0" bIns="0" rtlCol="0" anchor="t"/>
          <a:lstStyle/>
          <a:p>
            <a:pPr indent="0" marL="0">
              <a:buNone/>
            </a:pPr>
            <a:r>
              <a:rPr lang="en-US" sz="1300" dirty="0">
                <a:solidFill>
                  <a:schemeClr val="tx2"/>
                </a:solidFill>
              </a:rPr>
              <a:t>macro F1 with Gaussian noise σ = 0.10</a:t>
            </a:r>
            <a:endParaRPr lang="en-US" sz="1300" dirty="0"/>
          </a:p>
        </p:txBody>
      </p:sp>
      <p:sp>
        <p:nvSpPr>
          <p:cNvPr id="11" name="Recall stat"/>
          <p:cNvSpPr/>
          <p:nvPr/>
        </p:nvSpPr>
        <p:spPr>
          <a:xfrm>
            <a:off x="7223760" y="3291840"/>
            <a:ext cx="4416552" cy="1371600"/>
          </a:xfrm>
          <a:prstGeom prst="roundRect">
            <a:avLst>
              <a:gd name="adj" fmla="val 8000"/>
            </a:avLst>
          </a:prstGeom>
          <a:solidFill>
            <a:schemeClr val="bg2">
              <a:alpha val="88000"/>
            </a:schemeClr>
          </a:solidFill>
          <a:ln w="9525">
            <a:solidFill>
              <a:srgbClr val="FFFFFF">
                <a:alpha val="12000"/>
              </a:srgbClr>
            </a:solidFill>
            <a:prstDash val="solid"/>
          </a:ln>
        </p:spPr>
      </p:sp>
      <p:sp>
        <p:nvSpPr>
          <p:cNvPr id="12" name="Recall stat value"/>
          <p:cNvSpPr txBox="1"/>
          <p:nvPr/>
        </p:nvSpPr>
        <p:spPr>
          <a:xfrm>
            <a:off x="7452360" y="3401568"/>
            <a:ext cx="3959352" cy="713232"/>
          </a:xfrm>
          <a:prstGeom prst="rect">
            <a:avLst/>
          </a:prstGeom>
          <a:noFill/>
          <a:ln/>
        </p:spPr>
        <p:txBody>
          <a:bodyPr wrap="square" lIns="0" tIns="0" rIns="0" bIns="0" rtlCol="0" anchor="ctr"/>
          <a:lstStyle/>
          <a:p>
            <a:pPr indent="0" marL="0">
              <a:buNone/>
            </a:pPr>
            <a:r>
              <a:rPr lang="en-US" sz="3200" b="1" dirty="0">
                <a:solidFill>
                  <a:schemeClr val="accent4"/>
                </a:solidFill>
                <a:latin typeface="+mj-lt" pitchFamily="34" charset="0"/>
                <a:ea typeface="+mj-lt" pitchFamily="34" charset="-122"/>
                <a:cs typeface="+mj-lt" pitchFamily="34" charset="-120"/>
              </a:rPr>
              <a:t>≈ 0.89</a:t>
            </a:r>
            <a:endParaRPr lang="en-US" sz="3200" dirty="0"/>
          </a:p>
        </p:txBody>
      </p:sp>
      <p:sp>
        <p:nvSpPr>
          <p:cNvPr id="13" name="Recall stat label"/>
          <p:cNvSpPr txBox="1"/>
          <p:nvPr/>
        </p:nvSpPr>
        <p:spPr>
          <a:xfrm>
            <a:off x="7452360" y="4087368"/>
            <a:ext cx="3959352" cy="521208"/>
          </a:xfrm>
          <a:prstGeom prst="rect">
            <a:avLst/>
          </a:prstGeom>
          <a:noFill/>
          <a:ln/>
        </p:spPr>
        <p:txBody>
          <a:bodyPr wrap="square" lIns="0" tIns="0" rIns="0" bIns="0" rtlCol="0" anchor="t"/>
          <a:lstStyle/>
          <a:p>
            <a:pPr indent="0" marL="0">
              <a:buNone/>
            </a:pPr>
            <a:r>
              <a:rPr lang="en-US" sz="1300" dirty="0">
                <a:solidFill>
                  <a:schemeClr val="tx2"/>
                </a:solidFill>
              </a:rPr>
              <a:t>early-detection recall under brightness or contrast shifts: impaired read as normal</a:t>
            </a:r>
            <a:endParaRPr lang="en-US" sz="1300" dirty="0"/>
          </a:p>
        </p:txBody>
      </p:sp>
      <p:sp>
        <p:nvSpPr>
          <p:cNvPr id="14" name="Misread screenshot frame"/>
          <p:cNvSpPr/>
          <p:nvPr/>
        </p:nvSpPr>
        <p:spPr>
          <a:xfrm>
            <a:off x="7223760" y="4873752"/>
            <a:ext cx="4416552" cy="883340"/>
          </a:xfrm>
          <a:prstGeom prst="roundRect">
            <a:avLst>
              <a:gd name="adj" fmla="val 12422"/>
            </a:avLst>
          </a:prstGeom>
          <a:solidFill>
            <a:schemeClr val="bg2"/>
          </a:solidFill>
          <a:ln w="9525">
            <a:solidFill>
              <a:srgbClr val="FFFFFF">
                <a:alpha val="20000"/>
              </a:srgbClr>
            </a:solidFill>
            <a:prstDash val="solid"/>
          </a:ln>
        </p:spPr>
      </p:sp>
      <p:pic>
        <p:nvPicPr>
          <p:cNvPr id="15" name="Misread screenshot" descr="Screenshot: a true early-MCI slice predicted as normal cognition with 78 percent confidence">    </p:cNvPr>
          <p:cNvPicPr>
            <a:picLocks noChangeAspect="1"/>
          </p:cNvPicPr>
          <p:nvPr/>
        </p:nvPicPr>
        <p:blipFill>
          <a:blip r:embed="rId2"/>
          <a:stretch>
            <a:fillRect/>
          </a:stretch>
        </p:blipFill>
        <p:spPr>
          <a:xfrm>
            <a:off x="7296912" y="4946904"/>
            <a:ext cx="4270248" cy="737036"/>
          </a:xfrm>
          <a:prstGeom prst="rect">
            <a:avLst/>
          </a:prstGeom>
        </p:spPr>
      </p:pic>
      <p:sp>
        <p:nvSpPr>
          <p:cNvPr id="16" name="Misread caption"/>
          <p:cNvSpPr txBox="1"/>
          <p:nvPr/>
        </p:nvSpPr>
        <p:spPr>
          <a:xfrm>
            <a:off x="7223760" y="5897880"/>
            <a:ext cx="4416552" cy="320040"/>
          </a:xfrm>
          <a:prstGeom prst="rect">
            <a:avLst/>
          </a:prstGeom>
          <a:noFill/>
          <a:ln/>
        </p:spPr>
        <p:txBody>
          <a:bodyPr wrap="square" lIns="0" tIns="0" rIns="0" bIns="0" rtlCol="0" anchor="t"/>
          <a:lstStyle/>
          <a:p>
            <a:pPr indent="0" marL="0">
              <a:buNone/>
            </a:pPr>
            <a:r>
              <a:rPr lang="en-US" sz="1200" dirty="0">
                <a:solidFill>
                  <a:schemeClr val="tx2"/>
                </a:solidFill>
              </a:rPr>
              <a:t>A real miss from the prototype: true EMCI read as NC</a:t>
            </a:r>
            <a:endParaRPr lang="en-US" sz="12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7F9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Presenter badge"/>
          <p:cNvSpPr/>
          <p:nvPr/>
        </p:nvSpPr>
        <p:spPr>
          <a:xfrm>
            <a:off x="548640" y="384048"/>
            <a:ext cx="365760" cy="365760"/>
          </a:xfrm>
          <a:prstGeom prst="ellipse">
            <a:avLst/>
          </a:prstGeom>
          <a:solidFill>
            <a:schemeClr val="accent1"/>
          </a:solidFill>
          <a:ln w="12700">
            <a:solidFill>
              <a:schemeClr val="accent1"/>
            </a:solidFill>
            <a:prstDash val="solid"/>
          </a:ln>
        </p:spPr>
      </p:sp>
      <p:sp>
        <p:nvSpPr>
          <p:cNvPr id="3" name="Presenter initials"/>
          <p:cNvSpPr txBox="1"/>
          <p:nvPr/>
        </p:nvSpPr>
        <p:spPr>
          <a:xfrm>
            <a:off x="548640" y="384048"/>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NH</a:t>
            </a:r>
            <a:endParaRPr lang="en-US" sz="1100" dirty="0"/>
          </a:p>
        </p:txBody>
      </p:sp>
      <p:sp>
        <p:nvSpPr>
          <p:cNvPr id="4" name="Presenter line"/>
          <p:cNvSpPr txBox="1"/>
          <p:nvPr/>
        </p:nvSpPr>
        <p:spPr>
          <a:xfrm>
            <a:off x="1051560" y="384048"/>
            <a:ext cx="9601200"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NITHYASHREE HEBBAR</a:t>
            </a:r>
            <a:pPr indent="0" marL="0">
              <a:buNone/>
            </a:pPr>
            <a:r>
              <a:rPr lang="en-US" sz="1200" dirty="0">
                <a:solidFill>
                  <a:schemeClr val="tx2"/>
                </a:solidFill>
              </a:rPr>
              <a:t>   ·   The handwriting module</a:t>
            </a:r>
            <a:endParaRPr lang="en-US" sz="1200" dirty="0"/>
          </a:p>
        </p:txBody>
      </p:sp>
      <p:sp>
        <p:nvSpPr>
          <p:cNvPr id="5" name="Text 0"/>
          <p:cNvSpPr/>
          <p:nvPr>
            <p:ph idx="100" type="title" hasCustomPrompt="1"/>
          </p:nvPr>
        </p:nvSpPr>
        <p:spPr>
          <a:xfrm>
            <a:off x="548640" y="8686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Handwriting: the pen's motion, not the picture</a:t>
            </a:r>
            <a:endParaRPr lang="en-US" sz="3400" dirty="0"/>
          </a:p>
        </p:txBody>
      </p:sp>
      <p:sp>
        <p:nvSpPr>
          <p:cNvPr id="6" name="Live canvas screenshot frame"/>
          <p:cNvSpPr/>
          <p:nvPr/>
        </p:nvSpPr>
        <p:spPr>
          <a:xfrm>
            <a:off x="548640" y="1783080"/>
            <a:ext cx="4992624" cy="4157271"/>
          </a:xfrm>
          <a:prstGeom prst="roundRect">
            <a:avLst>
              <a:gd name="adj" fmla="val 2639"/>
            </a:avLst>
          </a:prstGeom>
          <a:solidFill>
            <a:schemeClr val="bg2"/>
          </a:solidFill>
          <a:ln w="9525">
            <a:solidFill>
              <a:srgbClr val="FFFFFF">
                <a:alpha val="20000"/>
              </a:srgbClr>
            </a:solidFill>
            <a:prstDash val="solid"/>
          </a:ln>
        </p:spPr>
      </p:sp>
      <p:pic>
        <p:nvPicPr>
          <p:cNvPr id="7" name="Live canvas screenshot" descr="Screenshot: a spiral drawn live on the handwriting canvas">    </p:cNvPr>
          <p:cNvPicPr>
            <a:picLocks noChangeAspect="1"/>
          </p:cNvPicPr>
          <p:nvPr/>
        </p:nvPicPr>
        <p:blipFill>
          <a:blip r:embed="rId1"/>
          <a:stretch>
            <a:fillRect/>
          </a:stretch>
        </p:blipFill>
        <p:spPr>
          <a:xfrm>
            <a:off x="621792" y="1856232"/>
            <a:ext cx="4846320" cy="4010967"/>
          </a:xfrm>
          <a:prstGeom prst="rect">
            <a:avLst/>
          </a:prstGeom>
        </p:spPr>
      </p:pic>
      <p:sp>
        <p:nvSpPr>
          <p:cNvPr id="8" name="Canvas caption"/>
          <p:cNvSpPr txBox="1"/>
          <p:nvPr/>
        </p:nvSpPr>
        <p:spPr>
          <a:xfrm>
            <a:off x="621792" y="6004359"/>
            <a:ext cx="4846320" cy="274320"/>
          </a:xfrm>
          <a:prstGeom prst="rect">
            <a:avLst/>
          </a:prstGeom>
          <a:noFill/>
          <a:ln/>
        </p:spPr>
        <p:txBody>
          <a:bodyPr wrap="square" lIns="0" tIns="0" rIns="0" bIns="0" rtlCol="0" anchor="t"/>
          <a:lstStyle/>
          <a:p>
            <a:pPr indent="0" marL="0">
              <a:buNone/>
            </a:pPr>
            <a:r>
              <a:rPr lang="en-US" sz="1200" dirty="0">
                <a:solidFill>
                  <a:schemeClr val="tx2"/>
                </a:solidFill>
              </a:rPr>
              <a:t>A live drawing: every pen point is stored with its timestamp</a:t>
            </a:r>
            <a:endParaRPr lang="en-US" sz="1200" dirty="0"/>
          </a:p>
        </p:txBody>
      </p:sp>
      <p:sp>
        <p:nvSpPr>
          <p:cNvPr id="9" name="Features label"/>
          <p:cNvSpPr txBox="1"/>
          <p:nvPr/>
        </p:nvSpPr>
        <p:spPr>
          <a:xfrm>
            <a:off x="6446520" y="1783080"/>
            <a:ext cx="512064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NINE MEASUREMENTS FROM (x, y, t)</a:t>
            </a:r>
            <a:endParaRPr lang="en-US" sz="1200" dirty="0"/>
          </a:p>
        </p:txBody>
      </p:sp>
      <p:sp>
        <p:nvSpPr>
          <p:cNvPr id="10" name="Feature card 1"/>
          <p:cNvSpPr/>
          <p:nvPr/>
        </p:nvSpPr>
        <p:spPr>
          <a:xfrm>
            <a:off x="6446520" y="2148840"/>
            <a:ext cx="1627632" cy="987552"/>
          </a:xfrm>
          <a:prstGeom prst="roundRect">
            <a:avLst>
              <a:gd name="adj" fmla="val 11111"/>
            </a:avLst>
          </a:prstGeom>
          <a:solidFill>
            <a:schemeClr val="bg2">
              <a:alpha val="88000"/>
            </a:schemeClr>
          </a:solidFill>
          <a:ln w="9525">
            <a:solidFill>
              <a:srgbClr val="FFFFFF">
                <a:alpha val="12000"/>
              </a:srgbClr>
            </a:solidFill>
            <a:prstDash val="solid"/>
          </a:ln>
        </p:spPr>
      </p:sp>
      <p:sp>
        <p:nvSpPr>
          <p:cNvPr id="11" name="Feature name 1"/>
          <p:cNvSpPr txBox="1"/>
          <p:nvPr/>
        </p:nvSpPr>
        <p:spPr>
          <a:xfrm>
            <a:off x="6556248" y="2258568"/>
            <a:ext cx="1408176" cy="457200"/>
          </a:xfrm>
          <a:prstGeom prst="rect">
            <a:avLst/>
          </a:prstGeom>
          <a:noFill/>
          <a:ln/>
        </p:spPr>
        <p:txBody>
          <a:bodyPr wrap="square" lIns="0" tIns="0" rIns="0" bIns="0" rtlCol="0" anchor="t"/>
          <a:lstStyle/>
          <a:p>
            <a:pPr indent="0" marL="0">
              <a:buNone/>
            </a:pPr>
            <a:r>
              <a:rPr lang="en-US" sz="1400" b="1" dirty="0">
                <a:solidFill>
                  <a:schemeClr val="tx1"/>
                </a:solidFill>
              </a:rPr>
              <a:t>Drawing time</a:t>
            </a:r>
            <a:endParaRPr lang="en-US" sz="1400" dirty="0"/>
          </a:p>
        </p:txBody>
      </p:sp>
      <p:sp>
        <p:nvSpPr>
          <p:cNvPr id="12" name="Feature unit 1"/>
          <p:cNvSpPr txBox="1"/>
          <p:nvPr/>
        </p:nvSpPr>
        <p:spPr>
          <a:xfrm>
            <a:off x="6556248" y="2752344"/>
            <a:ext cx="1408176" cy="274320"/>
          </a:xfrm>
          <a:prstGeom prst="rect">
            <a:avLst/>
          </a:prstGeom>
          <a:noFill/>
          <a:ln/>
        </p:spPr>
        <p:txBody>
          <a:bodyPr wrap="square" lIns="0" tIns="0" rIns="0" bIns="0" rtlCol="0" anchor="t"/>
          <a:lstStyle/>
          <a:p>
            <a:pPr indent="0" marL="0">
              <a:buNone/>
            </a:pPr>
            <a:r>
              <a:rPr lang="en-US" sz="1200" dirty="0">
                <a:solidFill>
                  <a:schemeClr val="tx2"/>
                </a:solidFill>
              </a:rPr>
              <a:t>seconds</a:t>
            </a:r>
            <a:endParaRPr lang="en-US" sz="1200" dirty="0"/>
          </a:p>
        </p:txBody>
      </p:sp>
      <p:sp>
        <p:nvSpPr>
          <p:cNvPr id="13" name="Feature card 2"/>
          <p:cNvSpPr/>
          <p:nvPr/>
        </p:nvSpPr>
        <p:spPr>
          <a:xfrm>
            <a:off x="8183880" y="2148840"/>
            <a:ext cx="1627632" cy="987552"/>
          </a:xfrm>
          <a:prstGeom prst="roundRect">
            <a:avLst>
              <a:gd name="adj" fmla="val 11111"/>
            </a:avLst>
          </a:prstGeom>
          <a:solidFill>
            <a:schemeClr val="bg2">
              <a:alpha val="88000"/>
            </a:schemeClr>
          </a:solidFill>
          <a:ln w="9525">
            <a:solidFill>
              <a:srgbClr val="FFFFFF">
                <a:alpha val="12000"/>
              </a:srgbClr>
            </a:solidFill>
            <a:prstDash val="solid"/>
          </a:ln>
        </p:spPr>
      </p:sp>
      <p:sp>
        <p:nvSpPr>
          <p:cNvPr id="14" name="Feature name 2"/>
          <p:cNvSpPr txBox="1"/>
          <p:nvPr/>
        </p:nvSpPr>
        <p:spPr>
          <a:xfrm>
            <a:off x="8293608" y="2258568"/>
            <a:ext cx="1408176" cy="457200"/>
          </a:xfrm>
          <a:prstGeom prst="rect">
            <a:avLst/>
          </a:prstGeom>
          <a:noFill/>
          <a:ln/>
        </p:spPr>
        <p:txBody>
          <a:bodyPr wrap="square" lIns="0" tIns="0" rIns="0" bIns="0" rtlCol="0" anchor="t"/>
          <a:lstStyle/>
          <a:p>
            <a:pPr indent="0" marL="0">
              <a:buNone/>
            </a:pPr>
            <a:r>
              <a:rPr lang="en-US" sz="1400" b="1" dirty="0">
                <a:solidFill>
                  <a:schemeClr val="tx1"/>
                </a:solidFill>
              </a:rPr>
              <a:t>Mean pen speed</a:t>
            </a:r>
            <a:endParaRPr lang="en-US" sz="1400" dirty="0"/>
          </a:p>
        </p:txBody>
      </p:sp>
      <p:sp>
        <p:nvSpPr>
          <p:cNvPr id="15" name="Feature unit 2"/>
          <p:cNvSpPr txBox="1"/>
          <p:nvPr/>
        </p:nvSpPr>
        <p:spPr>
          <a:xfrm>
            <a:off x="8293608" y="2752344"/>
            <a:ext cx="1408176" cy="274320"/>
          </a:xfrm>
          <a:prstGeom prst="rect">
            <a:avLst/>
          </a:prstGeom>
          <a:noFill/>
          <a:ln/>
        </p:spPr>
        <p:txBody>
          <a:bodyPr wrap="square" lIns="0" tIns="0" rIns="0" bIns="0" rtlCol="0" anchor="t"/>
          <a:lstStyle/>
          <a:p>
            <a:pPr indent="0" marL="0">
              <a:buNone/>
            </a:pPr>
            <a:r>
              <a:rPr lang="en-US" sz="1200" dirty="0">
                <a:solidFill>
                  <a:schemeClr val="tx2"/>
                </a:solidFill>
              </a:rPr>
              <a:t>path per second</a:t>
            </a:r>
            <a:endParaRPr lang="en-US" sz="1200" dirty="0"/>
          </a:p>
        </p:txBody>
      </p:sp>
      <p:sp>
        <p:nvSpPr>
          <p:cNvPr id="16" name="Feature card 3"/>
          <p:cNvSpPr/>
          <p:nvPr/>
        </p:nvSpPr>
        <p:spPr>
          <a:xfrm>
            <a:off x="9921240" y="2148840"/>
            <a:ext cx="1627632" cy="987552"/>
          </a:xfrm>
          <a:prstGeom prst="roundRect">
            <a:avLst>
              <a:gd name="adj" fmla="val 11111"/>
            </a:avLst>
          </a:prstGeom>
          <a:solidFill>
            <a:schemeClr val="bg2">
              <a:alpha val="88000"/>
            </a:schemeClr>
          </a:solidFill>
          <a:ln w="9525">
            <a:solidFill>
              <a:srgbClr val="FFFFFF">
                <a:alpha val="12000"/>
              </a:srgbClr>
            </a:solidFill>
            <a:prstDash val="solid"/>
          </a:ln>
        </p:spPr>
      </p:sp>
      <p:sp>
        <p:nvSpPr>
          <p:cNvPr id="17" name="Feature name 3"/>
          <p:cNvSpPr txBox="1"/>
          <p:nvPr/>
        </p:nvSpPr>
        <p:spPr>
          <a:xfrm>
            <a:off x="10030968" y="2258568"/>
            <a:ext cx="1408176" cy="457200"/>
          </a:xfrm>
          <a:prstGeom prst="rect">
            <a:avLst/>
          </a:prstGeom>
          <a:noFill/>
          <a:ln/>
        </p:spPr>
        <p:txBody>
          <a:bodyPr wrap="square" lIns="0" tIns="0" rIns="0" bIns="0" rtlCol="0" anchor="t"/>
          <a:lstStyle/>
          <a:p>
            <a:pPr indent="0" marL="0">
              <a:buNone/>
            </a:pPr>
            <a:r>
              <a:rPr lang="en-US" sz="1400" b="1" dirty="0">
                <a:solidFill>
                  <a:schemeClr val="tx1"/>
                </a:solidFill>
              </a:rPr>
              <a:t>Speed variability</a:t>
            </a:r>
            <a:endParaRPr lang="en-US" sz="1400" dirty="0"/>
          </a:p>
        </p:txBody>
      </p:sp>
      <p:sp>
        <p:nvSpPr>
          <p:cNvPr id="18" name="Feature unit 3"/>
          <p:cNvSpPr txBox="1"/>
          <p:nvPr/>
        </p:nvSpPr>
        <p:spPr>
          <a:xfrm>
            <a:off x="10030968" y="2752344"/>
            <a:ext cx="1408176" cy="274320"/>
          </a:xfrm>
          <a:prstGeom prst="rect">
            <a:avLst/>
          </a:prstGeom>
          <a:noFill/>
          <a:ln/>
        </p:spPr>
        <p:txBody>
          <a:bodyPr wrap="square" lIns="0" tIns="0" rIns="0" bIns="0" rtlCol="0" anchor="t"/>
          <a:lstStyle/>
          <a:p>
            <a:pPr indent="0" marL="0">
              <a:buNone/>
            </a:pPr>
            <a:r>
              <a:rPr lang="en-US" sz="1200" dirty="0">
                <a:solidFill>
                  <a:schemeClr val="tx2"/>
                </a:solidFill>
              </a:rPr>
              <a:t>stop-start motion</a:t>
            </a:r>
            <a:endParaRPr lang="en-US" sz="1200" dirty="0"/>
          </a:p>
        </p:txBody>
      </p:sp>
      <p:sp>
        <p:nvSpPr>
          <p:cNvPr id="19" name="Feature card 4"/>
          <p:cNvSpPr/>
          <p:nvPr/>
        </p:nvSpPr>
        <p:spPr>
          <a:xfrm>
            <a:off x="6446520" y="3246120"/>
            <a:ext cx="1627632" cy="987552"/>
          </a:xfrm>
          <a:prstGeom prst="roundRect">
            <a:avLst>
              <a:gd name="adj" fmla="val 11111"/>
            </a:avLst>
          </a:prstGeom>
          <a:solidFill>
            <a:schemeClr val="bg2">
              <a:alpha val="88000"/>
            </a:schemeClr>
          </a:solidFill>
          <a:ln w="9525">
            <a:solidFill>
              <a:srgbClr val="FFFFFF">
                <a:alpha val="12000"/>
              </a:srgbClr>
            </a:solidFill>
            <a:prstDash val="solid"/>
          </a:ln>
        </p:spPr>
      </p:sp>
      <p:sp>
        <p:nvSpPr>
          <p:cNvPr id="20" name="Feature name 4"/>
          <p:cNvSpPr txBox="1"/>
          <p:nvPr/>
        </p:nvSpPr>
        <p:spPr>
          <a:xfrm>
            <a:off x="6556248" y="3355848"/>
            <a:ext cx="1408176" cy="457200"/>
          </a:xfrm>
          <a:prstGeom prst="rect">
            <a:avLst/>
          </a:prstGeom>
          <a:noFill/>
          <a:ln/>
        </p:spPr>
        <p:txBody>
          <a:bodyPr wrap="square" lIns="0" tIns="0" rIns="0" bIns="0" rtlCol="0" anchor="t"/>
          <a:lstStyle/>
          <a:p>
            <a:pPr indent="0" marL="0">
              <a:buNone/>
            </a:pPr>
            <a:r>
              <a:rPr lang="en-US" sz="1400" b="1" dirty="0">
                <a:solidFill>
                  <a:schemeClr val="tx1"/>
                </a:solidFill>
              </a:rPr>
              <a:t>Stalled time</a:t>
            </a:r>
            <a:endParaRPr lang="en-US" sz="1400" dirty="0"/>
          </a:p>
        </p:txBody>
      </p:sp>
      <p:sp>
        <p:nvSpPr>
          <p:cNvPr id="21" name="Feature unit 4"/>
          <p:cNvSpPr txBox="1"/>
          <p:nvPr/>
        </p:nvSpPr>
        <p:spPr>
          <a:xfrm>
            <a:off x="6556248" y="3849624"/>
            <a:ext cx="1408176" cy="274320"/>
          </a:xfrm>
          <a:prstGeom prst="rect">
            <a:avLst/>
          </a:prstGeom>
          <a:noFill/>
          <a:ln/>
        </p:spPr>
        <p:txBody>
          <a:bodyPr wrap="square" lIns="0" tIns="0" rIns="0" bIns="0" rtlCol="0" anchor="t"/>
          <a:lstStyle/>
          <a:p>
            <a:pPr indent="0" marL="0">
              <a:buNone/>
            </a:pPr>
            <a:r>
              <a:rPr lang="en-US" sz="1200" dirty="0">
                <a:solidFill>
                  <a:schemeClr val="tx2"/>
                </a:solidFill>
              </a:rPr>
              <a:t>hesitation</a:t>
            </a:r>
            <a:endParaRPr lang="en-US" sz="1200" dirty="0"/>
          </a:p>
        </p:txBody>
      </p:sp>
      <p:sp>
        <p:nvSpPr>
          <p:cNvPr id="22" name="Feature card 5"/>
          <p:cNvSpPr/>
          <p:nvPr/>
        </p:nvSpPr>
        <p:spPr>
          <a:xfrm>
            <a:off x="8183880" y="3246120"/>
            <a:ext cx="1627632" cy="987552"/>
          </a:xfrm>
          <a:prstGeom prst="roundRect">
            <a:avLst>
              <a:gd name="adj" fmla="val 11111"/>
            </a:avLst>
          </a:prstGeom>
          <a:solidFill>
            <a:schemeClr val="bg2">
              <a:alpha val="88000"/>
            </a:schemeClr>
          </a:solidFill>
          <a:ln w="9525">
            <a:solidFill>
              <a:srgbClr val="FFFFFF">
                <a:alpha val="12000"/>
              </a:srgbClr>
            </a:solidFill>
            <a:prstDash val="solid"/>
          </a:ln>
        </p:spPr>
      </p:sp>
      <p:sp>
        <p:nvSpPr>
          <p:cNvPr id="23" name="Feature name 5"/>
          <p:cNvSpPr txBox="1"/>
          <p:nvPr/>
        </p:nvSpPr>
        <p:spPr>
          <a:xfrm>
            <a:off x="8293608" y="3355848"/>
            <a:ext cx="1408176" cy="457200"/>
          </a:xfrm>
          <a:prstGeom prst="rect">
            <a:avLst/>
          </a:prstGeom>
          <a:noFill/>
          <a:ln/>
        </p:spPr>
        <p:txBody>
          <a:bodyPr wrap="square" lIns="0" tIns="0" rIns="0" bIns="0" rtlCol="0" anchor="t"/>
          <a:lstStyle/>
          <a:p>
            <a:pPr indent="0" marL="0">
              <a:buNone/>
            </a:pPr>
            <a:r>
              <a:rPr lang="en-US" sz="1400" b="1" dirty="0">
                <a:solidFill>
                  <a:schemeClr val="tx1"/>
                </a:solidFill>
              </a:rPr>
              <a:t>Pen-up time</a:t>
            </a:r>
            <a:endParaRPr lang="en-US" sz="1400" dirty="0"/>
          </a:p>
        </p:txBody>
      </p:sp>
      <p:sp>
        <p:nvSpPr>
          <p:cNvPr id="24" name="Feature unit 5"/>
          <p:cNvSpPr txBox="1"/>
          <p:nvPr/>
        </p:nvSpPr>
        <p:spPr>
          <a:xfrm>
            <a:off x="8293608" y="3849624"/>
            <a:ext cx="1408176" cy="274320"/>
          </a:xfrm>
          <a:prstGeom prst="rect">
            <a:avLst/>
          </a:prstGeom>
          <a:noFill/>
          <a:ln/>
        </p:spPr>
        <p:txBody>
          <a:bodyPr wrap="square" lIns="0" tIns="0" rIns="0" bIns="0" rtlCol="0" anchor="t"/>
          <a:lstStyle/>
          <a:p>
            <a:pPr indent="0" marL="0">
              <a:buNone/>
            </a:pPr>
            <a:r>
              <a:rPr lang="en-US" sz="1200" dirty="0">
                <a:solidFill>
                  <a:schemeClr val="tx2"/>
                </a:solidFill>
              </a:rPr>
              <a:t>pen lifted</a:t>
            </a:r>
            <a:endParaRPr lang="en-US" sz="1200" dirty="0"/>
          </a:p>
        </p:txBody>
      </p:sp>
      <p:sp>
        <p:nvSpPr>
          <p:cNvPr id="25" name="Feature card 6"/>
          <p:cNvSpPr/>
          <p:nvPr/>
        </p:nvSpPr>
        <p:spPr>
          <a:xfrm>
            <a:off x="9921240" y="3246120"/>
            <a:ext cx="1627632" cy="987552"/>
          </a:xfrm>
          <a:prstGeom prst="roundRect">
            <a:avLst>
              <a:gd name="adj" fmla="val 11111"/>
            </a:avLst>
          </a:prstGeom>
          <a:solidFill>
            <a:schemeClr val="bg2">
              <a:alpha val="88000"/>
            </a:schemeClr>
          </a:solidFill>
          <a:ln w="9525">
            <a:solidFill>
              <a:srgbClr val="FFFFFF">
                <a:alpha val="12000"/>
              </a:srgbClr>
            </a:solidFill>
            <a:prstDash val="solid"/>
          </a:ln>
        </p:spPr>
      </p:sp>
      <p:sp>
        <p:nvSpPr>
          <p:cNvPr id="26" name="Feature name 6"/>
          <p:cNvSpPr txBox="1"/>
          <p:nvPr/>
        </p:nvSpPr>
        <p:spPr>
          <a:xfrm>
            <a:off x="10030968" y="3355848"/>
            <a:ext cx="1408176" cy="457200"/>
          </a:xfrm>
          <a:prstGeom prst="rect">
            <a:avLst/>
          </a:prstGeom>
          <a:noFill/>
          <a:ln/>
        </p:spPr>
        <p:txBody>
          <a:bodyPr wrap="square" lIns="0" tIns="0" rIns="0" bIns="0" rtlCol="0" anchor="t"/>
          <a:lstStyle/>
          <a:p>
            <a:pPr indent="0" marL="0">
              <a:buNone/>
            </a:pPr>
            <a:r>
              <a:rPr lang="en-US" sz="1400" b="1" dirty="0">
                <a:solidFill>
                  <a:schemeClr val="tx1"/>
                </a:solidFill>
              </a:rPr>
              <a:t>Speed peaks</a:t>
            </a:r>
            <a:endParaRPr lang="en-US" sz="1400" dirty="0"/>
          </a:p>
        </p:txBody>
      </p:sp>
      <p:sp>
        <p:nvSpPr>
          <p:cNvPr id="27" name="Feature unit 6"/>
          <p:cNvSpPr txBox="1"/>
          <p:nvPr/>
        </p:nvSpPr>
        <p:spPr>
          <a:xfrm>
            <a:off x="10030968" y="3849624"/>
            <a:ext cx="1408176" cy="274320"/>
          </a:xfrm>
          <a:prstGeom prst="rect">
            <a:avLst/>
          </a:prstGeom>
          <a:noFill/>
          <a:ln/>
        </p:spPr>
        <p:txBody>
          <a:bodyPr wrap="square" lIns="0" tIns="0" rIns="0" bIns="0" rtlCol="0" anchor="t"/>
          <a:lstStyle/>
          <a:p>
            <a:pPr indent="0" marL="0">
              <a:buNone/>
            </a:pPr>
            <a:r>
              <a:rPr lang="en-US" sz="1200" dirty="0">
                <a:solidFill>
                  <a:schemeClr val="tx2"/>
                </a:solidFill>
              </a:rPr>
              <a:t>fluency</a:t>
            </a:r>
            <a:endParaRPr lang="en-US" sz="1200" dirty="0"/>
          </a:p>
        </p:txBody>
      </p:sp>
      <p:sp>
        <p:nvSpPr>
          <p:cNvPr id="28" name="Feature card 7"/>
          <p:cNvSpPr/>
          <p:nvPr/>
        </p:nvSpPr>
        <p:spPr>
          <a:xfrm>
            <a:off x="6446520" y="4343400"/>
            <a:ext cx="1627632" cy="987552"/>
          </a:xfrm>
          <a:prstGeom prst="roundRect">
            <a:avLst>
              <a:gd name="adj" fmla="val 11111"/>
            </a:avLst>
          </a:prstGeom>
          <a:solidFill>
            <a:schemeClr val="bg2">
              <a:alpha val="88000"/>
            </a:schemeClr>
          </a:solidFill>
          <a:ln w="9525">
            <a:solidFill>
              <a:srgbClr val="FFFFFF">
                <a:alpha val="12000"/>
              </a:srgbClr>
            </a:solidFill>
            <a:prstDash val="solid"/>
          </a:ln>
        </p:spPr>
      </p:sp>
      <p:sp>
        <p:nvSpPr>
          <p:cNvPr id="29" name="Feature name 7"/>
          <p:cNvSpPr txBox="1"/>
          <p:nvPr/>
        </p:nvSpPr>
        <p:spPr>
          <a:xfrm>
            <a:off x="6556248" y="4453128"/>
            <a:ext cx="1408176" cy="457200"/>
          </a:xfrm>
          <a:prstGeom prst="rect">
            <a:avLst/>
          </a:prstGeom>
          <a:noFill/>
          <a:ln/>
        </p:spPr>
        <p:txBody>
          <a:bodyPr wrap="square" lIns="0" tIns="0" rIns="0" bIns="0" rtlCol="0" anchor="t"/>
          <a:lstStyle/>
          <a:p>
            <a:pPr indent="0" marL="0">
              <a:buNone/>
            </a:pPr>
            <a:r>
              <a:rPr lang="en-US" sz="1400" b="1" dirty="0">
                <a:solidFill>
                  <a:schemeClr val="tx1"/>
                </a:solidFill>
              </a:rPr>
              <a:t>Tremor</a:t>
            </a:r>
            <a:endParaRPr lang="en-US" sz="1400" dirty="0"/>
          </a:p>
        </p:txBody>
      </p:sp>
      <p:sp>
        <p:nvSpPr>
          <p:cNvPr id="30" name="Feature unit 7"/>
          <p:cNvSpPr txBox="1"/>
          <p:nvPr/>
        </p:nvSpPr>
        <p:spPr>
          <a:xfrm>
            <a:off x="6556248" y="4946904"/>
            <a:ext cx="1408176" cy="274320"/>
          </a:xfrm>
          <a:prstGeom prst="rect">
            <a:avLst/>
          </a:prstGeom>
          <a:noFill/>
          <a:ln/>
        </p:spPr>
        <p:txBody>
          <a:bodyPr wrap="square" lIns="0" tIns="0" rIns="0" bIns="0" rtlCol="0" anchor="t"/>
          <a:lstStyle/>
          <a:p>
            <a:pPr indent="0" marL="0">
              <a:buNone/>
            </a:pPr>
            <a:r>
              <a:rPr lang="en-US" sz="1200" dirty="0">
                <a:solidFill>
                  <a:schemeClr val="tx2"/>
                </a:solidFill>
              </a:rPr>
              <a:t>4–12 Hz wobble</a:t>
            </a:r>
            <a:endParaRPr lang="en-US" sz="1200" dirty="0"/>
          </a:p>
        </p:txBody>
      </p:sp>
      <p:sp>
        <p:nvSpPr>
          <p:cNvPr id="31" name="Feature card 8"/>
          <p:cNvSpPr/>
          <p:nvPr/>
        </p:nvSpPr>
        <p:spPr>
          <a:xfrm>
            <a:off x="8183880" y="4343400"/>
            <a:ext cx="1627632" cy="987552"/>
          </a:xfrm>
          <a:prstGeom prst="roundRect">
            <a:avLst>
              <a:gd name="adj" fmla="val 11111"/>
            </a:avLst>
          </a:prstGeom>
          <a:solidFill>
            <a:schemeClr val="bg2">
              <a:alpha val="88000"/>
            </a:schemeClr>
          </a:solidFill>
          <a:ln w="9525">
            <a:solidFill>
              <a:srgbClr val="FFFFFF">
                <a:alpha val="12000"/>
              </a:srgbClr>
            </a:solidFill>
            <a:prstDash val="solid"/>
          </a:ln>
        </p:spPr>
      </p:sp>
      <p:sp>
        <p:nvSpPr>
          <p:cNvPr id="32" name="Feature name 8"/>
          <p:cNvSpPr txBox="1"/>
          <p:nvPr/>
        </p:nvSpPr>
        <p:spPr>
          <a:xfrm>
            <a:off x="8293608" y="4453128"/>
            <a:ext cx="1408176" cy="457200"/>
          </a:xfrm>
          <a:prstGeom prst="rect">
            <a:avLst/>
          </a:prstGeom>
          <a:noFill/>
          <a:ln/>
        </p:spPr>
        <p:txBody>
          <a:bodyPr wrap="square" lIns="0" tIns="0" rIns="0" bIns="0" rtlCol="0" anchor="t"/>
          <a:lstStyle/>
          <a:p>
            <a:pPr indent="0" marL="0">
              <a:buNone/>
            </a:pPr>
            <a:r>
              <a:rPr lang="en-US" sz="1400" b="1" dirty="0">
                <a:solidFill>
                  <a:schemeClr val="tx1"/>
                </a:solidFill>
              </a:rPr>
              <a:t>Spiral irregularity</a:t>
            </a:r>
            <a:endParaRPr lang="en-US" sz="1400" dirty="0"/>
          </a:p>
        </p:txBody>
      </p:sp>
      <p:sp>
        <p:nvSpPr>
          <p:cNvPr id="33" name="Feature unit 8"/>
          <p:cNvSpPr txBox="1"/>
          <p:nvPr/>
        </p:nvSpPr>
        <p:spPr>
          <a:xfrm>
            <a:off x="8293608" y="4946904"/>
            <a:ext cx="1408176" cy="274320"/>
          </a:xfrm>
          <a:prstGeom prst="rect">
            <a:avLst/>
          </a:prstGeom>
          <a:noFill/>
          <a:ln/>
        </p:spPr>
        <p:txBody>
          <a:bodyPr wrap="square" lIns="0" tIns="0" rIns="0" bIns="0" rtlCol="0" anchor="t"/>
          <a:lstStyle/>
          <a:p>
            <a:pPr indent="0" marL="0">
              <a:buNone/>
            </a:pPr>
            <a:r>
              <a:rPr lang="en-US" sz="1200" dirty="0">
                <a:solidFill>
                  <a:schemeClr val="tx2"/>
                </a:solidFill>
              </a:rPr>
              <a:t>radial residual</a:t>
            </a:r>
            <a:endParaRPr lang="en-US" sz="1200" dirty="0"/>
          </a:p>
        </p:txBody>
      </p:sp>
      <p:sp>
        <p:nvSpPr>
          <p:cNvPr id="34" name="Feature card 9"/>
          <p:cNvSpPr/>
          <p:nvPr/>
        </p:nvSpPr>
        <p:spPr>
          <a:xfrm>
            <a:off x="9921240" y="4343400"/>
            <a:ext cx="1627632" cy="987552"/>
          </a:xfrm>
          <a:prstGeom prst="roundRect">
            <a:avLst>
              <a:gd name="adj" fmla="val 11111"/>
            </a:avLst>
          </a:prstGeom>
          <a:solidFill>
            <a:schemeClr val="bg2">
              <a:alpha val="88000"/>
            </a:schemeClr>
          </a:solidFill>
          <a:ln w="9525">
            <a:solidFill>
              <a:srgbClr val="FFFFFF">
                <a:alpha val="12000"/>
              </a:srgbClr>
            </a:solidFill>
            <a:prstDash val="solid"/>
          </a:ln>
        </p:spPr>
      </p:sp>
      <p:sp>
        <p:nvSpPr>
          <p:cNvPr id="35" name="Feature name 9"/>
          <p:cNvSpPr txBox="1"/>
          <p:nvPr/>
        </p:nvSpPr>
        <p:spPr>
          <a:xfrm>
            <a:off x="10030968" y="4453128"/>
            <a:ext cx="1408176" cy="457200"/>
          </a:xfrm>
          <a:prstGeom prst="rect">
            <a:avLst/>
          </a:prstGeom>
          <a:noFill/>
          <a:ln/>
        </p:spPr>
        <p:txBody>
          <a:bodyPr wrap="square" lIns="0" tIns="0" rIns="0" bIns="0" rtlCol="0" anchor="t"/>
          <a:lstStyle/>
          <a:p>
            <a:pPr indent="0" marL="0">
              <a:buNone/>
            </a:pPr>
            <a:r>
              <a:rPr lang="en-US" sz="1400" b="1" dirty="0">
                <a:solidFill>
                  <a:schemeClr val="tx1"/>
                </a:solidFill>
              </a:rPr>
              <a:t>Drawing size</a:t>
            </a:r>
            <a:endParaRPr lang="en-US" sz="1400" dirty="0"/>
          </a:p>
        </p:txBody>
      </p:sp>
      <p:sp>
        <p:nvSpPr>
          <p:cNvPr id="36" name="Feature unit 9"/>
          <p:cNvSpPr txBox="1"/>
          <p:nvPr/>
        </p:nvSpPr>
        <p:spPr>
          <a:xfrm>
            <a:off x="10030968" y="4946904"/>
            <a:ext cx="1408176" cy="274320"/>
          </a:xfrm>
          <a:prstGeom prst="rect">
            <a:avLst/>
          </a:prstGeom>
          <a:noFill/>
          <a:ln/>
        </p:spPr>
        <p:txBody>
          <a:bodyPr wrap="square" lIns="0" tIns="0" rIns="0" bIns="0" rtlCol="0" anchor="t"/>
          <a:lstStyle/>
          <a:p>
            <a:pPr indent="0" marL="0">
              <a:buNone/>
            </a:pPr>
            <a:r>
              <a:rPr lang="en-US" sz="1200" dirty="0">
                <a:solidFill>
                  <a:schemeClr val="tx2"/>
                </a:solidFill>
              </a:rPr>
              <a:t>micrographia</a:t>
            </a:r>
            <a:endParaRPr lang="en-US" sz="1200" dirty="0"/>
          </a:p>
        </p:txBody>
      </p:sp>
      <p:sp>
        <p:nvSpPr>
          <p:cNvPr id="37" name="Scale note"/>
          <p:cNvSpPr/>
          <p:nvPr/>
        </p:nvSpPr>
        <p:spPr>
          <a:xfrm>
            <a:off x="6446520" y="5486400"/>
            <a:ext cx="5193792" cy="731520"/>
          </a:xfrm>
          <a:prstGeom prst="roundRect">
            <a:avLst>
              <a:gd name="adj" fmla="val 15000"/>
            </a:avLst>
          </a:prstGeom>
          <a:solidFill>
            <a:schemeClr val="bg2">
              <a:alpha val="88000"/>
            </a:schemeClr>
          </a:solidFill>
          <a:ln w="9525">
            <a:solidFill>
              <a:srgbClr val="FFFFFF">
                <a:alpha val="12000"/>
              </a:srgbClr>
            </a:solidFill>
            <a:prstDash val="solid"/>
          </a:ln>
        </p:spPr>
      </p:sp>
      <p:sp>
        <p:nvSpPr>
          <p:cNvPr id="38" name="Scale note text"/>
          <p:cNvSpPr txBox="1"/>
          <p:nvPr/>
        </p:nvSpPr>
        <p:spPr>
          <a:xfrm>
            <a:off x="6629400" y="5486400"/>
            <a:ext cx="4846320" cy="731520"/>
          </a:xfrm>
          <a:prstGeom prst="rect">
            <a:avLst/>
          </a:prstGeom>
          <a:noFill/>
          <a:ln/>
        </p:spPr>
        <p:txBody>
          <a:bodyPr wrap="square" lIns="0" tIns="0" rIns="0" bIns="0" rtlCol="0" anchor="ctr"/>
          <a:lstStyle/>
          <a:p>
            <a:pPr indent="0" marL="0">
              <a:buNone/>
            </a:pPr>
            <a:r>
              <a:rPr lang="en-US" sz="1300" dirty="0">
                <a:solidFill>
                  <a:schemeClr val="tx1"/>
                </a:solidFill>
              </a:rPr>
              <a:t>Lengths are relative to the canvas diagonal, so screen size does not matter. A mouse or finger gives no pressure.</a:t>
            </a:r>
            <a:endParaRPr lang="en-US" sz="13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7F9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Presenter badge"/>
          <p:cNvSpPr/>
          <p:nvPr/>
        </p:nvSpPr>
        <p:spPr>
          <a:xfrm>
            <a:off x="548640" y="384048"/>
            <a:ext cx="365760" cy="365760"/>
          </a:xfrm>
          <a:prstGeom prst="ellipse">
            <a:avLst/>
          </a:prstGeom>
          <a:solidFill>
            <a:schemeClr val="accent1"/>
          </a:solidFill>
          <a:ln w="12700">
            <a:solidFill>
              <a:schemeClr val="accent1"/>
            </a:solidFill>
            <a:prstDash val="solid"/>
          </a:ln>
        </p:spPr>
      </p:sp>
      <p:sp>
        <p:nvSpPr>
          <p:cNvPr id="3" name="Presenter initials"/>
          <p:cNvSpPr txBox="1"/>
          <p:nvPr/>
        </p:nvSpPr>
        <p:spPr>
          <a:xfrm>
            <a:off x="548640" y="384048"/>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NH</a:t>
            </a:r>
            <a:endParaRPr lang="en-US" sz="1100" dirty="0"/>
          </a:p>
        </p:txBody>
      </p:sp>
      <p:sp>
        <p:nvSpPr>
          <p:cNvPr id="4" name="Presenter line"/>
          <p:cNvSpPr txBox="1"/>
          <p:nvPr/>
        </p:nvSpPr>
        <p:spPr>
          <a:xfrm>
            <a:off x="1051560" y="384048"/>
            <a:ext cx="9601200"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NITHYASHREE HEBBAR</a:t>
            </a:r>
            <a:pPr indent="0" marL="0">
              <a:buNone/>
            </a:pPr>
            <a:r>
              <a:rPr lang="en-US" sz="1200" dirty="0">
                <a:solidFill>
                  <a:schemeClr val="tx2"/>
                </a:solidFill>
              </a:rPr>
              <a:t>   ·   The handwriting module</a:t>
            </a:r>
            <a:endParaRPr lang="en-US" sz="1200" dirty="0"/>
          </a:p>
        </p:txBody>
      </p:sp>
      <p:sp>
        <p:nvSpPr>
          <p:cNvPr id="5" name="Text 0"/>
          <p:cNvSpPr/>
          <p:nvPr>
            <p:ph idx="100" type="title" hasCustomPrompt="1"/>
          </p:nvPr>
        </p:nvSpPr>
        <p:spPr>
          <a:xfrm>
            <a:off x="548640" y="8686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An interpretable score, with one big caveat</a:t>
            </a:r>
            <a:endParaRPr lang="en-US" sz="3400" dirty="0"/>
          </a:p>
        </p:txBody>
      </p:sp>
      <p:sp>
        <p:nvSpPr>
          <p:cNvPr id="6" name="Speed trace screenshot frame"/>
          <p:cNvSpPr/>
          <p:nvPr/>
        </p:nvSpPr>
        <p:spPr>
          <a:xfrm>
            <a:off x="548640" y="1783080"/>
            <a:ext cx="3161270" cy="4261104"/>
          </a:xfrm>
          <a:prstGeom prst="roundRect">
            <a:avLst>
              <a:gd name="adj" fmla="val 3471"/>
            </a:avLst>
          </a:prstGeom>
          <a:solidFill>
            <a:schemeClr val="bg2"/>
          </a:solidFill>
          <a:ln w="9525">
            <a:solidFill>
              <a:srgbClr val="FFFFFF">
                <a:alpha val="20000"/>
              </a:srgbClr>
            </a:solidFill>
            <a:prstDash val="solid"/>
          </a:ln>
        </p:spPr>
      </p:sp>
      <p:pic>
        <p:nvPicPr>
          <p:cNvPr id="7" name="Speed trace screenshot" descr="Screenshot: the drawing coloured by pen speed">    </p:cNvPr>
          <p:cNvPicPr>
            <a:picLocks noChangeAspect="1"/>
          </p:cNvPicPr>
          <p:nvPr/>
        </p:nvPicPr>
        <p:blipFill>
          <a:blip r:embed="rId1"/>
          <a:stretch>
            <a:fillRect/>
          </a:stretch>
        </p:blipFill>
        <p:spPr>
          <a:xfrm>
            <a:off x="621792" y="1856232"/>
            <a:ext cx="3014966" cy="4114800"/>
          </a:xfrm>
          <a:prstGeom prst="rect">
            <a:avLst/>
          </a:prstGeom>
        </p:spPr>
      </p:pic>
      <p:sp>
        <p:nvSpPr>
          <p:cNvPr id="8" name="Feature contributions screenshot frame"/>
          <p:cNvSpPr/>
          <p:nvPr/>
        </p:nvSpPr>
        <p:spPr>
          <a:xfrm>
            <a:off x="3837926" y="1783080"/>
            <a:ext cx="3161270" cy="4261104"/>
          </a:xfrm>
          <a:prstGeom prst="roundRect">
            <a:avLst>
              <a:gd name="adj" fmla="val 3471"/>
            </a:avLst>
          </a:prstGeom>
          <a:solidFill>
            <a:schemeClr val="bg2"/>
          </a:solidFill>
          <a:ln w="9525">
            <a:solidFill>
              <a:srgbClr val="FFFFFF">
                <a:alpha val="20000"/>
              </a:srgbClr>
            </a:solidFill>
            <a:prstDash val="solid"/>
          </a:ln>
        </p:spPr>
      </p:sp>
      <p:pic>
        <p:nvPicPr>
          <p:cNvPr id="9" name="Feature contributions screenshot" descr="Screenshot: bar chart of each feature's contribution to the score">    </p:cNvPr>
          <p:cNvPicPr>
            <a:picLocks noChangeAspect="1"/>
          </p:cNvPicPr>
          <p:nvPr/>
        </p:nvPicPr>
        <p:blipFill>
          <a:blip r:embed="rId2"/>
          <a:stretch>
            <a:fillRect/>
          </a:stretch>
        </p:blipFill>
        <p:spPr>
          <a:xfrm>
            <a:off x="3911078" y="1856232"/>
            <a:ext cx="3014966" cy="4114800"/>
          </a:xfrm>
          <a:prstGeom prst="rect">
            <a:avLst/>
          </a:prstGeom>
        </p:spPr>
      </p:pic>
      <p:sp>
        <p:nvSpPr>
          <p:cNvPr id="10" name="AUC stat"/>
          <p:cNvSpPr/>
          <p:nvPr/>
        </p:nvSpPr>
        <p:spPr>
          <a:xfrm>
            <a:off x="7086600" y="1783080"/>
            <a:ext cx="2194560" cy="1325880"/>
          </a:xfrm>
          <a:prstGeom prst="roundRect">
            <a:avLst>
              <a:gd name="adj" fmla="val 8276"/>
            </a:avLst>
          </a:prstGeom>
          <a:solidFill>
            <a:schemeClr val="bg2">
              <a:alpha val="88000"/>
            </a:schemeClr>
          </a:solidFill>
          <a:ln w="9525">
            <a:solidFill>
              <a:srgbClr val="FFFFFF">
                <a:alpha val="12000"/>
              </a:srgbClr>
            </a:solidFill>
            <a:prstDash val="solid"/>
          </a:ln>
        </p:spPr>
      </p:sp>
      <p:sp>
        <p:nvSpPr>
          <p:cNvPr id="11" name="AUC stat value"/>
          <p:cNvSpPr txBox="1"/>
          <p:nvPr/>
        </p:nvSpPr>
        <p:spPr>
          <a:xfrm>
            <a:off x="7315200" y="1892808"/>
            <a:ext cx="1737360" cy="689458"/>
          </a:xfrm>
          <a:prstGeom prst="rect">
            <a:avLst/>
          </a:prstGeom>
          <a:noFill/>
          <a:ln/>
        </p:spPr>
        <p:txBody>
          <a:bodyPr wrap="square" lIns="0" tIns="0" rIns="0" bIns="0" rtlCol="0" anchor="ctr"/>
          <a:lstStyle/>
          <a:p>
            <a:pPr indent="0" marL="0">
              <a:buNone/>
            </a:pPr>
            <a:r>
              <a:rPr lang="en-US" sz="3400" b="1" dirty="0">
                <a:solidFill>
                  <a:schemeClr val="accent1"/>
                </a:solidFill>
                <a:latin typeface="+mj-lt" pitchFamily="34" charset="0"/>
                <a:ea typeface="+mj-lt" pitchFamily="34" charset="-122"/>
                <a:cs typeface="+mj-lt" pitchFamily="34" charset="-120"/>
              </a:rPr>
              <a:t>0.962</a:t>
            </a:r>
            <a:endParaRPr lang="en-US" sz="3400" dirty="0"/>
          </a:p>
        </p:txBody>
      </p:sp>
      <p:sp>
        <p:nvSpPr>
          <p:cNvPr id="12" name="AUC stat label"/>
          <p:cNvSpPr txBox="1"/>
          <p:nvPr/>
        </p:nvSpPr>
        <p:spPr>
          <a:xfrm>
            <a:off x="7315200" y="2552090"/>
            <a:ext cx="1737360" cy="503834"/>
          </a:xfrm>
          <a:prstGeom prst="rect">
            <a:avLst/>
          </a:prstGeom>
          <a:noFill/>
          <a:ln/>
        </p:spPr>
        <p:txBody>
          <a:bodyPr wrap="square" lIns="0" tIns="0" rIns="0" bIns="0" rtlCol="0" anchor="t"/>
          <a:lstStyle/>
          <a:p>
            <a:pPr indent="0" marL="0">
              <a:buNone/>
            </a:pPr>
            <a:r>
              <a:rPr lang="en-US" sz="1300" dirty="0">
                <a:solidFill>
                  <a:schemeClr val="tx2"/>
                </a:solidFill>
              </a:rPr>
              <a:t>AUC · 600 held-out drawings</a:t>
            </a:r>
            <a:endParaRPr lang="en-US" sz="1300" dirty="0"/>
          </a:p>
        </p:txBody>
      </p:sp>
      <p:sp>
        <p:nvSpPr>
          <p:cNvPr id="13" name="Accuracy stat"/>
          <p:cNvSpPr/>
          <p:nvPr/>
        </p:nvSpPr>
        <p:spPr>
          <a:xfrm>
            <a:off x="9445752" y="1783080"/>
            <a:ext cx="2194560" cy="1325880"/>
          </a:xfrm>
          <a:prstGeom prst="roundRect">
            <a:avLst>
              <a:gd name="adj" fmla="val 8276"/>
            </a:avLst>
          </a:prstGeom>
          <a:solidFill>
            <a:schemeClr val="bg2">
              <a:alpha val="88000"/>
            </a:schemeClr>
          </a:solidFill>
          <a:ln w="9525">
            <a:solidFill>
              <a:srgbClr val="FFFFFF">
                <a:alpha val="12000"/>
              </a:srgbClr>
            </a:solidFill>
            <a:prstDash val="solid"/>
          </a:ln>
        </p:spPr>
      </p:sp>
      <p:sp>
        <p:nvSpPr>
          <p:cNvPr id="14" name="Accuracy stat value"/>
          <p:cNvSpPr txBox="1"/>
          <p:nvPr/>
        </p:nvSpPr>
        <p:spPr>
          <a:xfrm>
            <a:off x="9674352" y="1892808"/>
            <a:ext cx="1737360" cy="689458"/>
          </a:xfrm>
          <a:prstGeom prst="rect">
            <a:avLst/>
          </a:prstGeom>
          <a:noFill/>
          <a:ln/>
        </p:spPr>
        <p:txBody>
          <a:bodyPr wrap="square" lIns="0" tIns="0" rIns="0" bIns="0" rtlCol="0" anchor="ctr"/>
          <a:lstStyle/>
          <a:p>
            <a:pPr indent="0" marL="0">
              <a:buNone/>
            </a:pPr>
            <a:r>
              <a:rPr lang="en-US" sz="3400" b="1" dirty="0">
                <a:solidFill>
                  <a:schemeClr val="accent1"/>
                </a:solidFill>
                <a:latin typeface="+mj-lt" pitchFamily="34" charset="0"/>
                <a:ea typeface="+mj-lt" pitchFamily="34" charset="-122"/>
                <a:cs typeface="+mj-lt" pitchFamily="34" charset="-120"/>
              </a:rPr>
              <a:t>89.3%</a:t>
            </a:r>
            <a:endParaRPr lang="en-US" sz="3400" dirty="0"/>
          </a:p>
        </p:txBody>
      </p:sp>
      <p:sp>
        <p:nvSpPr>
          <p:cNvPr id="15" name="Accuracy stat label"/>
          <p:cNvSpPr txBox="1"/>
          <p:nvPr/>
        </p:nvSpPr>
        <p:spPr>
          <a:xfrm>
            <a:off x="9674352" y="2552090"/>
            <a:ext cx="1737360" cy="503834"/>
          </a:xfrm>
          <a:prstGeom prst="rect">
            <a:avLst/>
          </a:prstGeom>
          <a:noFill/>
          <a:ln/>
        </p:spPr>
        <p:txBody>
          <a:bodyPr wrap="square" lIns="0" tIns="0" rIns="0" bIns="0" rtlCol="0" anchor="t"/>
          <a:lstStyle/>
          <a:p>
            <a:pPr indent="0" marL="0">
              <a:buNone/>
            </a:pPr>
            <a:r>
              <a:rPr lang="en-US" sz="1300" dirty="0">
                <a:solidFill>
                  <a:schemeClr val="tx2"/>
                </a:solidFill>
              </a:rPr>
              <a:t>accuracy at threshold 0.5</a:t>
            </a:r>
            <a:endParaRPr lang="en-US" sz="1300" dirty="0"/>
          </a:p>
        </p:txBody>
      </p:sp>
      <p:sp>
        <p:nvSpPr>
          <p:cNvPr id="16" name="Noise chart card"/>
          <p:cNvSpPr/>
          <p:nvPr/>
        </p:nvSpPr>
        <p:spPr>
          <a:xfrm>
            <a:off x="7086600" y="3246120"/>
            <a:ext cx="4553712" cy="2468880"/>
          </a:xfrm>
          <a:prstGeom prst="roundRect">
            <a:avLst>
              <a:gd name="adj" fmla="val 4444"/>
            </a:avLst>
          </a:prstGeom>
          <a:solidFill>
            <a:schemeClr val="bg2">
              <a:alpha val="88000"/>
            </a:schemeClr>
          </a:solidFill>
          <a:ln w="9525">
            <a:solidFill>
              <a:srgbClr val="FFFFFF">
                <a:alpha val="12000"/>
              </a:srgbClr>
            </a:solidFill>
            <a:prstDash val="solid"/>
          </a:ln>
        </p:spPr>
      </p:sp>
      <p:graphicFrame>
        <p:nvGraphicFramePr>
          <p:cNvPr id="17" name="Chart 0" descr=""/>
          <p:cNvGraphicFramePr/>
          <p:nvPr/>
        </p:nvGraphicFramePr>
        <p:xfrm>
          <a:off x="7178040" y="3291840"/>
          <a:ext cx="4370832" cy="2377440"/>
        </p:xfrm>
        <a:graphic xmlns:a="http://schemas.openxmlformats.org/drawingml/2006/main">
          <a:graphicData uri="http://schemas.openxmlformats.org/drawingml/2006/chart">
            <c:chart xmlns:c="http://schemas.openxmlformats.org/drawingml/2006/chart" r:id="rId3"/>
          </a:graphicData>
        </a:graphic>
      </p:graphicFrame>
      <p:sp>
        <p:nvSpPr>
          <p:cNvPr id="18" name="Caveat card"/>
          <p:cNvSpPr/>
          <p:nvPr/>
        </p:nvSpPr>
        <p:spPr>
          <a:xfrm>
            <a:off x="7086600" y="5852160"/>
            <a:ext cx="4553712" cy="411480"/>
          </a:xfrm>
          <a:prstGeom prst="roundRect">
            <a:avLst>
              <a:gd name="adj" fmla="val 26667"/>
            </a:avLst>
          </a:prstGeom>
          <a:solidFill>
            <a:schemeClr val="accent4">
              <a:alpha val="12000"/>
            </a:schemeClr>
          </a:solidFill>
          <a:ln w="9525">
            <a:solidFill>
              <a:srgbClr val="FBBF24">
                <a:alpha val="45000"/>
              </a:srgbClr>
            </a:solidFill>
            <a:prstDash val="solid"/>
          </a:ln>
        </p:spPr>
      </p:sp>
      <p:sp>
        <p:nvSpPr>
          <p:cNvPr id="19" name="Caveat text"/>
          <p:cNvSpPr txBox="1"/>
          <p:nvPr/>
        </p:nvSpPr>
        <p:spPr>
          <a:xfrm>
            <a:off x="7223760" y="5852160"/>
            <a:ext cx="4279392" cy="411480"/>
          </a:xfrm>
          <a:prstGeom prst="rect">
            <a:avLst/>
          </a:prstGeom>
          <a:noFill/>
          <a:ln/>
        </p:spPr>
        <p:txBody>
          <a:bodyPr wrap="square" lIns="0" tIns="0" rIns="0" bIns="0" rtlCol="0" anchor="ctr"/>
          <a:lstStyle/>
          <a:p>
            <a:pPr indent="0" marL="0">
              <a:buNone/>
            </a:pPr>
            <a:r>
              <a:rPr lang="en-US" sz="1300" b="1" dirty="0">
                <a:solidFill>
                  <a:schemeClr val="tx1"/>
                </a:solidFill>
              </a:rPr>
              <a:t>Trained on simulated drawings: it learned our assumptions</a:t>
            </a:r>
            <a:endParaRPr lang="en-US" sz="13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7F9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Presenter badge"/>
          <p:cNvSpPr/>
          <p:nvPr/>
        </p:nvSpPr>
        <p:spPr>
          <a:xfrm>
            <a:off x="548640" y="384048"/>
            <a:ext cx="365760" cy="365760"/>
          </a:xfrm>
          <a:prstGeom prst="ellipse">
            <a:avLst/>
          </a:prstGeom>
          <a:solidFill>
            <a:schemeClr val="accent1"/>
          </a:solidFill>
          <a:ln w="12700">
            <a:solidFill>
              <a:schemeClr val="accent1"/>
            </a:solidFill>
            <a:prstDash val="solid"/>
          </a:ln>
        </p:spPr>
      </p:sp>
      <p:sp>
        <p:nvSpPr>
          <p:cNvPr id="3" name="Presenter initials"/>
          <p:cNvSpPr txBox="1"/>
          <p:nvPr/>
        </p:nvSpPr>
        <p:spPr>
          <a:xfrm>
            <a:off x="548640" y="384048"/>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AG</a:t>
            </a:r>
            <a:endParaRPr lang="en-US" sz="1100" dirty="0"/>
          </a:p>
        </p:txBody>
      </p:sp>
      <p:sp>
        <p:nvSpPr>
          <p:cNvPr id="4" name="Presenter line"/>
          <p:cNvSpPr txBox="1"/>
          <p:nvPr/>
        </p:nvSpPr>
        <p:spPr>
          <a:xfrm>
            <a:off x="1051560" y="384048"/>
            <a:ext cx="9601200"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ARSHI GARG</a:t>
            </a:r>
            <a:pPr indent="0" marL="0">
              <a:buNone/>
            </a:pPr>
            <a:r>
              <a:rPr lang="en-US" sz="1200" dirty="0">
                <a:solidFill>
                  <a:schemeClr val="tx2"/>
                </a:solidFill>
              </a:rPr>
              <a:t>   ·   Performance, limits and next steps</a:t>
            </a:r>
            <a:endParaRPr lang="en-US" sz="1200" dirty="0"/>
          </a:p>
        </p:txBody>
      </p:sp>
      <p:sp>
        <p:nvSpPr>
          <p:cNvPr id="5" name="Text 0"/>
          <p:cNvSpPr/>
          <p:nvPr>
            <p:ph idx="100" type="title" hasCustomPrompt="1"/>
          </p:nvPr>
        </p:nvSpPr>
        <p:spPr>
          <a:xfrm>
            <a:off x="548640" y="8686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Responsive on four CPU cores, with one bottleneck</a:t>
            </a:r>
            <a:endParaRPr lang="en-US" sz="3400" dirty="0"/>
          </a:p>
        </p:txBody>
      </p:sp>
      <p:sp>
        <p:nvSpPr>
          <p:cNvPr id="6" name="Latency card"/>
          <p:cNvSpPr/>
          <p:nvPr/>
        </p:nvSpPr>
        <p:spPr>
          <a:xfrm>
            <a:off x="548640" y="1783080"/>
            <a:ext cx="5120640" cy="2834640"/>
          </a:xfrm>
          <a:prstGeom prst="roundRect">
            <a:avLst>
              <a:gd name="adj" fmla="val 3871"/>
            </a:avLst>
          </a:prstGeom>
          <a:solidFill>
            <a:schemeClr val="bg2">
              <a:alpha val="88000"/>
            </a:schemeClr>
          </a:solidFill>
          <a:ln w="9525">
            <a:solidFill>
              <a:srgbClr val="FFFFFF">
                <a:alpha val="12000"/>
              </a:srgbClr>
            </a:solidFill>
            <a:prstDash val="solid"/>
          </a:ln>
        </p:spPr>
      </p:sp>
      <p:graphicFrame>
        <p:nvGraphicFramePr>
          <p:cNvPr id="7" name="Chart 0" descr=""/>
          <p:cNvGraphicFramePr/>
          <p:nvPr/>
        </p:nvGraphicFramePr>
        <p:xfrm>
          <a:off x="640080" y="1828800"/>
          <a:ext cx="4937760" cy="2743200"/>
        </p:xfrm>
        <a:graphic xmlns:a="http://schemas.openxmlformats.org/drawingml/2006/main">
          <a:graphicData uri="http://schemas.openxmlformats.org/drawingml/2006/chart">
            <c:chart xmlns:c="http://schemas.openxmlformats.org/drawingml/2006/chart" r:id="rId1"/>
          </a:graphicData>
        </a:graphic>
      </p:graphicFrame>
      <p:sp>
        <p:nvSpPr>
          <p:cNvPr id="8" name="Stat predictions"/>
          <p:cNvSpPr/>
          <p:nvPr/>
        </p:nvSpPr>
        <p:spPr>
          <a:xfrm>
            <a:off x="548640" y="4800600"/>
            <a:ext cx="1645920" cy="1417320"/>
          </a:xfrm>
          <a:prstGeom prst="roundRect">
            <a:avLst>
              <a:gd name="adj" fmla="val 7742"/>
            </a:avLst>
          </a:prstGeom>
          <a:solidFill>
            <a:schemeClr val="bg2">
              <a:alpha val="88000"/>
            </a:schemeClr>
          </a:solidFill>
          <a:ln w="9525">
            <a:solidFill>
              <a:srgbClr val="FFFFFF">
                <a:alpha val="12000"/>
              </a:srgbClr>
            </a:solidFill>
            <a:prstDash val="solid"/>
          </a:ln>
        </p:spPr>
      </p:sp>
      <p:sp>
        <p:nvSpPr>
          <p:cNvPr id="9" name="Stat predictions value"/>
          <p:cNvSpPr txBox="1"/>
          <p:nvPr/>
        </p:nvSpPr>
        <p:spPr>
          <a:xfrm>
            <a:off x="777240" y="4910328"/>
            <a:ext cx="1188720" cy="737006"/>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9.4</a:t>
            </a:r>
            <a:endParaRPr lang="en-US" sz="3000" dirty="0"/>
          </a:p>
        </p:txBody>
      </p:sp>
      <p:sp>
        <p:nvSpPr>
          <p:cNvPr id="10" name="Stat predictions label"/>
          <p:cNvSpPr txBox="1"/>
          <p:nvPr/>
        </p:nvSpPr>
        <p:spPr>
          <a:xfrm>
            <a:off x="777240" y="5622646"/>
            <a:ext cx="1188720" cy="538582"/>
          </a:xfrm>
          <a:prstGeom prst="rect">
            <a:avLst/>
          </a:prstGeom>
          <a:noFill/>
          <a:ln/>
        </p:spPr>
        <p:txBody>
          <a:bodyPr wrap="square" lIns="0" tIns="0" rIns="0" bIns="0" rtlCol="0" anchor="t"/>
          <a:lstStyle/>
          <a:p>
            <a:pPr indent="0" marL="0">
              <a:buNone/>
            </a:pPr>
            <a:r>
              <a:rPr lang="en-US" sz="1300" dirty="0">
                <a:solidFill>
                  <a:schemeClr val="tx2"/>
                </a:solidFill>
              </a:rPr>
              <a:t>predictions / s per worker</a:t>
            </a:r>
            <a:endParaRPr lang="en-US" sz="1300" dirty="0"/>
          </a:p>
        </p:txBody>
      </p:sp>
      <p:sp>
        <p:nvSpPr>
          <p:cNvPr id="11" name="Stat explanations"/>
          <p:cNvSpPr/>
          <p:nvPr/>
        </p:nvSpPr>
        <p:spPr>
          <a:xfrm>
            <a:off x="2286000" y="4800600"/>
            <a:ext cx="1645920" cy="1417320"/>
          </a:xfrm>
          <a:prstGeom prst="roundRect">
            <a:avLst>
              <a:gd name="adj" fmla="val 7742"/>
            </a:avLst>
          </a:prstGeom>
          <a:solidFill>
            <a:schemeClr val="bg2">
              <a:alpha val="88000"/>
            </a:schemeClr>
          </a:solidFill>
          <a:ln w="9525">
            <a:solidFill>
              <a:srgbClr val="FFFFFF">
                <a:alpha val="12000"/>
              </a:srgbClr>
            </a:solidFill>
            <a:prstDash val="solid"/>
          </a:ln>
        </p:spPr>
      </p:sp>
      <p:sp>
        <p:nvSpPr>
          <p:cNvPr id="12" name="Stat explanations value"/>
          <p:cNvSpPr txBox="1"/>
          <p:nvPr/>
        </p:nvSpPr>
        <p:spPr>
          <a:xfrm>
            <a:off x="2514600" y="4910328"/>
            <a:ext cx="1188720" cy="737006"/>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3.6</a:t>
            </a:r>
            <a:endParaRPr lang="en-US" sz="3000" dirty="0"/>
          </a:p>
        </p:txBody>
      </p:sp>
      <p:sp>
        <p:nvSpPr>
          <p:cNvPr id="13" name="Stat explanations label"/>
          <p:cNvSpPr txBox="1"/>
          <p:nvPr/>
        </p:nvSpPr>
        <p:spPr>
          <a:xfrm>
            <a:off x="2514600" y="5622646"/>
            <a:ext cx="1188720" cy="538582"/>
          </a:xfrm>
          <a:prstGeom prst="rect">
            <a:avLst/>
          </a:prstGeom>
          <a:noFill/>
          <a:ln/>
        </p:spPr>
        <p:txBody>
          <a:bodyPr wrap="square" lIns="0" tIns="0" rIns="0" bIns="0" rtlCol="0" anchor="t"/>
          <a:lstStyle/>
          <a:p>
            <a:pPr indent="0" marL="0">
              <a:buNone/>
            </a:pPr>
            <a:r>
              <a:rPr lang="en-US" sz="1300" dirty="0">
                <a:solidFill>
                  <a:schemeClr val="tx2"/>
                </a:solidFill>
              </a:rPr>
              <a:t>explanations / s per worker</a:t>
            </a:r>
            <a:endParaRPr lang="en-US" sz="1300" dirty="0"/>
          </a:p>
        </p:txBody>
      </p:sp>
      <p:sp>
        <p:nvSpPr>
          <p:cNvPr id="14" name="Stat cold start"/>
          <p:cNvSpPr/>
          <p:nvPr/>
        </p:nvSpPr>
        <p:spPr>
          <a:xfrm>
            <a:off x="4023360" y="4800600"/>
            <a:ext cx="1645920" cy="1417320"/>
          </a:xfrm>
          <a:prstGeom prst="roundRect">
            <a:avLst>
              <a:gd name="adj" fmla="val 7742"/>
            </a:avLst>
          </a:prstGeom>
          <a:solidFill>
            <a:schemeClr val="bg2">
              <a:alpha val="88000"/>
            </a:schemeClr>
          </a:solidFill>
          <a:ln w="9525">
            <a:solidFill>
              <a:srgbClr val="FFFFFF">
                <a:alpha val="12000"/>
              </a:srgbClr>
            </a:solidFill>
            <a:prstDash val="solid"/>
          </a:ln>
        </p:spPr>
      </p:sp>
      <p:sp>
        <p:nvSpPr>
          <p:cNvPr id="15" name="Stat cold start value"/>
          <p:cNvSpPr txBox="1"/>
          <p:nvPr/>
        </p:nvSpPr>
        <p:spPr>
          <a:xfrm>
            <a:off x="4251960" y="4910328"/>
            <a:ext cx="1188720" cy="737006"/>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11.6 s</a:t>
            </a:r>
            <a:endParaRPr lang="en-US" sz="2800" dirty="0"/>
          </a:p>
        </p:txBody>
      </p:sp>
      <p:sp>
        <p:nvSpPr>
          <p:cNvPr id="16" name="Stat cold start label"/>
          <p:cNvSpPr txBox="1"/>
          <p:nvPr/>
        </p:nvSpPr>
        <p:spPr>
          <a:xfrm>
            <a:off x="4251960" y="5622646"/>
            <a:ext cx="1188720" cy="538582"/>
          </a:xfrm>
          <a:prstGeom prst="rect">
            <a:avLst/>
          </a:prstGeom>
          <a:noFill/>
          <a:ln/>
        </p:spPr>
        <p:txBody>
          <a:bodyPr wrap="square" lIns="0" tIns="0" rIns="0" bIns="0" rtlCol="0" anchor="t"/>
          <a:lstStyle/>
          <a:p>
            <a:pPr indent="0" marL="0">
              <a:buNone/>
            </a:pPr>
            <a:r>
              <a:rPr lang="en-US" sz="1300" dirty="0">
                <a:solidFill>
                  <a:schemeClr val="tx2"/>
                </a:solidFill>
              </a:rPr>
              <a:t>cold start to ready</a:t>
            </a:r>
            <a:endParaRPr lang="en-US" sz="1300" dirty="0"/>
          </a:p>
        </p:txBody>
      </p:sp>
      <p:sp>
        <p:nvSpPr>
          <p:cNvPr id="17" name="Interface screenshot frame"/>
          <p:cNvSpPr/>
          <p:nvPr/>
        </p:nvSpPr>
        <p:spPr>
          <a:xfrm>
            <a:off x="6519672" y="1783080"/>
            <a:ext cx="5120640" cy="3255264"/>
          </a:xfrm>
          <a:prstGeom prst="roundRect">
            <a:avLst>
              <a:gd name="adj" fmla="val 3371"/>
            </a:avLst>
          </a:prstGeom>
          <a:solidFill>
            <a:schemeClr val="bg2"/>
          </a:solidFill>
          <a:ln w="9525">
            <a:solidFill>
              <a:srgbClr val="FFFFFF">
                <a:alpha val="20000"/>
              </a:srgbClr>
            </a:solidFill>
            <a:prstDash val="solid"/>
          </a:ln>
        </p:spPr>
      </p:sp>
      <p:pic>
        <p:nvPicPr>
          <p:cNvPr id="18" name="Interface screenshot" descr="Screenshot of a finished result: verdict, stage track, attribution slider and probabilities">    </p:cNvPr>
          <p:cNvPicPr>
            <a:picLocks noChangeAspect="1"/>
          </p:cNvPicPr>
          <p:nvPr/>
        </p:nvPicPr>
        <p:blipFill>
          <a:blip r:embed="rId2"/>
          <a:stretch>
            <a:fillRect/>
          </a:stretch>
        </p:blipFill>
        <p:spPr>
          <a:xfrm>
            <a:off x="6592824" y="1856232"/>
            <a:ext cx="4974336" cy="3108960"/>
          </a:xfrm>
          <a:prstGeom prst="rect">
            <a:avLst/>
          </a:prstGeom>
        </p:spPr>
      </p:pic>
      <p:sp>
        <p:nvSpPr>
          <p:cNvPr id="19" name="Interface caption"/>
          <p:cNvSpPr txBox="1"/>
          <p:nvPr/>
        </p:nvSpPr>
        <p:spPr>
          <a:xfrm>
            <a:off x="6592824" y="5093208"/>
            <a:ext cx="4974336" cy="274320"/>
          </a:xfrm>
          <a:prstGeom prst="rect">
            <a:avLst/>
          </a:prstGeom>
          <a:noFill/>
          <a:ln/>
        </p:spPr>
        <p:txBody>
          <a:bodyPr wrap="square" lIns="0" tIns="0" rIns="0" bIns="0" rtlCol="0" anchor="t"/>
          <a:lstStyle/>
          <a:p>
            <a:pPr indent="0" marL="0">
              <a:buNone/>
            </a:pPr>
            <a:r>
              <a:rPr lang="en-US" sz="1200" dirty="0">
                <a:solidFill>
                  <a:schemeClr val="tx2"/>
                </a:solidFill>
              </a:rPr>
              <a:t>The finished interface (real screenshot)</a:t>
            </a:r>
            <a:endParaRPr lang="en-US" sz="1200" dirty="0"/>
          </a:p>
        </p:txBody>
      </p:sp>
      <p:sp>
        <p:nvSpPr>
          <p:cNvPr id="20" name="Bottleneck note"/>
          <p:cNvSpPr/>
          <p:nvPr/>
        </p:nvSpPr>
        <p:spPr>
          <a:xfrm>
            <a:off x="6519672" y="5532120"/>
            <a:ext cx="5120640" cy="731520"/>
          </a:xfrm>
          <a:prstGeom prst="roundRect">
            <a:avLst>
              <a:gd name="adj" fmla="val 15000"/>
            </a:avLst>
          </a:prstGeom>
          <a:solidFill>
            <a:schemeClr val="accent4">
              <a:alpha val="12000"/>
            </a:schemeClr>
          </a:solidFill>
          <a:ln w="9525">
            <a:solidFill>
              <a:srgbClr val="FBBF24">
                <a:alpha val="45000"/>
              </a:srgbClr>
            </a:solidFill>
            <a:prstDash val="solid"/>
          </a:ln>
        </p:spPr>
      </p:sp>
      <p:sp>
        <p:nvSpPr>
          <p:cNvPr id="21" name="Bottleneck text"/>
          <p:cNvSpPr txBox="1"/>
          <p:nvPr/>
        </p:nvSpPr>
        <p:spPr>
          <a:xfrm>
            <a:off x="6656832" y="5532120"/>
            <a:ext cx="4846320" cy="731520"/>
          </a:xfrm>
          <a:prstGeom prst="rect">
            <a:avLst/>
          </a:prstGeom>
          <a:noFill/>
          <a:ln/>
        </p:spPr>
        <p:txBody>
          <a:bodyPr wrap="square" lIns="0" tIns="0" rIns="0" bIns="0" rtlCol="0" anchor="ctr"/>
          <a:lstStyle/>
          <a:p>
            <a:pPr indent="0" marL="0">
              <a:buNone/>
            </a:pPr>
            <a:r>
              <a:rPr lang="en-US" sz="1300" b="1" dirty="0">
                <a:solidFill>
                  <a:schemeClr val="tx1"/>
                </a:solidFill>
              </a:rPr>
              <a:t>Bottleneck: </a:t>
            </a:r>
            <a:pPr indent="0" marL="0">
              <a:buNone/>
            </a:pPr>
            <a:r>
              <a:rPr lang="en-US" sz="1300" dirty="0">
                <a:solidFill>
                  <a:schemeClr val="tx1"/>
                </a:solidFill>
              </a:rPr>
              <a:t>more clients do not add throughput; each request runs a blocking forward pass in one worker.</a:t>
            </a:r>
            <a:endParaRPr lang="en-US" sz="13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7F9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Presenter badge"/>
          <p:cNvSpPr/>
          <p:nvPr/>
        </p:nvSpPr>
        <p:spPr>
          <a:xfrm>
            <a:off x="548640" y="384048"/>
            <a:ext cx="365760" cy="365760"/>
          </a:xfrm>
          <a:prstGeom prst="ellipse">
            <a:avLst/>
          </a:prstGeom>
          <a:solidFill>
            <a:schemeClr val="accent1"/>
          </a:solidFill>
          <a:ln w="12700">
            <a:solidFill>
              <a:schemeClr val="accent1"/>
            </a:solidFill>
            <a:prstDash val="solid"/>
          </a:ln>
        </p:spPr>
      </p:sp>
      <p:sp>
        <p:nvSpPr>
          <p:cNvPr id="3" name="Presenter initials"/>
          <p:cNvSpPr txBox="1"/>
          <p:nvPr/>
        </p:nvSpPr>
        <p:spPr>
          <a:xfrm>
            <a:off x="548640" y="384048"/>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AG</a:t>
            </a:r>
            <a:endParaRPr lang="en-US" sz="1100" dirty="0"/>
          </a:p>
        </p:txBody>
      </p:sp>
      <p:sp>
        <p:nvSpPr>
          <p:cNvPr id="4" name="Presenter line"/>
          <p:cNvSpPr txBox="1"/>
          <p:nvPr/>
        </p:nvSpPr>
        <p:spPr>
          <a:xfrm>
            <a:off x="1051560" y="384048"/>
            <a:ext cx="9601200" cy="365760"/>
          </a:xfrm>
          <a:prstGeom prst="rect">
            <a:avLst/>
          </a:prstGeom>
          <a:noFill/>
          <a:ln/>
        </p:spPr>
        <p:txBody>
          <a:bodyPr wrap="square" lIns="0" tIns="0" rIns="0" bIns="0" rtlCol="0" anchor="ctr"/>
          <a:lstStyle/>
          <a:p>
            <a:pPr indent="0" marL="0">
              <a:buNone/>
            </a:pPr>
            <a:r>
              <a:rPr lang="en-US" sz="1200" b="1" spc="200" kern="0" dirty="0">
                <a:solidFill>
                  <a:schemeClr val="accent1"/>
                </a:solidFill>
              </a:rPr>
              <a:t>ARSHI GARG</a:t>
            </a:r>
            <a:pPr indent="0" marL="0">
              <a:buNone/>
            </a:pPr>
            <a:r>
              <a:rPr lang="en-US" sz="1200" dirty="0">
                <a:solidFill>
                  <a:schemeClr val="tx2"/>
                </a:solidFill>
              </a:rPr>
              <a:t>   ·   Performance, limits and next steps</a:t>
            </a:r>
            <a:endParaRPr lang="en-US" sz="1200" dirty="0"/>
          </a:p>
        </p:txBody>
      </p:sp>
      <p:sp>
        <p:nvSpPr>
          <p:cNvPr id="5" name="Text 0"/>
          <p:cNvSpPr/>
          <p:nvPr>
            <p:ph idx="100" type="title" hasCustomPrompt="1"/>
          </p:nvPr>
        </p:nvSpPr>
        <p:spPr>
          <a:xfrm>
            <a:off x="548640" y="8686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What we can claim, and what comes next</a:t>
            </a:r>
            <a:endParaRPr lang="en-US" sz="3400" dirty="0"/>
          </a:p>
        </p:txBody>
      </p:sp>
      <p:sp>
        <p:nvSpPr>
          <p:cNvPr id="6" name="Claim card"/>
          <p:cNvSpPr/>
          <p:nvPr/>
        </p:nvSpPr>
        <p:spPr>
          <a:xfrm>
            <a:off x="548640" y="1783080"/>
            <a:ext cx="5394960" cy="2286000"/>
          </a:xfrm>
          <a:prstGeom prst="roundRect">
            <a:avLst>
              <a:gd name="adj" fmla="val 4800"/>
            </a:avLst>
          </a:prstGeom>
          <a:solidFill>
            <a:schemeClr val="bg2">
              <a:alpha val="88000"/>
            </a:schemeClr>
          </a:solidFill>
          <a:ln w="9525">
            <a:solidFill>
              <a:srgbClr val="FFFFFF">
                <a:alpha val="12000"/>
              </a:srgbClr>
            </a:solidFill>
            <a:prstDash val="solid"/>
          </a:ln>
        </p:spPr>
      </p:sp>
      <p:sp>
        <p:nvSpPr>
          <p:cNvPr id="7" name="Claim label"/>
          <p:cNvSpPr txBox="1"/>
          <p:nvPr/>
        </p:nvSpPr>
        <p:spPr>
          <a:xfrm>
            <a:off x="822960" y="1920240"/>
            <a:ext cx="4572000" cy="274320"/>
          </a:xfrm>
          <a:prstGeom prst="rect">
            <a:avLst/>
          </a:prstGeom>
          <a:noFill/>
          <a:ln/>
        </p:spPr>
        <p:txBody>
          <a:bodyPr wrap="square" lIns="0" tIns="0" rIns="0" bIns="0" rtlCol="0" anchor="t"/>
          <a:lstStyle/>
          <a:p>
            <a:pPr indent="0" marL="0">
              <a:buNone/>
            </a:pPr>
            <a:r>
              <a:rPr lang="en-US" sz="1200" b="1" spc="300" kern="0" dirty="0">
                <a:solidFill>
                  <a:srgbClr val="34D399"/>
                </a:solidFill>
              </a:rPr>
              <a:t>WHAT WE CAN CLAIM</a:t>
            </a:r>
            <a:endParaRPr lang="en-US" sz="1200" dirty="0"/>
          </a:p>
        </p:txBody>
      </p:sp>
      <p:pic>
        <p:nvPicPr>
          <p:cNvPr id="8" name="Claim icon 1" descr="Check icon">    </p:cNvPr>
          <p:cNvPicPr>
            <a:picLocks noChangeAspect="1"/>
          </p:cNvPicPr>
          <p:nvPr/>
        </p:nvPicPr>
        <p:blipFill>
          <a:blip r:embed="rId1"/>
          <a:stretch>
            <a:fillRect/>
          </a:stretch>
        </p:blipFill>
        <p:spPr>
          <a:xfrm>
            <a:off x="822960" y="2377440"/>
            <a:ext cx="274320" cy="274320"/>
          </a:xfrm>
          <a:prstGeom prst="rect">
            <a:avLst/>
          </a:prstGeom>
        </p:spPr>
      </p:pic>
      <p:sp>
        <p:nvSpPr>
          <p:cNvPr id="9" name="Claim text 1"/>
          <p:cNvSpPr txBox="1"/>
          <p:nvPr/>
        </p:nvSpPr>
        <p:spPr>
          <a:xfrm>
            <a:off x="1234440" y="2331720"/>
            <a:ext cx="4480560" cy="365760"/>
          </a:xfrm>
          <a:prstGeom prst="rect">
            <a:avLst/>
          </a:prstGeom>
          <a:noFill/>
          <a:ln/>
        </p:spPr>
        <p:txBody>
          <a:bodyPr wrap="square" lIns="0" tIns="0" rIns="0" bIns="0" rtlCol="0" anchor="ctr"/>
          <a:lstStyle/>
          <a:p>
            <a:pPr indent="0" marL="0">
              <a:buNone/>
            </a:pPr>
            <a:r>
              <a:rPr lang="en-US" sz="1500" dirty="0">
                <a:solidFill>
                  <a:schemeClr val="tx1"/>
                </a:solidFill>
              </a:rPr>
              <a:t>Works end to end and reproduces exactly</a:t>
            </a:r>
            <a:endParaRPr lang="en-US" sz="1500" dirty="0"/>
          </a:p>
        </p:txBody>
      </p:sp>
      <p:pic>
        <p:nvPicPr>
          <p:cNvPr id="10" name="Claim icon 2" descr="Check icon">    </p:cNvPr>
          <p:cNvPicPr>
            <a:picLocks noChangeAspect="1"/>
          </p:cNvPicPr>
          <p:nvPr/>
        </p:nvPicPr>
        <p:blipFill>
          <a:blip r:embed="rId2"/>
          <a:stretch>
            <a:fillRect/>
          </a:stretch>
        </p:blipFill>
        <p:spPr>
          <a:xfrm>
            <a:off x="822960" y="2907792"/>
            <a:ext cx="274320" cy="274320"/>
          </a:xfrm>
          <a:prstGeom prst="rect">
            <a:avLst/>
          </a:prstGeom>
        </p:spPr>
      </p:pic>
      <p:sp>
        <p:nvSpPr>
          <p:cNvPr id="11" name="Claim text 2"/>
          <p:cNvSpPr txBox="1"/>
          <p:nvPr/>
        </p:nvSpPr>
        <p:spPr>
          <a:xfrm>
            <a:off x="1234440" y="2862072"/>
            <a:ext cx="4480560" cy="365760"/>
          </a:xfrm>
          <a:prstGeom prst="rect">
            <a:avLst/>
          </a:prstGeom>
          <a:noFill/>
          <a:ln/>
        </p:spPr>
        <p:txBody>
          <a:bodyPr wrap="square" lIns="0" tIns="0" rIns="0" bIns="0" rtlCol="0" anchor="ctr"/>
          <a:lstStyle/>
          <a:p>
            <a:pPr indent="0" marL="0">
              <a:buNone/>
            </a:pPr>
            <a:r>
              <a:rPr lang="en-US" sz="1500" dirty="0">
                <a:solidFill>
                  <a:schemeClr val="tx1"/>
                </a:solidFill>
              </a:rPr>
              <a:t>Handwriting explanation is exact; MRI map is checkable</a:t>
            </a:r>
            <a:endParaRPr lang="en-US" sz="1500" dirty="0"/>
          </a:p>
        </p:txBody>
      </p:sp>
      <p:pic>
        <p:nvPicPr>
          <p:cNvPr id="12" name="Claim icon 3" descr="Check icon">    </p:cNvPr>
          <p:cNvPicPr>
            <a:picLocks noChangeAspect="1"/>
          </p:cNvPicPr>
          <p:nvPr/>
        </p:nvPicPr>
        <p:blipFill>
          <a:blip r:embed="rId3"/>
          <a:stretch>
            <a:fillRect/>
          </a:stretch>
        </p:blipFill>
        <p:spPr>
          <a:xfrm>
            <a:off x="822960" y="3438144"/>
            <a:ext cx="274320" cy="274320"/>
          </a:xfrm>
          <a:prstGeom prst="rect">
            <a:avLst/>
          </a:prstGeom>
        </p:spPr>
      </p:pic>
      <p:sp>
        <p:nvSpPr>
          <p:cNvPr id="13" name="Claim text 3"/>
          <p:cNvSpPr txBox="1"/>
          <p:nvPr/>
        </p:nvSpPr>
        <p:spPr>
          <a:xfrm>
            <a:off x="1234440" y="3392424"/>
            <a:ext cx="4480560" cy="365760"/>
          </a:xfrm>
          <a:prstGeom prst="rect">
            <a:avLst/>
          </a:prstGeom>
          <a:noFill/>
          <a:ln/>
        </p:spPr>
        <p:txBody>
          <a:bodyPr wrap="square" lIns="0" tIns="0" rIns="0" bIns="0" rtlCol="0" anchor="ctr"/>
          <a:lstStyle/>
          <a:p>
            <a:pPr indent="0" marL="0">
              <a:buNone/>
            </a:pPr>
            <a:r>
              <a:rPr lang="en-US" sz="1500" dirty="0">
                <a:solidFill>
                  <a:schemeClr val="tx1"/>
                </a:solidFill>
              </a:rPr>
              <a:t>Fast enough to demo on a laptop</a:t>
            </a:r>
            <a:endParaRPr lang="en-US" sz="1500" dirty="0"/>
          </a:p>
        </p:txBody>
      </p:sp>
      <p:sp>
        <p:nvSpPr>
          <p:cNvPr id="14" name="Cannot claim card"/>
          <p:cNvSpPr/>
          <p:nvPr/>
        </p:nvSpPr>
        <p:spPr>
          <a:xfrm>
            <a:off x="548640" y="4206240"/>
            <a:ext cx="5394960" cy="2011680"/>
          </a:xfrm>
          <a:prstGeom prst="roundRect">
            <a:avLst>
              <a:gd name="adj" fmla="val 5455"/>
            </a:avLst>
          </a:prstGeom>
          <a:solidFill>
            <a:schemeClr val="bg2">
              <a:alpha val="88000"/>
            </a:schemeClr>
          </a:solidFill>
          <a:ln w="9525">
            <a:solidFill>
              <a:srgbClr val="FFFFFF">
                <a:alpha val="12000"/>
              </a:srgbClr>
            </a:solidFill>
            <a:prstDash val="solid"/>
          </a:ln>
        </p:spPr>
      </p:sp>
      <p:sp>
        <p:nvSpPr>
          <p:cNvPr id="15" name="Cannot label"/>
          <p:cNvSpPr txBox="1"/>
          <p:nvPr/>
        </p:nvSpPr>
        <p:spPr>
          <a:xfrm>
            <a:off x="822960" y="4343400"/>
            <a:ext cx="4572000" cy="274320"/>
          </a:xfrm>
          <a:prstGeom prst="rect">
            <a:avLst/>
          </a:prstGeom>
          <a:noFill/>
          <a:ln/>
        </p:spPr>
        <p:txBody>
          <a:bodyPr wrap="square" lIns="0" tIns="0" rIns="0" bIns="0" rtlCol="0" anchor="t"/>
          <a:lstStyle/>
          <a:p>
            <a:pPr indent="0" marL="0">
              <a:buNone/>
            </a:pPr>
            <a:r>
              <a:rPr lang="en-US" sz="1200" b="1" spc="300" kern="0" dirty="0">
                <a:solidFill>
                  <a:srgbClr val="FBBF24"/>
                </a:solidFill>
              </a:rPr>
              <a:t>WHAT WE CANNOT CLAIM</a:t>
            </a:r>
            <a:endParaRPr lang="en-US" sz="1200" dirty="0"/>
          </a:p>
        </p:txBody>
      </p:sp>
      <p:pic>
        <p:nvPicPr>
          <p:cNvPr id="16" name="Cannot icon 1" descr="Warning icon">    </p:cNvPr>
          <p:cNvPicPr>
            <a:picLocks noChangeAspect="1"/>
          </p:cNvPicPr>
          <p:nvPr/>
        </p:nvPicPr>
        <p:blipFill>
          <a:blip r:embed="rId4"/>
          <a:stretch>
            <a:fillRect/>
          </a:stretch>
        </p:blipFill>
        <p:spPr>
          <a:xfrm>
            <a:off x="822960" y="4773168"/>
            <a:ext cx="274320" cy="274320"/>
          </a:xfrm>
          <a:prstGeom prst="rect">
            <a:avLst/>
          </a:prstGeom>
        </p:spPr>
      </p:pic>
      <p:sp>
        <p:nvSpPr>
          <p:cNvPr id="17" name="Cannot text 1"/>
          <p:cNvSpPr txBox="1"/>
          <p:nvPr/>
        </p:nvSpPr>
        <p:spPr>
          <a:xfrm>
            <a:off x="1234440" y="4727448"/>
            <a:ext cx="4480560" cy="365760"/>
          </a:xfrm>
          <a:prstGeom prst="rect">
            <a:avLst/>
          </a:prstGeom>
          <a:noFill/>
          <a:ln/>
        </p:spPr>
        <p:txBody>
          <a:bodyPr wrap="square" lIns="0" tIns="0" rIns="0" bIns="0" rtlCol="0" anchor="ctr"/>
          <a:lstStyle/>
          <a:p>
            <a:pPr indent="0" marL="0">
              <a:buNone/>
            </a:pPr>
            <a:r>
              <a:rPr lang="en-US" sz="1400" dirty="0">
                <a:solidFill>
                  <a:schemeClr val="tx1"/>
                </a:solidFill>
              </a:rPr>
              <a:t>Clinical performance: all data are synthetic</a:t>
            </a:r>
            <a:endParaRPr lang="en-US" sz="1400" dirty="0"/>
          </a:p>
        </p:txBody>
      </p:sp>
      <p:pic>
        <p:nvPicPr>
          <p:cNvPr id="18" name="Cannot icon 2" descr="Warning icon">    </p:cNvPr>
          <p:cNvPicPr>
            <a:picLocks noChangeAspect="1"/>
          </p:cNvPicPr>
          <p:nvPr/>
        </p:nvPicPr>
        <p:blipFill>
          <a:blip r:embed="rId5"/>
          <a:stretch>
            <a:fillRect/>
          </a:stretch>
        </p:blipFill>
        <p:spPr>
          <a:xfrm>
            <a:off x="822960" y="5230368"/>
            <a:ext cx="274320" cy="274320"/>
          </a:xfrm>
          <a:prstGeom prst="rect">
            <a:avLst/>
          </a:prstGeom>
        </p:spPr>
      </p:pic>
      <p:sp>
        <p:nvSpPr>
          <p:cNvPr id="19" name="Cannot text 2"/>
          <p:cNvSpPr txBox="1"/>
          <p:nvPr/>
        </p:nvSpPr>
        <p:spPr>
          <a:xfrm>
            <a:off x="1234440" y="5184648"/>
            <a:ext cx="4480560" cy="365760"/>
          </a:xfrm>
          <a:prstGeom prst="rect">
            <a:avLst/>
          </a:prstGeom>
          <a:noFill/>
          <a:ln/>
        </p:spPr>
        <p:txBody>
          <a:bodyPr wrap="square" lIns="0" tIns="0" rIns="0" bIns="0" rtlCol="0" anchor="ctr"/>
          <a:lstStyle/>
          <a:p>
            <a:pPr indent="0" marL="0">
              <a:buNone/>
            </a:pPr>
            <a:r>
              <a:rPr lang="en-US" sz="1400" dirty="0">
                <a:solidFill>
                  <a:schemeClr val="tx1"/>
                </a:solidFill>
              </a:rPr>
              <a:t>Robustness: noise and blur break it</a:t>
            </a:r>
            <a:endParaRPr lang="en-US" sz="1400" dirty="0"/>
          </a:p>
        </p:txBody>
      </p:sp>
      <p:pic>
        <p:nvPicPr>
          <p:cNvPr id="20" name="Cannot icon 3" descr="Warning icon">    </p:cNvPr>
          <p:cNvPicPr>
            <a:picLocks noChangeAspect="1"/>
          </p:cNvPicPr>
          <p:nvPr/>
        </p:nvPicPr>
        <p:blipFill>
          <a:blip r:embed="rId6"/>
          <a:stretch>
            <a:fillRect/>
          </a:stretch>
        </p:blipFill>
        <p:spPr>
          <a:xfrm>
            <a:off x="822960" y="5687568"/>
            <a:ext cx="274320" cy="274320"/>
          </a:xfrm>
          <a:prstGeom prst="rect">
            <a:avLst/>
          </a:prstGeom>
        </p:spPr>
      </p:pic>
      <p:sp>
        <p:nvSpPr>
          <p:cNvPr id="21" name="Cannot text 3"/>
          <p:cNvSpPr txBox="1"/>
          <p:nvPr/>
        </p:nvSpPr>
        <p:spPr>
          <a:xfrm>
            <a:off x="1234440" y="5641848"/>
            <a:ext cx="4480560" cy="365760"/>
          </a:xfrm>
          <a:prstGeom prst="rect">
            <a:avLst/>
          </a:prstGeom>
          <a:noFill/>
          <a:ln/>
        </p:spPr>
        <p:txBody>
          <a:bodyPr wrap="square" lIns="0" tIns="0" rIns="0" bIns="0" rtlCol="0" anchor="ctr"/>
          <a:lstStyle/>
          <a:p>
            <a:pPr indent="0" marL="0">
              <a:buNone/>
            </a:pPr>
            <a:r>
              <a:rPr lang="en-US" sz="1400" dirty="0">
                <a:solidFill>
                  <a:schemeClr val="tx1"/>
                </a:solidFill>
              </a:rPr>
              <a:t>A trained multimodal model: the combined score is an average</a:t>
            </a:r>
            <a:endParaRPr lang="en-US" sz="1400" dirty="0"/>
          </a:p>
        </p:txBody>
      </p:sp>
      <p:sp>
        <p:nvSpPr>
          <p:cNvPr id="22" name="Next steps card"/>
          <p:cNvSpPr/>
          <p:nvPr/>
        </p:nvSpPr>
        <p:spPr>
          <a:xfrm>
            <a:off x="6172200" y="1783080"/>
            <a:ext cx="5468112" cy="4434840"/>
          </a:xfrm>
          <a:prstGeom prst="roundRect">
            <a:avLst>
              <a:gd name="adj" fmla="val 2474"/>
            </a:avLst>
          </a:prstGeom>
          <a:solidFill>
            <a:schemeClr val="bg2">
              <a:alpha val="88000"/>
            </a:schemeClr>
          </a:solidFill>
          <a:ln w="9525">
            <a:solidFill>
              <a:srgbClr val="FFFFFF">
                <a:alpha val="12000"/>
              </a:srgbClr>
            </a:solidFill>
            <a:prstDash val="solid"/>
          </a:ln>
        </p:spPr>
      </p:sp>
      <p:sp>
        <p:nvSpPr>
          <p:cNvPr id="23" name="Next label"/>
          <p:cNvSpPr txBox="1"/>
          <p:nvPr/>
        </p:nvSpPr>
        <p:spPr>
          <a:xfrm>
            <a:off x="6446520" y="1920240"/>
            <a:ext cx="45720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NEXT STEPS, IN ORDER</a:t>
            </a:r>
            <a:endParaRPr lang="en-US" sz="1200" dirty="0"/>
          </a:p>
        </p:txBody>
      </p:sp>
      <p:sp>
        <p:nvSpPr>
          <p:cNvPr id="24" name="Next dot 1"/>
          <p:cNvSpPr/>
          <p:nvPr/>
        </p:nvSpPr>
        <p:spPr>
          <a:xfrm>
            <a:off x="6446520" y="2404872"/>
            <a:ext cx="402336" cy="402336"/>
          </a:xfrm>
          <a:prstGeom prst="ellipse">
            <a:avLst/>
          </a:prstGeom>
          <a:solidFill>
            <a:schemeClr val="accent1"/>
          </a:solidFill>
          <a:ln w="12700">
            <a:solidFill>
              <a:schemeClr val="accent1"/>
            </a:solidFill>
            <a:prstDash val="solid"/>
          </a:ln>
        </p:spPr>
      </p:sp>
      <p:sp>
        <p:nvSpPr>
          <p:cNvPr id="25" name="Next number 1"/>
          <p:cNvSpPr txBox="1"/>
          <p:nvPr/>
        </p:nvSpPr>
        <p:spPr>
          <a:xfrm>
            <a:off x="6446520" y="2404872"/>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6" name="Next text 1"/>
          <p:cNvSpPr txBox="1"/>
          <p:nvPr/>
        </p:nvSpPr>
        <p:spPr>
          <a:xfrm>
            <a:off x="7040880" y="2331720"/>
            <a:ext cx="4434840" cy="548640"/>
          </a:xfrm>
          <a:prstGeom prst="rect">
            <a:avLst/>
          </a:prstGeom>
          <a:noFill/>
          <a:ln/>
        </p:spPr>
        <p:txBody>
          <a:bodyPr wrap="square" lIns="0" tIns="0" rIns="0" bIns="0" rtlCol="0" anchor="ctr"/>
          <a:lstStyle/>
          <a:p>
            <a:pPr indent="0" marL="0">
              <a:buNone/>
            </a:pPr>
            <a:r>
              <a:rPr lang="en-US" sz="1500" dirty="0">
                <a:solidFill>
                  <a:schemeClr val="tx1"/>
                </a:solidFill>
              </a:rPr>
              <a:t>Real data (ADNI, DARWIN) with subject-level splits</a:t>
            </a:r>
            <a:endParaRPr lang="en-US" sz="1500" dirty="0"/>
          </a:p>
        </p:txBody>
      </p:sp>
      <p:sp>
        <p:nvSpPr>
          <p:cNvPr id="27" name="Next dot 2"/>
          <p:cNvSpPr/>
          <p:nvPr/>
        </p:nvSpPr>
        <p:spPr>
          <a:xfrm>
            <a:off x="6446520" y="3044952"/>
            <a:ext cx="402336" cy="402336"/>
          </a:xfrm>
          <a:prstGeom prst="ellipse">
            <a:avLst/>
          </a:prstGeom>
          <a:solidFill>
            <a:schemeClr val="accent1"/>
          </a:solidFill>
          <a:ln w="12700">
            <a:solidFill>
              <a:schemeClr val="accent1"/>
            </a:solidFill>
            <a:prstDash val="solid"/>
          </a:ln>
        </p:spPr>
      </p:sp>
      <p:sp>
        <p:nvSpPr>
          <p:cNvPr id="28" name="Next number 2"/>
          <p:cNvSpPr txBox="1"/>
          <p:nvPr/>
        </p:nvSpPr>
        <p:spPr>
          <a:xfrm>
            <a:off x="6446520" y="3044952"/>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9" name="Next text 2"/>
          <p:cNvSpPr txBox="1"/>
          <p:nvPr/>
        </p:nvSpPr>
        <p:spPr>
          <a:xfrm>
            <a:off x="7040880" y="2971800"/>
            <a:ext cx="4434840" cy="548640"/>
          </a:xfrm>
          <a:prstGeom prst="rect">
            <a:avLst/>
          </a:prstGeom>
          <a:noFill/>
          <a:ln/>
        </p:spPr>
        <p:txBody>
          <a:bodyPr wrap="square" lIns="0" tIns="0" rIns="0" bIns="0" rtlCol="0" anchor="ctr"/>
          <a:lstStyle/>
          <a:p>
            <a:pPr indent="0" marL="0">
              <a:buNone/>
            </a:pPr>
            <a:r>
              <a:rPr lang="en-US" sz="1500" dirty="0">
                <a:solidFill>
                  <a:schemeClr val="tx1"/>
                </a:solidFill>
              </a:rPr>
              <a:t>Calibration and thresholds for the cost of a miss</a:t>
            </a:r>
            <a:endParaRPr lang="en-US" sz="1500" dirty="0"/>
          </a:p>
        </p:txBody>
      </p:sp>
      <p:sp>
        <p:nvSpPr>
          <p:cNvPr id="30" name="Next dot 3"/>
          <p:cNvSpPr/>
          <p:nvPr/>
        </p:nvSpPr>
        <p:spPr>
          <a:xfrm>
            <a:off x="6446520" y="3685032"/>
            <a:ext cx="402336" cy="402336"/>
          </a:xfrm>
          <a:prstGeom prst="ellipse">
            <a:avLst/>
          </a:prstGeom>
          <a:solidFill>
            <a:schemeClr val="accent1"/>
          </a:solidFill>
          <a:ln w="12700">
            <a:solidFill>
              <a:schemeClr val="accent1"/>
            </a:solidFill>
            <a:prstDash val="solid"/>
          </a:ln>
        </p:spPr>
      </p:sp>
      <p:sp>
        <p:nvSpPr>
          <p:cNvPr id="31" name="Next number 3"/>
          <p:cNvSpPr txBox="1"/>
          <p:nvPr/>
        </p:nvSpPr>
        <p:spPr>
          <a:xfrm>
            <a:off x="6446520" y="3685032"/>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2" name="Next text 3"/>
          <p:cNvSpPr txBox="1"/>
          <p:nvPr/>
        </p:nvSpPr>
        <p:spPr>
          <a:xfrm>
            <a:off x="7040880" y="3611880"/>
            <a:ext cx="4434840" cy="548640"/>
          </a:xfrm>
          <a:prstGeom prst="rect">
            <a:avLst/>
          </a:prstGeom>
          <a:noFill/>
          <a:ln/>
        </p:spPr>
        <p:txBody>
          <a:bodyPr wrap="square" lIns="0" tIns="0" rIns="0" bIns="0" rtlCol="0" anchor="ctr"/>
          <a:lstStyle/>
          <a:p>
            <a:pPr indent="0" marL="0">
              <a:buNone/>
            </a:pPr>
            <a:r>
              <a:rPr lang="en-US" sz="1500" dirty="0">
                <a:solidFill>
                  <a:schemeClr val="tx1"/>
                </a:solidFill>
              </a:rPr>
              <a:t>Robustness training: noise, blur, compression</a:t>
            </a:r>
            <a:endParaRPr lang="en-US" sz="1500" dirty="0"/>
          </a:p>
        </p:txBody>
      </p:sp>
      <p:sp>
        <p:nvSpPr>
          <p:cNvPr id="33" name="Next dot 4"/>
          <p:cNvSpPr/>
          <p:nvPr/>
        </p:nvSpPr>
        <p:spPr>
          <a:xfrm>
            <a:off x="6446520" y="4325112"/>
            <a:ext cx="402336" cy="402336"/>
          </a:xfrm>
          <a:prstGeom prst="ellipse">
            <a:avLst/>
          </a:prstGeom>
          <a:solidFill>
            <a:schemeClr val="accent1"/>
          </a:solidFill>
          <a:ln w="12700">
            <a:solidFill>
              <a:schemeClr val="accent1"/>
            </a:solidFill>
            <a:prstDash val="solid"/>
          </a:ln>
        </p:spPr>
      </p:sp>
      <p:sp>
        <p:nvSpPr>
          <p:cNvPr id="34" name="Next number 4"/>
          <p:cNvSpPr txBox="1"/>
          <p:nvPr/>
        </p:nvSpPr>
        <p:spPr>
          <a:xfrm>
            <a:off x="6446520" y="4325112"/>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5" name="Next text 4"/>
          <p:cNvSpPr txBox="1"/>
          <p:nvPr/>
        </p:nvSpPr>
        <p:spPr>
          <a:xfrm>
            <a:off x="7040880" y="4251960"/>
            <a:ext cx="4434840" cy="548640"/>
          </a:xfrm>
          <a:prstGeom prst="rect">
            <a:avLst/>
          </a:prstGeom>
          <a:noFill/>
          <a:ln/>
        </p:spPr>
        <p:txBody>
          <a:bodyPr wrap="square" lIns="0" tIns="0" rIns="0" bIns="0" rtlCol="0" anchor="ctr"/>
          <a:lstStyle/>
          <a:p>
            <a:pPr indent="0" marL="0">
              <a:buNone/>
            </a:pPr>
            <a:r>
              <a:rPr lang="en-US" sz="1500" dirty="0">
                <a:solidFill>
                  <a:schemeClr val="tx1"/>
                </a:solidFill>
              </a:rPr>
              <a:t>Faithfulness tests for the explanations</a:t>
            </a:r>
            <a:endParaRPr lang="en-US" sz="1500" dirty="0"/>
          </a:p>
        </p:txBody>
      </p:sp>
      <p:sp>
        <p:nvSpPr>
          <p:cNvPr id="36" name="Next dot 5"/>
          <p:cNvSpPr/>
          <p:nvPr/>
        </p:nvSpPr>
        <p:spPr>
          <a:xfrm>
            <a:off x="6446520" y="4965192"/>
            <a:ext cx="402336" cy="402336"/>
          </a:xfrm>
          <a:prstGeom prst="ellipse">
            <a:avLst/>
          </a:prstGeom>
          <a:solidFill>
            <a:schemeClr val="accent1"/>
          </a:solidFill>
          <a:ln w="12700">
            <a:solidFill>
              <a:schemeClr val="accent1"/>
            </a:solidFill>
            <a:prstDash val="solid"/>
          </a:ln>
        </p:spPr>
      </p:sp>
      <p:sp>
        <p:nvSpPr>
          <p:cNvPr id="37" name="Next number 5"/>
          <p:cNvSpPr txBox="1"/>
          <p:nvPr/>
        </p:nvSpPr>
        <p:spPr>
          <a:xfrm>
            <a:off x="6446520" y="4965192"/>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8" name="Next text 5"/>
          <p:cNvSpPr txBox="1"/>
          <p:nvPr/>
        </p:nvSpPr>
        <p:spPr>
          <a:xfrm>
            <a:off x="7040880" y="4892040"/>
            <a:ext cx="4434840" cy="548640"/>
          </a:xfrm>
          <a:prstGeom prst="rect">
            <a:avLst/>
          </a:prstGeom>
          <a:noFill/>
          <a:ln/>
        </p:spPr>
        <p:txBody>
          <a:bodyPr wrap="square" lIns="0" tIns="0" rIns="0" bIns="0" rtlCol="0" anchor="ctr"/>
          <a:lstStyle/>
          <a:p>
            <a:pPr indent="0" marL="0">
              <a:buNone/>
            </a:pPr>
            <a:r>
              <a:rPr lang="en-US" sz="1500" dirty="0">
                <a:solidFill>
                  <a:schemeClr val="tx1"/>
                </a:solidFill>
              </a:rPr>
              <a:t>A learned fusion once paired data exists</a:t>
            </a:r>
            <a:endParaRPr lang="en-US" sz="1500" dirty="0"/>
          </a:p>
        </p:txBody>
      </p:sp>
      <p:sp>
        <p:nvSpPr>
          <p:cNvPr id="39" name="Next dot 6"/>
          <p:cNvSpPr/>
          <p:nvPr/>
        </p:nvSpPr>
        <p:spPr>
          <a:xfrm>
            <a:off x="6446520" y="5605272"/>
            <a:ext cx="402336" cy="402336"/>
          </a:xfrm>
          <a:prstGeom prst="ellipse">
            <a:avLst/>
          </a:prstGeom>
          <a:solidFill>
            <a:schemeClr val="accent1"/>
          </a:solidFill>
          <a:ln w="12700">
            <a:solidFill>
              <a:schemeClr val="accent1"/>
            </a:solidFill>
            <a:prstDash val="solid"/>
          </a:ln>
        </p:spPr>
      </p:sp>
      <p:sp>
        <p:nvSpPr>
          <p:cNvPr id="40" name="Next number 6"/>
          <p:cNvSpPr txBox="1"/>
          <p:nvPr/>
        </p:nvSpPr>
        <p:spPr>
          <a:xfrm>
            <a:off x="6446520" y="5605272"/>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41" name="Next text 6"/>
          <p:cNvSpPr txBox="1"/>
          <p:nvPr/>
        </p:nvSpPr>
        <p:spPr>
          <a:xfrm>
            <a:off x="7040880" y="5532120"/>
            <a:ext cx="4434840" cy="548640"/>
          </a:xfrm>
          <a:prstGeom prst="rect">
            <a:avLst/>
          </a:prstGeom>
          <a:noFill/>
          <a:ln/>
        </p:spPr>
        <p:txBody>
          <a:bodyPr wrap="square" lIns="0" tIns="0" rIns="0" bIns="0" rtlCol="0" anchor="ctr"/>
          <a:lstStyle/>
          <a:p>
            <a:pPr indent="0" marL="0">
              <a:buNone/>
            </a:pPr>
            <a:r>
              <a:rPr lang="en-US" sz="1500" dirty="0">
                <a:solidFill>
                  <a:schemeClr val="tx1"/>
                </a:solidFill>
              </a:rPr>
              <a:t>Engineering: browser tests, CI, pinned versions</a:t>
            </a:r>
            <a:endParaRPr lang="en-US" sz="15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7F9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Closing title"/>
          <p:cNvSpPr txBox="1"/>
          <p:nvPr/>
        </p:nvSpPr>
        <p:spPr>
          <a:xfrm>
            <a:off x="548640" y="1371600"/>
            <a:ext cx="7315200" cy="1188720"/>
          </a:xfrm>
          <a:prstGeom prst="rect">
            <a:avLst/>
          </a:prstGeom>
          <a:noFill/>
          <a:ln/>
        </p:spPr>
        <p:txBody>
          <a:bodyPr wrap="square" lIns="0" tIns="0" rIns="0" bIns="0" rtlCol="0" anchor="ctr"/>
          <a:lstStyle/>
          <a:p>
            <a:pPr indent="0" marL="0">
              <a:buNone/>
            </a:pPr>
            <a:r>
              <a:rPr lang="en-US" sz="6000" b="1" dirty="0">
                <a:solidFill>
                  <a:schemeClr val="tx1"/>
                </a:solidFill>
                <a:latin typeface="+mj-lt" pitchFamily="34" charset="0"/>
                <a:ea typeface="+mj-lt" pitchFamily="34" charset="-122"/>
                <a:cs typeface="+mj-lt" pitchFamily="34" charset="-120"/>
              </a:rPr>
              <a:t>Thank you</a:t>
            </a:r>
            <a:endParaRPr lang="en-US" sz="6000" dirty="0"/>
          </a:p>
        </p:txBody>
      </p:sp>
      <p:sp>
        <p:nvSpPr>
          <p:cNvPr id="3" name="Closing subtitle"/>
          <p:cNvSpPr txBox="1"/>
          <p:nvPr/>
        </p:nvSpPr>
        <p:spPr>
          <a:xfrm>
            <a:off x="548640" y="2606040"/>
            <a:ext cx="7315200" cy="640080"/>
          </a:xfrm>
          <a:prstGeom prst="rect">
            <a:avLst/>
          </a:prstGeom>
          <a:noFill/>
          <a:ln/>
        </p:spPr>
        <p:txBody>
          <a:bodyPr wrap="square" lIns="0" tIns="0" rIns="0" bIns="0" rtlCol="0" anchor="t"/>
          <a:lstStyle/>
          <a:p>
            <a:pPr indent="0" marL="0">
              <a:buNone/>
            </a:pPr>
            <a:r>
              <a:rPr lang="en-US" sz="2600" dirty="0">
                <a:solidFill>
                  <a:schemeClr val="accent1"/>
                </a:solidFill>
              </a:rPr>
              <a:t>Questions, and a live demo</a:t>
            </a:r>
            <a:endParaRPr lang="en-US" sz="2600" dirty="0"/>
          </a:p>
        </p:txBody>
      </p:sp>
      <p:sp>
        <p:nvSpPr>
          <p:cNvPr id="4" name="Closing chip MS"/>
          <p:cNvSpPr/>
          <p:nvPr/>
        </p:nvSpPr>
        <p:spPr>
          <a:xfrm>
            <a:off x="548640" y="3977640"/>
            <a:ext cx="2606040" cy="502920"/>
          </a:xfrm>
          <a:prstGeom prst="roundRect">
            <a:avLst>
              <a:gd name="adj" fmla="val 49091"/>
            </a:avLst>
          </a:prstGeom>
          <a:solidFill>
            <a:schemeClr val="bg2">
              <a:alpha val="82000"/>
            </a:schemeClr>
          </a:solidFill>
          <a:ln w="9525">
            <a:solidFill>
              <a:srgbClr val="FFFFFF">
                <a:alpha val="18000"/>
              </a:srgbClr>
            </a:solidFill>
            <a:prstDash val="solid"/>
          </a:ln>
        </p:spPr>
      </p:sp>
      <p:sp>
        <p:nvSpPr>
          <p:cNvPr id="5" name="Closing name MS"/>
          <p:cNvSpPr txBox="1"/>
          <p:nvPr/>
        </p:nvSpPr>
        <p:spPr>
          <a:xfrm>
            <a:off x="731520" y="3977640"/>
            <a:ext cx="2331720" cy="502920"/>
          </a:xfrm>
          <a:prstGeom prst="rect">
            <a:avLst/>
          </a:prstGeom>
          <a:noFill/>
          <a:ln/>
        </p:spPr>
        <p:txBody>
          <a:bodyPr wrap="square" lIns="0" tIns="0" rIns="0" bIns="0" rtlCol="0" anchor="ctr"/>
          <a:lstStyle/>
          <a:p>
            <a:pPr indent="0" marL="0">
              <a:buNone/>
            </a:pPr>
            <a:r>
              <a:rPr lang="en-US" sz="1400" b="1" dirty="0">
                <a:solidFill>
                  <a:schemeClr val="tx1"/>
                </a:solidFill>
              </a:rPr>
              <a:t>Malhar Srivatsav</a:t>
            </a:r>
            <a:endParaRPr lang="en-US" sz="1400" dirty="0"/>
          </a:p>
        </p:txBody>
      </p:sp>
      <p:sp>
        <p:nvSpPr>
          <p:cNvPr id="6" name="Closing chip SB"/>
          <p:cNvSpPr/>
          <p:nvPr/>
        </p:nvSpPr>
        <p:spPr>
          <a:xfrm>
            <a:off x="3310128" y="3977640"/>
            <a:ext cx="2606040" cy="502920"/>
          </a:xfrm>
          <a:prstGeom prst="roundRect">
            <a:avLst>
              <a:gd name="adj" fmla="val 49091"/>
            </a:avLst>
          </a:prstGeom>
          <a:solidFill>
            <a:schemeClr val="bg2">
              <a:alpha val="82000"/>
            </a:schemeClr>
          </a:solidFill>
          <a:ln w="9525">
            <a:solidFill>
              <a:srgbClr val="FFFFFF">
                <a:alpha val="18000"/>
              </a:srgbClr>
            </a:solidFill>
            <a:prstDash val="solid"/>
          </a:ln>
        </p:spPr>
      </p:sp>
      <p:sp>
        <p:nvSpPr>
          <p:cNvPr id="7" name="Closing name SB"/>
          <p:cNvSpPr txBox="1"/>
          <p:nvPr/>
        </p:nvSpPr>
        <p:spPr>
          <a:xfrm>
            <a:off x="3493008" y="3977640"/>
            <a:ext cx="2331720" cy="502920"/>
          </a:xfrm>
          <a:prstGeom prst="rect">
            <a:avLst/>
          </a:prstGeom>
          <a:noFill/>
          <a:ln/>
        </p:spPr>
        <p:txBody>
          <a:bodyPr wrap="square" lIns="0" tIns="0" rIns="0" bIns="0" rtlCol="0" anchor="ctr"/>
          <a:lstStyle/>
          <a:p>
            <a:pPr indent="0" marL="0">
              <a:buNone/>
            </a:pPr>
            <a:r>
              <a:rPr lang="en-US" sz="1400" b="1" dirty="0">
                <a:solidFill>
                  <a:schemeClr val="tx1"/>
                </a:solidFill>
              </a:rPr>
              <a:t>Sathwik Hejamady Bhat</a:t>
            </a:r>
            <a:endParaRPr lang="en-US" sz="1400" dirty="0"/>
          </a:p>
        </p:txBody>
      </p:sp>
      <p:sp>
        <p:nvSpPr>
          <p:cNvPr id="8" name="Closing chip HR"/>
          <p:cNvSpPr/>
          <p:nvPr/>
        </p:nvSpPr>
        <p:spPr>
          <a:xfrm>
            <a:off x="6071616" y="3977640"/>
            <a:ext cx="2606040" cy="502920"/>
          </a:xfrm>
          <a:prstGeom prst="roundRect">
            <a:avLst>
              <a:gd name="adj" fmla="val 49091"/>
            </a:avLst>
          </a:prstGeom>
          <a:solidFill>
            <a:schemeClr val="bg2">
              <a:alpha val="82000"/>
            </a:schemeClr>
          </a:solidFill>
          <a:ln w="9525">
            <a:solidFill>
              <a:srgbClr val="FFFFFF">
                <a:alpha val="18000"/>
              </a:srgbClr>
            </a:solidFill>
            <a:prstDash val="solid"/>
          </a:ln>
        </p:spPr>
      </p:sp>
      <p:sp>
        <p:nvSpPr>
          <p:cNvPr id="9" name="Closing name HR"/>
          <p:cNvSpPr txBox="1"/>
          <p:nvPr/>
        </p:nvSpPr>
        <p:spPr>
          <a:xfrm>
            <a:off x="6254496" y="3977640"/>
            <a:ext cx="2331720" cy="502920"/>
          </a:xfrm>
          <a:prstGeom prst="rect">
            <a:avLst/>
          </a:prstGeom>
          <a:noFill/>
          <a:ln/>
        </p:spPr>
        <p:txBody>
          <a:bodyPr wrap="square" lIns="0" tIns="0" rIns="0" bIns="0" rtlCol="0" anchor="ctr"/>
          <a:lstStyle/>
          <a:p>
            <a:pPr indent="0" marL="0">
              <a:buNone/>
            </a:pPr>
            <a:r>
              <a:rPr lang="en-US" sz="1400" b="1" dirty="0">
                <a:solidFill>
                  <a:schemeClr val="tx1"/>
                </a:solidFill>
              </a:rPr>
              <a:t>Harit Raval</a:t>
            </a:r>
            <a:endParaRPr lang="en-US" sz="1400" dirty="0"/>
          </a:p>
        </p:txBody>
      </p:sp>
      <p:sp>
        <p:nvSpPr>
          <p:cNvPr id="10" name="Closing chip SJ"/>
          <p:cNvSpPr/>
          <p:nvPr/>
        </p:nvSpPr>
        <p:spPr>
          <a:xfrm>
            <a:off x="8833104" y="3977640"/>
            <a:ext cx="2606040" cy="502920"/>
          </a:xfrm>
          <a:prstGeom prst="roundRect">
            <a:avLst>
              <a:gd name="adj" fmla="val 49091"/>
            </a:avLst>
          </a:prstGeom>
          <a:solidFill>
            <a:schemeClr val="bg2">
              <a:alpha val="82000"/>
            </a:schemeClr>
          </a:solidFill>
          <a:ln w="9525">
            <a:solidFill>
              <a:srgbClr val="FFFFFF">
                <a:alpha val="18000"/>
              </a:srgbClr>
            </a:solidFill>
            <a:prstDash val="solid"/>
          </a:ln>
        </p:spPr>
      </p:sp>
      <p:sp>
        <p:nvSpPr>
          <p:cNvPr id="11" name="Closing name SJ"/>
          <p:cNvSpPr txBox="1"/>
          <p:nvPr/>
        </p:nvSpPr>
        <p:spPr>
          <a:xfrm>
            <a:off x="9015984" y="3977640"/>
            <a:ext cx="2331720" cy="502920"/>
          </a:xfrm>
          <a:prstGeom prst="rect">
            <a:avLst/>
          </a:prstGeom>
          <a:noFill/>
          <a:ln/>
        </p:spPr>
        <p:txBody>
          <a:bodyPr wrap="square" lIns="0" tIns="0" rIns="0" bIns="0" rtlCol="0" anchor="ctr"/>
          <a:lstStyle/>
          <a:p>
            <a:pPr indent="0" marL="0">
              <a:buNone/>
            </a:pPr>
            <a:r>
              <a:rPr lang="en-US" sz="1400" b="1" dirty="0">
                <a:solidFill>
                  <a:schemeClr val="tx1"/>
                </a:solidFill>
              </a:rPr>
              <a:t>Shreya Jain</a:t>
            </a:r>
            <a:endParaRPr lang="en-US" sz="1400" dirty="0"/>
          </a:p>
        </p:txBody>
      </p:sp>
      <p:sp>
        <p:nvSpPr>
          <p:cNvPr id="12" name="Closing chip TP"/>
          <p:cNvSpPr/>
          <p:nvPr/>
        </p:nvSpPr>
        <p:spPr>
          <a:xfrm>
            <a:off x="548640" y="4636008"/>
            <a:ext cx="2606040" cy="502920"/>
          </a:xfrm>
          <a:prstGeom prst="roundRect">
            <a:avLst>
              <a:gd name="adj" fmla="val 49091"/>
            </a:avLst>
          </a:prstGeom>
          <a:solidFill>
            <a:schemeClr val="bg2">
              <a:alpha val="82000"/>
            </a:schemeClr>
          </a:solidFill>
          <a:ln w="9525">
            <a:solidFill>
              <a:srgbClr val="FFFFFF">
                <a:alpha val="18000"/>
              </a:srgbClr>
            </a:solidFill>
            <a:prstDash val="solid"/>
          </a:ln>
        </p:spPr>
      </p:sp>
      <p:sp>
        <p:nvSpPr>
          <p:cNvPr id="13" name="Closing name TP"/>
          <p:cNvSpPr txBox="1"/>
          <p:nvPr/>
        </p:nvSpPr>
        <p:spPr>
          <a:xfrm>
            <a:off x="731520" y="4636008"/>
            <a:ext cx="2331720" cy="502920"/>
          </a:xfrm>
          <a:prstGeom prst="rect">
            <a:avLst/>
          </a:prstGeom>
          <a:noFill/>
          <a:ln/>
        </p:spPr>
        <p:txBody>
          <a:bodyPr wrap="square" lIns="0" tIns="0" rIns="0" bIns="0" rtlCol="0" anchor="ctr"/>
          <a:lstStyle/>
          <a:p>
            <a:pPr indent="0" marL="0">
              <a:buNone/>
            </a:pPr>
            <a:r>
              <a:rPr lang="en-US" sz="1400" b="1" dirty="0">
                <a:solidFill>
                  <a:schemeClr val="tx1"/>
                </a:solidFill>
              </a:rPr>
              <a:t>Taneesha Rajiv Prasad</a:t>
            </a:r>
            <a:endParaRPr lang="en-US" sz="1400" dirty="0"/>
          </a:p>
        </p:txBody>
      </p:sp>
      <p:sp>
        <p:nvSpPr>
          <p:cNvPr id="14" name="Closing chip NH"/>
          <p:cNvSpPr/>
          <p:nvPr/>
        </p:nvSpPr>
        <p:spPr>
          <a:xfrm>
            <a:off x="3310128" y="4636008"/>
            <a:ext cx="2606040" cy="502920"/>
          </a:xfrm>
          <a:prstGeom prst="roundRect">
            <a:avLst>
              <a:gd name="adj" fmla="val 49091"/>
            </a:avLst>
          </a:prstGeom>
          <a:solidFill>
            <a:schemeClr val="bg2">
              <a:alpha val="82000"/>
            </a:schemeClr>
          </a:solidFill>
          <a:ln w="9525">
            <a:solidFill>
              <a:srgbClr val="FFFFFF">
                <a:alpha val="18000"/>
              </a:srgbClr>
            </a:solidFill>
            <a:prstDash val="solid"/>
          </a:ln>
        </p:spPr>
      </p:sp>
      <p:sp>
        <p:nvSpPr>
          <p:cNvPr id="15" name="Closing name NH"/>
          <p:cNvSpPr txBox="1"/>
          <p:nvPr/>
        </p:nvSpPr>
        <p:spPr>
          <a:xfrm>
            <a:off x="3493008" y="4636008"/>
            <a:ext cx="2331720" cy="502920"/>
          </a:xfrm>
          <a:prstGeom prst="rect">
            <a:avLst/>
          </a:prstGeom>
          <a:noFill/>
          <a:ln/>
        </p:spPr>
        <p:txBody>
          <a:bodyPr wrap="square" lIns="0" tIns="0" rIns="0" bIns="0" rtlCol="0" anchor="ctr"/>
          <a:lstStyle/>
          <a:p>
            <a:pPr indent="0" marL="0">
              <a:buNone/>
            </a:pPr>
            <a:r>
              <a:rPr lang="en-US" sz="1400" b="1" dirty="0">
                <a:solidFill>
                  <a:schemeClr val="tx1"/>
                </a:solidFill>
              </a:rPr>
              <a:t>Nithyashree Hebbar</a:t>
            </a:r>
            <a:endParaRPr lang="en-US" sz="1400" dirty="0"/>
          </a:p>
        </p:txBody>
      </p:sp>
      <p:sp>
        <p:nvSpPr>
          <p:cNvPr id="16" name="Closing chip AG"/>
          <p:cNvSpPr/>
          <p:nvPr/>
        </p:nvSpPr>
        <p:spPr>
          <a:xfrm>
            <a:off x="6071616" y="4636008"/>
            <a:ext cx="2606040" cy="502920"/>
          </a:xfrm>
          <a:prstGeom prst="roundRect">
            <a:avLst>
              <a:gd name="adj" fmla="val 49091"/>
            </a:avLst>
          </a:prstGeom>
          <a:solidFill>
            <a:schemeClr val="bg2">
              <a:alpha val="82000"/>
            </a:schemeClr>
          </a:solidFill>
          <a:ln w="9525">
            <a:solidFill>
              <a:srgbClr val="FFFFFF">
                <a:alpha val="18000"/>
              </a:srgbClr>
            </a:solidFill>
            <a:prstDash val="solid"/>
          </a:ln>
        </p:spPr>
      </p:sp>
      <p:sp>
        <p:nvSpPr>
          <p:cNvPr id="17" name="Closing name AG"/>
          <p:cNvSpPr txBox="1"/>
          <p:nvPr/>
        </p:nvSpPr>
        <p:spPr>
          <a:xfrm>
            <a:off x="6254496" y="4636008"/>
            <a:ext cx="2331720" cy="502920"/>
          </a:xfrm>
          <a:prstGeom prst="rect">
            <a:avLst/>
          </a:prstGeom>
          <a:noFill/>
          <a:ln/>
        </p:spPr>
        <p:txBody>
          <a:bodyPr wrap="square" lIns="0" tIns="0" rIns="0" bIns="0" rtlCol="0" anchor="ctr"/>
          <a:lstStyle/>
          <a:p>
            <a:pPr indent="0" marL="0">
              <a:buNone/>
            </a:pPr>
            <a:r>
              <a:rPr lang="en-US" sz="1400" b="1" dirty="0">
                <a:solidFill>
                  <a:schemeClr val="tx1"/>
                </a:solidFill>
              </a:rPr>
              <a:t>Arshi Garg</a:t>
            </a:r>
            <a:endParaRPr lang="en-US" sz="1400" dirty="0"/>
          </a:p>
        </p:txBody>
      </p:sp>
      <p:sp>
        <p:nvSpPr>
          <p:cNvPr id="18" name="Closing disclaimer"/>
          <p:cNvSpPr txBox="1"/>
          <p:nvPr/>
        </p:nvSpPr>
        <p:spPr>
          <a:xfrm>
            <a:off x="548640" y="6172200"/>
            <a:ext cx="8229600" cy="274320"/>
          </a:xfrm>
          <a:prstGeom prst="rect">
            <a:avLst/>
          </a:prstGeom>
          <a:noFill/>
          <a:ln/>
        </p:spPr>
        <p:txBody>
          <a:bodyPr wrap="square" lIns="0" tIns="0" rIns="0" bIns="0" rtlCol="0" anchor="t"/>
          <a:lstStyle/>
          <a:p>
            <a:pPr indent="0" marL="0">
              <a:buNone/>
            </a:pPr>
            <a:r>
              <a:rPr lang="en-US" sz="1200" dirty="0">
                <a:solidFill>
                  <a:schemeClr val="tx2"/>
                </a:solidFill>
              </a:rPr>
              <a:t>Research prototype · not a medical device · all data synthetic</a:t>
            </a:r>
            <a:endParaRPr lang="en-US" sz="1200" dirty="0"/>
          </a:p>
        </p:txBody>
      </p:sp>
      <p:sp>
        <p:nvSpPr>
          <p:cNvPr id="19" name="Closing link"/>
          <p:cNvSpPr txBox="1"/>
          <p:nvPr/>
        </p:nvSpPr>
        <p:spPr>
          <a:xfrm>
            <a:off x="548640" y="6446520"/>
            <a:ext cx="8229600" cy="274320"/>
          </a:xfrm>
          <a:prstGeom prst="rect">
            <a:avLst/>
          </a:prstGeom>
          <a:noFill/>
          <a:ln/>
        </p:spPr>
        <p:txBody>
          <a:bodyPr wrap="square" lIns="0" tIns="0" rIns="0" bIns="0" rtlCol="0" anchor="t"/>
          <a:lstStyle/>
          <a:p>
            <a:pPr indent="0" marL="0">
              <a:buNone/>
            </a:pPr>
            <a:r>
              <a:rPr lang="en-US" sz="1200" dirty="0">
                <a:solidFill>
                  <a:schemeClr val="accent1"/>
                </a:solidFill>
              </a:rPr>
              <a:t>github.com/ByteSizedMe/alzheimers-early-detection</a:t>
            </a:r>
            <a:endParaRPr lang="en-US" sz="1200" dirty="0"/>
          </a:p>
        </p:txBody>
      </p:sp>
    </p:spTree>
  </p:cSld>
  <p:clrMapOvr>
    <a:masterClrMapping/>
  </p:clrMapOvr>
</p:sld>
</file>

<file path=ppt/theme/theme1.xml><?xml version="1.0" encoding="utf-8"?>
<a:theme xmlns:a="http://schemas.openxmlformats.org/drawingml/2006/main" name="NeuroAD Mauve">
  <a:themeElements>
    <a:clrScheme name="NeuroAD Mauve">
      <a:dk1>
        <a:srgbClr val="F4F1F4"/>
      </a:dk1>
      <a:lt1>
        <a:srgbClr val="0E0A0F"/>
      </a:lt1>
      <a:dk2>
        <a:srgbClr val="B3A9B4"/>
      </a:dk2>
      <a:lt2>
        <a:srgbClr val="1E1720"/>
      </a:lt2>
      <a:accent1>
        <a:srgbClr val="C99BDB"/>
      </a:accent1>
      <a:accent2>
        <a:srgbClr val="F43F5E"/>
      </a:accent2>
      <a:accent3>
        <a:srgbClr val="34D399"/>
      </a:accent3>
      <a:accent4>
        <a:srgbClr val="FBBF24"/>
      </a:accent4>
      <a:accent5>
        <a:srgbClr val="FB923C"/>
      </a:accent5>
      <a:accent6>
        <a:srgbClr val="8E7F91"/>
      </a:accent6>
      <a:hlink>
        <a:srgbClr val="C99BDB"/>
      </a:hlink>
      <a:folHlink>
        <a:srgbClr val="8E7F91"/>
      </a:folHlink>
    </a:clrScheme>
    <a:fontScheme name="NeuroAD Mauv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Early Detection of Alzheimer's from MRI and Handwriting</dc:title>
  <dc:subject>PptxGenJS Presentation</dc:subject>
  <dc:creator>Malhar Srivatsav, Sathwik Hejamady Bhat, Harit Raval, Shreya Jain, Taneesha Rajiv Prasad, Nithyashree Hebbar, Arshi Garg</dc:creator>
  <cp:lastModifiedBy>Malhar Srivatsav, Sathwik Hejamady Bhat, Harit Raval, Shreya Jain, Taneesha Rajiv Prasad, Nithyashree Hebbar, Arshi Garg</cp:lastModifiedBy>
  <cp:revision>1</cp:revision>
  <dcterms:created xsi:type="dcterms:W3CDTF">2026-10-26T12:46:07Z</dcterms:created>
  <dcterms:modified xsi:type="dcterms:W3CDTF">2026-10-26T12:46:07Z</dcterms:modified>
</cp:coreProperties>
</file>