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4.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5.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6.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7.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8.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8caa3c0-5b46-6b00-f248-2786eb953ff1}">
          <p14:sldIdLst>
            <p14:sldId id="256"/>
          </p14:sldIdLst>
        </p14:section>
        <p14:section name="Malhar Srivatsav" id="{2f28551f-8716-0341-8b22-42eeffe8d8a2}">
          <p14:sldIdLst>
            <p14:sldId id="257"/>
            <p14:sldId id="258"/>
          </p14:sldIdLst>
        </p14:section>
        <p14:section name="Sathwik Hejamady Bhat" id="{dbf4edfb-7e6c-4619-6ce4-b4e78e6273d7}">
          <p14:sldIdLst>
            <p14:sldId id="259"/>
            <p14:sldId id="260"/>
          </p14:sldIdLst>
        </p14:section>
        <p14:section name="Harit Raval" id="{98a1f572-60d1-8782-ecc1-058ad5f811c0}">
          <p14:sldIdLst>
            <p14:sldId id="261"/>
            <p14:sldId id="262"/>
          </p14:sldIdLst>
        </p14:section>
        <p14:section name="Shreya Jain" id="{36364a66-c420-74c3-f7f7-188921199e65}">
          <p14:sldIdLst>
            <p14:sldId id="263"/>
            <p14:sldId id="264"/>
          </p14:sldIdLst>
        </p14:section>
        <p14:section name="Taneesha Rajiv Prasad" id="{b818aae4-a1c4-081e-d32f-d86a47405364}">
          <p14:sldIdLst>
            <p14:sldId id="265"/>
            <p14:sldId id="266"/>
          </p14:sldIdLst>
        </p14:section>
        <p14:section name="Nithyashree Hebbar" id="{20b4346e-7c74-7d15-c188-234f48e188eb}">
          <p14:sldIdLst>
            <p14:sldId id="267"/>
            <p14:sldId id="268"/>
          </p14:sldIdLst>
        </p14:section>
        <p14:section name="Arshi Garg" id="{6ac83c05-15b2-fe13-06ca-28946f87f95c}">
          <p14:sldIdLst>
            <p14:sldId id="269"/>
            <p14:sldId id="270"/>
          </p14:sldIdLst>
        </p14:section>
        <p14:section name="Closing" id="{2a319c77-f93f-c81c-adfa-27d2c2918f00}">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Slices</c:v>
                </c:pt>
              </c:strCache>
            </c:strRef>
          </c:tx>
          <c:spPr>
            <a:solidFill>
              <a:srgbClr val="34D399"/>
            </a:solidFill>
            <a:effectLst/>
          </c:spPr>
          <c:invertIfNegative val="0"/>
          <c:dLbls>
            <c:numFmt formatCode="#,##0" sourceLinked="0"/>
            <c:txPr>
              <a:bodyPr/>
              <a:lstStyle/>
              <a:p>
                <a:pPr>
                  <a:defRPr b="0" i="0" strike="noStrike" sz="1600" u="none">
                    <a:solidFill>
                      <a:srgbClr val="F4F1F4"/>
                    </a:solidFill>
                    <a:latin typeface="+mn-lt"/>
                  </a:defRPr>
                </a:pPr>
              </a:p>
            </c:txPr>
            <c:showLegendKey val="0"/>
            <c:showVal val="1"/>
            <c:showCatName val="0"/>
            <c:showSerName val="0"/>
            <c:showPercent val="0"/>
            <c:showBubbleSize val="0"/>
            <c:showLeaderLines val="0"/>
          </c:dLbls>
          <c:dPt>
            <c:idx val="0"/>
            <c:invertIfNegative val="0"/>
            <c:bubble3D val="0"/>
            <c:spPr>
              <a:solidFill>
                <a:srgbClr val="34D399"/>
              </a:solidFill>
              <a:effectLst/>
            </c:spPr>
          </c:dPt>
          <c:dPt>
            <c:idx val="1"/>
            <c:invertIfNegative val="0"/>
            <c:bubble3D val="0"/>
            <c:spPr>
              <a:solidFill>
                <a:srgbClr val="FBBF24"/>
              </a:solidFill>
              <a:effectLst/>
            </c:spPr>
          </c:dPt>
          <c:dPt>
            <c:idx val="2"/>
            <c:invertIfNegative val="0"/>
            <c:bubble3D val="0"/>
            <c:spPr>
              <a:solidFill>
                <a:srgbClr val="FB923C"/>
              </a:solidFill>
              <a:effectLst/>
            </c:spPr>
          </c:dPt>
          <c:dPt>
            <c:idx val="3"/>
            <c:invertIfNegative val="0"/>
            <c:bubble3D val="0"/>
            <c:spPr>
              <a:solidFill>
                <a:srgbClr val="F43F5E"/>
              </a:solidFill>
              <a:effectLst/>
            </c:spPr>
          </c:dPt>
          <c:cat>
            <c:multiLvlStrRef>
              <c:f>Sheet1!$A$2:$A$5</c:f>
              <c:multiLvlStrCache>
                <c:ptCount val="4"/>
                <c:lvl>
                  <c:pt idx="0">
                    <c:v>NC</c:v>
                  </c:pt>
                  <c:pt idx="1">
                    <c:v>EMCI</c:v>
                  </c:pt>
                  <c:pt idx="2">
                    <c:v>LMCI</c:v>
                  </c:pt>
                  <c:pt idx="3">
                    <c:v>AD</c:v>
                  </c:pt>
                </c:lvl>
              </c:multiLvlStrCache>
            </c:multiLvlStrRef>
          </c:cat>
          <c:val>
            <c:numRef>
              <c:f>Sheet1!$B$2:$B$5</c:f>
              <c:numCache>
                <c:formatCode>General</c:formatCode>
                <c:ptCount val="4"/>
                <c:pt idx="0">
                  <c:v>120</c:v>
                </c:pt>
                <c:pt idx="1">
                  <c:v>74</c:v>
                </c:pt>
                <c:pt idx="2">
                  <c:v>54</c:v>
                </c:pt>
                <c:pt idx="3">
                  <c:v>37</c:v>
                </c:pt>
              </c:numCache>
            </c:numRef>
          </c:val>
        </c:ser>
        <c:dLbls>
          <c:numFmt formatCode="#,##0" sourceLinked="0"/>
          <c:txPr>
            <a:bodyPr/>
            <a:lstStyle/>
            <a:p>
              <a:pPr>
                <a:defRPr b="0" i="0" strike="noStrike" sz="1600" u="none">
                  <a:solidFill>
                    <a:srgbClr val="F4F1F4"/>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B3A9B4"/>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100" b="0" i="0" u="none" strike="noStrike">
                <a:solidFill>
                  <a:srgbClr val="B3A9B4"/>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F4F1F4"/>
                </a:solidFill>
                <a:latin typeface="+mj-lt"/>
              </a:defRPr>
            </a:pPr>
            <a:r>
              <a:rPr sz="1500" b="0" i="0" u="none" strike="noStrike">
                <a:solidFill>
                  <a:srgbClr val="F4F1F4"/>
                </a:solidFill>
                <a:latin typeface="+mj-lt"/>
              </a:rPr>
              <a:t>Imputed variance ÷ true variance (ideal: 1.0)</a:t>
            </a:r>
          </a:p>
        </c:rich>
      </c:tx>
      <c:layout/>
      <c:overlay val="0"/>
    </c:title>
    <c:autoTitleDeleted val="0"/>
    <c:plotArea>
      <c:layout/>
      <c:barChart>
        <c:barDir val="bar"/>
        <c:grouping val="clustered"/>
        <c:varyColors val="0"/>
        <c:ser>
          <c:idx val="0"/>
          <c:order val="0"/>
          <c:tx>
            <c:strRef>
              <c:f>Sheet1!$B$1</c:f>
              <c:strCache>
                <c:ptCount val="1"/>
                <c:pt idx="0">
                  <c:v>Variance ratio</c:v>
                </c:pt>
              </c:strCache>
            </c:strRef>
          </c:tx>
          <c:spPr>
            <a:solidFill>
              <a:srgbClr val="8E7F91"/>
            </a:solidFill>
            <a:effectLst/>
          </c:spPr>
          <c:invertIfNegative val="0"/>
          <c:dLbls>
            <c:numFmt formatCode="0.00" sourceLinked="0"/>
            <c:txPr>
              <a:bodyPr/>
              <a:lstStyle/>
              <a:p>
                <a:pPr>
                  <a:defRPr b="0" i="0" strike="noStrike" sz="1200" u="none">
                    <a:solidFill>
                      <a:srgbClr val="F4F1F4"/>
                    </a:solidFill>
                    <a:latin typeface="+mn-lt"/>
                  </a:defRPr>
                </a:pPr>
              </a:p>
            </c:txPr>
            <c:showLegendKey val="0"/>
            <c:showVal val="1"/>
            <c:showCatName val="0"/>
            <c:showSerName val="0"/>
            <c:showPercent val="0"/>
            <c:showBubbleSize val="0"/>
            <c:showLeaderLines val="0"/>
          </c:dLbls>
          <c:dPt>
            <c:idx val="0"/>
            <c:invertIfNegative val="0"/>
            <c:bubble3D val="0"/>
            <c:spPr>
              <a:solidFill>
                <a:srgbClr val="8E7F91"/>
              </a:solidFill>
              <a:effectLst/>
            </c:spPr>
          </c:dPt>
          <c:dPt>
            <c:idx val="1"/>
            <c:invertIfNegative val="0"/>
            <c:bubble3D val="0"/>
            <c:spPr>
              <a:solidFill>
                <a:srgbClr val="8E7F91"/>
              </a:solidFill>
              <a:effectLst/>
            </c:spPr>
          </c:dPt>
          <c:dPt>
            <c:idx val="2"/>
            <c:invertIfNegative val="0"/>
            <c:bubble3D val="0"/>
            <c:spPr>
              <a:solidFill>
                <a:srgbClr val="8E7F91"/>
              </a:solidFill>
              <a:effectLst/>
            </c:spPr>
          </c:dPt>
          <c:dPt>
            <c:idx val="3"/>
            <c:invertIfNegative val="0"/>
            <c:bubble3D val="0"/>
            <c:spPr>
              <a:solidFill>
                <a:srgbClr val="C99BDB"/>
              </a:solidFill>
              <a:effectLst/>
            </c:spPr>
          </c:dPt>
          <c:dPt>
            <c:idx val="4"/>
            <c:invertIfNegative val="0"/>
            <c:bubble3D val="0"/>
            <c:spPr>
              <a:solidFill>
                <a:srgbClr val="C99BDB"/>
              </a:solidFill>
              <a:effectLst/>
            </c:spPr>
          </c:dPt>
          <c:cat>
            <c:multiLvlStrRef>
              <c:f>Sheet1!$A$2:$A$6</c:f>
              <c:multiLvlStrCache>
                <c:ptCount val="5"/>
                <c:lvl>
                  <c:pt idx="0">
                    <c:v>Column mean</c:v>
                  </c:pt>
                  <c:pt idx="1">
                    <c:v>KNN (k=5)</c:v>
                  </c:pt>
                  <c:pt idx="2">
                    <c:v>Class mean*</c:v>
                  </c:pt>
                  <c:pt idx="3">
                    <c:v>Hot-deck, global</c:v>
                  </c:pt>
                  <c:pt idx="4">
                    <c:v>Hot-deck, class</c:v>
                  </c:pt>
                </c:lvl>
              </c:multiLvlStrCache>
            </c:multiLvlStrRef>
          </c:cat>
          <c:val>
            <c:numRef>
              <c:f>Sheet1!$B$2:$B$6</c:f>
              <c:numCache>
                <c:formatCode>General</c:formatCode>
                <c:ptCount val="5"/>
                <c:pt idx="0">
                  <c:v>0</c:v>
                </c:pt>
                <c:pt idx="1">
                  <c:v>0.5</c:v>
                </c:pt>
                <c:pt idx="2">
                  <c:v>0.57</c:v>
                </c:pt>
                <c:pt idx="3">
                  <c:v>1.01</c:v>
                </c:pt>
                <c:pt idx="4">
                  <c:v>1.04</c:v>
                </c:pt>
              </c:numCache>
            </c:numRef>
          </c:val>
        </c:ser>
        <c:dLbls>
          <c:numFmt formatCode="0.00" sourceLinked="0"/>
          <c:txPr>
            <a:bodyPr/>
            <a:lstStyle/>
            <a:p>
              <a:pPr>
                <a:defRPr b="0" i="0" strike="noStrike" sz="1200" u="none">
                  <a:solidFill>
                    <a:srgbClr val="F4F1F4"/>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B3A9B4"/>
                </a:solidFill>
                <a:latin typeface="+mn-lt"/>
              </a:defRPr>
            </a:pPr>
            <a:endParaRPr lang="en-US"/>
          </a:p>
        </c:txPr>
        <c:crossAx val="2094734552"/>
        <c:crosses val="autoZero"/>
        <c:auto val="1"/>
        <c:lblAlgn val="ctr"/>
        <c:noMultiLvlLbl val="1"/>
      </c:catAx>
      <c:valAx>
        <c:axId val="2094734552"/>
        <c:scaling>
          <c:orientation val="minMax"/>
          <c:max val="1.25"/>
          <c:min val="0"/>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B3A9B4"/>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F4F1F4"/>
                </a:solidFill>
                <a:latin typeface="+mj-lt"/>
              </a:defRPr>
            </a:pPr>
            <a:r>
              <a:rPr sz="1500" b="0" i="0" u="none" strike="noStrike">
                <a:solidFill>
                  <a:srgbClr val="F4F1F4"/>
                </a:solidFill>
                <a:latin typeface="+mj-lt"/>
              </a:rPr>
              <a:t>Downstream macro F1, 30 splits</a:t>
            </a:r>
          </a:p>
        </c:rich>
      </c:tx>
      <c:layout/>
      <c:overlay val="0"/>
    </c:title>
    <c:autoTitleDeleted val="0"/>
    <c:plotArea>
      <c:layout/>
      <c:barChart>
        <c:barDir val="bar"/>
        <c:grouping val="clustered"/>
        <c:varyColors val="0"/>
        <c:ser>
          <c:idx val="0"/>
          <c:order val="0"/>
          <c:tx>
            <c:strRef>
              <c:f>Sheet1!$B$1</c:f>
              <c:strCache>
                <c:ptCount val="1"/>
                <c:pt idx="0">
                  <c:v>Macro F1</c:v>
                </c:pt>
              </c:strCache>
            </c:strRef>
          </c:tx>
          <c:spPr>
            <a:solidFill>
              <a:srgbClr val="8E7F91"/>
            </a:solidFill>
            <a:effectLst/>
          </c:spPr>
          <c:invertIfNegative val="0"/>
          <c:dLbls>
            <c:numFmt formatCode="0.000" sourceLinked="0"/>
            <c:txPr>
              <a:bodyPr/>
              <a:lstStyle/>
              <a:p>
                <a:pPr>
                  <a:defRPr b="0" i="0" strike="noStrike" sz="1200" u="none">
                    <a:solidFill>
                      <a:srgbClr val="F4F1F4"/>
                    </a:solidFill>
                    <a:latin typeface="+mn-lt"/>
                  </a:defRPr>
                </a:pPr>
              </a:p>
            </c:txPr>
            <c:showLegendKey val="0"/>
            <c:showVal val="1"/>
            <c:showCatName val="0"/>
            <c:showSerName val="0"/>
            <c:showPercent val="0"/>
            <c:showBubbleSize val="0"/>
            <c:showLeaderLines val="0"/>
          </c:dLbls>
          <c:dPt>
            <c:idx val="0"/>
            <c:invertIfNegative val="0"/>
            <c:bubble3D val="0"/>
            <c:spPr>
              <a:solidFill>
                <a:srgbClr val="8E7F91"/>
              </a:solidFill>
              <a:effectLst/>
            </c:spPr>
          </c:dPt>
          <c:dPt>
            <c:idx val="1"/>
            <c:invertIfNegative val="0"/>
            <c:bubble3D val="0"/>
            <c:spPr>
              <a:solidFill>
                <a:srgbClr val="8E7F91"/>
              </a:solidFill>
              <a:effectLst/>
            </c:spPr>
          </c:dPt>
          <c:dPt>
            <c:idx val="2"/>
            <c:invertIfNegative val="0"/>
            <c:bubble3D val="0"/>
            <c:spPr>
              <a:solidFill>
                <a:srgbClr val="8E7F91"/>
              </a:solidFill>
              <a:effectLst/>
            </c:spPr>
          </c:dPt>
          <c:dPt>
            <c:idx val="3"/>
            <c:invertIfNegative val="0"/>
            <c:bubble3D val="0"/>
            <c:spPr>
              <a:solidFill>
                <a:srgbClr val="C99BDB"/>
              </a:solidFill>
              <a:effectLst/>
            </c:spPr>
          </c:dPt>
          <c:cat>
            <c:multiLvlStrRef>
              <c:f>Sheet1!$A$2:$A$5</c:f>
              <c:multiLvlStrCache>
                <c:ptCount val="4"/>
                <c:lvl>
                  <c:pt idx="0">
                    <c:v>None</c:v>
                  </c:pt>
                  <c:pt idx="1">
                    <c:v>Class weights</c:v>
                  </c:pt>
                  <c:pt idx="2">
                    <c:v>Random oversampling</c:v>
                  </c:pt>
                  <c:pt idx="3">
                    <c:v>ADASYN</c:v>
                  </c:pt>
                </c:lvl>
              </c:multiLvlStrCache>
            </c:multiLvlStrRef>
          </c:cat>
          <c:val>
            <c:numRef>
              <c:f>Sheet1!$B$2:$B$5</c:f>
              <c:numCache>
                <c:formatCode>General</c:formatCode>
                <c:ptCount val="4"/>
                <c:pt idx="0">
                  <c:v>0.854</c:v>
                </c:pt>
                <c:pt idx="1">
                  <c:v>0.854</c:v>
                </c:pt>
                <c:pt idx="2">
                  <c:v>0.856</c:v>
                </c:pt>
                <c:pt idx="3">
                  <c:v>0.852</c:v>
                </c:pt>
              </c:numCache>
            </c:numRef>
          </c:val>
        </c:ser>
        <c:dLbls>
          <c:numFmt formatCode="0.000" sourceLinked="0"/>
          <c:txPr>
            <a:bodyPr/>
            <a:lstStyle/>
            <a:p>
              <a:pPr>
                <a:defRPr b="0" i="0" strike="noStrike" sz="1200" u="none">
                  <a:solidFill>
                    <a:srgbClr val="F4F1F4"/>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B3A9B4"/>
                </a:solidFill>
                <a:latin typeface="+mn-lt"/>
              </a:defRPr>
            </a:pPr>
            <a:endParaRPr lang="en-US"/>
          </a:p>
        </c:txPr>
        <c:crossAx val="2094734552"/>
        <c:crosses val="autoZero"/>
        <c:auto val="1"/>
        <c:lblAlgn val="ctr"/>
        <c:noMultiLvlLbl val="1"/>
      </c:catAx>
      <c:valAx>
        <c:axId val="2094734552"/>
        <c:scaling>
          <c:orientation val="minMax"/>
          <c:max val="1"/>
          <c:min val="0"/>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B3A9B4"/>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F4F1F4"/>
                </a:solidFill>
                <a:latin typeface="+mj-lt"/>
              </a:defRPr>
            </a:pPr>
            <a:r>
              <a:rPr sz="1500" b="0" i="0" u="none" strike="noStrike">
                <a:solidFill>
                  <a:srgbClr val="F4F1F4"/>
                </a:solidFill>
                <a:latin typeface="+mj-lt"/>
              </a:rPr>
              <a:t>Accuracy by test set</a:t>
            </a:r>
          </a:p>
        </c:rich>
      </c:tx>
      <c:layout/>
      <c:overlay val="0"/>
    </c:title>
    <c:autoTitleDeleted val="0"/>
    <c:plotArea>
      <c:layout/>
      <c:barChart>
        <c:barDir val="col"/>
        <c:grouping val="clustered"/>
        <c:varyColors val="0"/>
        <c:ser>
          <c:idx val="0"/>
          <c:order val="0"/>
          <c:tx>
            <c:strRef>
              <c:f>Sheet1!$B$1</c:f>
              <c:strCache>
                <c:ptCount val="1"/>
                <c:pt idx="0">
                  <c:v>Accuracy</c:v>
                </c:pt>
              </c:strCache>
            </c:strRef>
          </c:tx>
          <c:spPr>
            <a:solidFill>
              <a:srgbClr val="8E7F91"/>
            </a:solidFill>
            <a:effectLst/>
          </c:spPr>
          <c:invertIfNegative val="0"/>
          <c:dLbls>
            <c:numFmt formatCode="0.0%" sourceLinked="0"/>
            <c:txPr>
              <a:bodyPr/>
              <a:lstStyle/>
              <a:p>
                <a:pPr>
                  <a:defRPr b="0" i="0" strike="noStrike" sz="1400" u="none">
                    <a:solidFill>
                      <a:srgbClr val="F4F1F4"/>
                    </a:solidFill>
                    <a:latin typeface="+mn-lt"/>
                  </a:defRPr>
                </a:pPr>
              </a:p>
            </c:txPr>
            <c:showLegendKey val="0"/>
            <c:showVal val="1"/>
            <c:showCatName val="0"/>
            <c:showSerName val="0"/>
            <c:showPercent val="0"/>
            <c:showBubbleSize val="0"/>
            <c:showLeaderLines val="0"/>
          </c:dLbls>
          <c:dPt>
            <c:idx val="0"/>
            <c:invertIfNegative val="0"/>
            <c:bubble3D val="0"/>
            <c:spPr>
              <a:solidFill>
                <a:srgbClr val="8E7F91"/>
              </a:solidFill>
              <a:effectLst/>
            </c:spPr>
          </c:dPt>
          <c:dPt>
            <c:idx val="1"/>
            <c:invertIfNegative val="0"/>
            <c:bubble3D val="0"/>
            <c:spPr>
              <a:solidFill>
                <a:srgbClr val="C99BDB"/>
              </a:solidFill>
              <a:effectLst/>
            </c:spPr>
          </c:dPt>
          <c:dPt>
            <c:idx val="2"/>
            <c:invertIfNegative val="0"/>
            <c:bubble3D val="0"/>
            <c:spPr>
              <a:solidFill>
                <a:srgbClr val="C99BDB"/>
              </a:solidFill>
              <a:effectLst/>
            </c:spPr>
          </c:dPt>
          <c:dPt>
            <c:idx val="3"/>
            <c:invertIfNegative val="0"/>
            <c:bubble3D val="0"/>
            <c:spPr>
              <a:solidFill>
                <a:srgbClr val="C99BDB"/>
              </a:solidFill>
              <a:effectLst/>
            </c:spPr>
          </c:dPt>
          <c:dPt>
            <c:idx val="4"/>
            <c:invertIfNegative val="0"/>
            <c:bubble3D val="0"/>
            <c:spPr>
              <a:solidFill>
                <a:srgbClr val="34D399"/>
              </a:solidFill>
              <a:effectLst/>
            </c:spPr>
          </c:dPt>
          <c:cat>
            <c:multiLvlStrRef>
              <c:f>Sheet1!$A$2:$A$6</c:f>
              <c:multiLvlStrCache>
                <c:ptCount val="5"/>
                <c:lvl>
                  <c:pt idx="0">
                    <c:v>Reported split (n=43)</c:v>
                  </c:pt>
                  <c:pt idx="1">
                    <c:v>Seed 101</c:v>
                  </c:pt>
                  <c:pt idx="2">
                    <c:v>Seed 102</c:v>
                  </c:pt>
                  <c:pt idx="3">
                    <c:v>Seed 103</c:v>
                  </c:pt>
                  <c:pt idx="4">
                    <c:v>Pooled (n=1,065)</c:v>
                  </c:pt>
                </c:lvl>
              </c:multiLvlStrCache>
            </c:multiLvlStrRef>
          </c:cat>
          <c:val>
            <c:numRef>
              <c:f>Sheet1!$B$2:$B$6</c:f>
              <c:numCache>
                <c:formatCode>General</c:formatCode>
                <c:ptCount val="5"/>
                <c:pt idx="0">
                  <c:v>0.953</c:v>
                </c:pt>
                <c:pt idx="1">
                  <c:v>0.986</c:v>
                </c:pt>
                <c:pt idx="2">
                  <c:v>0.975</c:v>
                </c:pt>
                <c:pt idx="3">
                  <c:v>0.975</c:v>
                </c:pt>
                <c:pt idx="4">
                  <c:v>0.978</c:v>
                </c:pt>
              </c:numCache>
            </c:numRef>
          </c:val>
        </c:ser>
        <c:dLbls>
          <c:numFmt formatCode="0.0%" sourceLinked="0"/>
          <c:txPr>
            <a:bodyPr/>
            <a:lstStyle/>
            <a:p>
              <a:pPr>
                <a:defRPr b="0" i="0" strike="noStrike" sz="1400" u="none">
                  <a:solidFill>
                    <a:srgbClr val="F4F1F4"/>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B3A9B4"/>
                </a:solidFill>
                <a:latin typeface="+mn-lt"/>
              </a:defRPr>
            </a:pPr>
            <a:endParaRPr lang="en-US"/>
          </a:p>
        </c:txPr>
        <c:crossAx val="2094734552"/>
        <c:crosses val="autoZero"/>
        <c:auto val="1"/>
        <c:lblAlgn val="ctr"/>
        <c:noMultiLvlLbl val="1"/>
      </c:catAx>
      <c:valAx>
        <c:axId val="2094734552"/>
        <c:scaling>
          <c:orientation val="minMax"/>
          <c:max val="1.2"/>
          <c:min val="0"/>
        </c:scaling>
        <c:delete val="1"/>
        <c:axPos val="l"/>
        <c:numFmt formatCode="General" sourceLinked="0"/>
        <c:majorTickMark val="out"/>
        <c:minorTickMark val="none"/>
        <c:tickLblPos val="nextTo"/>
        <c:spPr>
          <a:ln w="12700" cap="flat">
            <a:noFill/>
            <a:prstDash val="solid"/>
            <a:round/>
          </a:ln>
        </c:spPr>
        <c:txPr>
          <a:bodyPr/>
          <a:lstStyle/>
          <a:p>
            <a:pPr>
              <a:defRPr sz="1100" b="0" i="0" u="none" strike="noStrike">
                <a:solidFill>
                  <a:srgbClr val="B3A9B4"/>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F4F1F4"/>
                </a:solidFill>
                <a:latin typeface="+mj-lt"/>
              </a:defRPr>
            </a:pPr>
            <a:r>
              <a:rPr sz="1500" b="0" i="0" u="none" strike="noStrike">
                <a:solidFill>
                  <a:srgbClr val="F4F1F4"/>
                </a:solidFill>
                <a:latin typeface="+mj-lt"/>
              </a:rPr>
              <a:t>Recall by stage</a:t>
            </a:r>
          </a:p>
        </c:rich>
      </c:tx>
      <c:layout/>
      <c:overlay val="0"/>
    </c:title>
    <c:autoTitleDeleted val="0"/>
    <c:plotArea>
      <c:layout/>
      <c:barChart>
        <c:barDir val="bar"/>
        <c:grouping val="clustered"/>
        <c:varyColors val="0"/>
        <c:ser>
          <c:idx val="0"/>
          <c:order val="0"/>
          <c:tx>
            <c:strRef>
              <c:f>Sheet1!$B$1</c:f>
              <c:strCache>
                <c:ptCount val="1"/>
                <c:pt idx="0">
                  <c:v>Recall</c:v>
                </c:pt>
              </c:strCache>
            </c:strRef>
          </c:tx>
          <c:spPr>
            <a:solidFill>
              <a:srgbClr val="34D399"/>
            </a:solidFill>
            <a:effectLst/>
          </c:spPr>
          <c:invertIfNegative val="0"/>
          <c:dLbls>
            <c:numFmt formatCode="0.000" sourceLinked="0"/>
            <c:txPr>
              <a:bodyPr/>
              <a:lstStyle/>
              <a:p>
                <a:pPr>
                  <a:defRPr b="0" i="0" strike="noStrike" sz="1200" u="none">
                    <a:solidFill>
                      <a:srgbClr val="F4F1F4"/>
                    </a:solidFill>
                    <a:latin typeface="+mn-lt"/>
                  </a:defRPr>
                </a:pPr>
              </a:p>
            </c:txPr>
            <c:showLegendKey val="0"/>
            <c:showVal val="1"/>
            <c:showCatName val="0"/>
            <c:showSerName val="0"/>
            <c:showPercent val="0"/>
            <c:showBubbleSize val="0"/>
            <c:showLeaderLines val="0"/>
          </c:dLbls>
          <c:dPt>
            <c:idx val="0"/>
            <c:invertIfNegative val="0"/>
            <c:bubble3D val="0"/>
            <c:spPr>
              <a:solidFill>
                <a:srgbClr val="34D399"/>
              </a:solidFill>
              <a:effectLst/>
            </c:spPr>
          </c:dPt>
          <c:dPt>
            <c:idx val="1"/>
            <c:invertIfNegative val="0"/>
            <c:bubble3D val="0"/>
            <c:spPr>
              <a:solidFill>
                <a:srgbClr val="FBBF24"/>
              </a:solidFill>
              <a:effectLst/>
            </c:spPr>
          </c:dPt>
          <c:dPt>
            <c:idx val="2"/>
            <c:invertIfNegative val="0"/>
            <c:bubble3D val="0"/>
            <c:spPr>
              <a:solidFill>
                <a:srgbClr val="FB923C"/>
              </a:solidFill>
              <a:effectLst/>
            </c:spPr>
          </c:dPt>
          <c:dPt>
            <c:idx val="3"/>
            <c:invertIfNegative val="0"/>
            <c:bubble3D val="0"/>
            <c:spPr>
              <a:solidFill>
                <a:srgbClr val="F43F5E"/>
              </a:solidFill>
              <a:effectLst/>
            </c:spPr>
          </c:dPt>
          <c:cat>
            <c:multiLvlStrRef>
              <c:f>Sheet1!$A$2:$A$5</c:f>
              <c:multiLvlStrCache>
                <c:ptCount val="4"/>
                <c:lvl>
                  <c:pt idx="0">
                    <c:v>NC</c:v>
                  </c:pt>
                  <c:pt idx="1">
                    <c:v>EMCI</c:v>
                  </c:pt>
                  <c:pt idx="2">
                    <c:v>LMCI</c:v>
                  </c:pt>
                  <c:pt idx="3">
                    <c:v>AD</c:v>
                  </c:pt>
                </c:lvl>
              </c:multiLvlStrCache>
            </c:multiLvlStrRef>
          </c:cat>
          <c:val>
            <c:numRef>
              <c:f>Sheet1!$B$2:$B$5</c:f>
              <c:numCache>
                <c:formatCode>General</c:formatCode>
                <c:ptCount val="4"/>
                <c:pt idx="0">
                  <c:v>0.993</c:v>
                </c:pt>
                <c:pt idx="1">
                  <c:v>0.931</c:v>
                </c:pt>
                <c:pt idx="2">
                  <c:v>1</c:v>
                </c:pt>
                <c:pt idx="3">
                  <c:v>0.993</c:v>
                </c:pt>
              </c:numCache>
            </c:numRef>
          </c:val>
        </c:ser>
        <c:dLbls>
          <c:numFmt formatCode="0.000" sourceLinked="0"/>
          <c:txPr>
            <a:bodyPr/>
            <a:lstStyle/>
            <a:p>
              <a:pPr>
                <a:defRPr b="0" i="0" strike="noStrike" sz="1200" u="none">
                  <a:solidFill>
                    <a:srgbClr val="F4F1F4"/>
                  </a:solidFill>
                  <a:latin typeface="+mn-lt"/>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B3A9B4"/>
                </a:solidFill>
                <a:latin typeface="+mn-lt"/>
              </a:defRPr>
            </a:pPr>
            <a:endParaRPr lang="en-US"/>
          </a:p>
        </c:txPr>
        <c:crossAx val="2094734552"/>
        <c:crosses val="autoZero"/>
        <c:auto val="1"/>
        <c:lblAlgn val="ctr"/>
        <c:noMultiLvlLbl val="1"/>
      </c:catAx>
      <c:valAx>
        <c:axId val="2094734552"/>
        <c:scaling>
          <c:orientation val="minMax"/>
          <c:max val="1.1"/>
          <c:min val="0"/>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B3A9B4"/>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F4F1F4"/>
                </a:solidFill>
                <a:latin typeface="+mj-lt"/>
              </a:defRPr>
            </a:pPr>
            <a:r>
              <a:rPr sz="1500" b="0" i="0" u="none" strike="noStrike">
                <a:solidFill>
                  <a:srgbClr val="F4F1F4"/>
                </a:solidFill>
                <a:latin typeface="+mj-lt"/>
              </a:rPr>
              <a:t>Macro F1 on 355 slices after each degradation</a:t>
            </a:r>
          </a:p>
        </c:rich>
      </c:tx>
      <c:layout/>
      <c:overlay val="0"/>
    </c:title>
    <c:autoTitleDeleted val="0"/>
    <c:plotArea>
      <c:layout/>
      <c:barChart>
        <c:barDir val="bar"/>
        <c:grouping val="clustered"/>
        <c:varyColors val="0"/>
        <c:ser>
          <c:idx val="0"/>
          <c:order val="0"/>
          <c:tx>
            <c:strRef>
              <c:f>Sheet1!$B$1</c:f>
              <c:strCache>
                <c:ptCount val="1"/>
                <c:pt idx="0">
                  <c:v>Macro F1</c:v>
                </c:pt>
              </c:strCache>
            </c:strRef>
          </c:tx>
          <c:spPr>
            <a:solidFill>
              <a:srgbClr val="34D399"/>
            </a:solidFill>
            <a:effectLst/>
          </c:spPr>
          <c:invertIfNegative val="0"/>
          <c:dLbls>
            <c:numFmt formatCode="0.000" sourceLinked="0"/>
            <c:txPr>
              <a:bodyPr/>
              <a:lstStyle/>
              <a:p>
                <a:pPr>
                  <a:defRPr b="0" i="0" strike="noStrike" sz="1200" u="none">
                    <a:solidFill>
                      <a:srgbClr val="F4F1F4"/>
                    </a:solidFill>
                    <a:latin typeface="+mn-lt"/>
                  </a:defRPr>
                </a:pPr>
              </a:p>
            </c:txPr>
            <c:showLegendKey val="0"/>
            <c:showVal val="1"/>
            <c:showCatName val="0"/>
            <c:showSerName val="0"/>
            <c:showPercent val="0"/>
            <c:showBubbleSize val="0"/>
            <c:showLeaderLines val="0"/>
          </c:dLbls>
          <c:dPt>
            <c:idx val="0"/>
            <c:invertIfNegative val="0"/>
            <c:bubble3D val="0"/>
            <c:spPr>
              <a:solidFill>
                <a:srgbClr val="34D399"/>
              </a:solidFill>
              <a:effectLst/>
            </c:spPr>
          </c:dPt>
          <c:dPt>
            <c:idx val="1"/>
            <c:invertIfNegative val="0"/>
            <c:bubble3D val="0"/>
            <c:spPr>
              <a:solidFill>
                <a:srgbClr val="34D399"/>
              </a:solidFill>
              <a:effectLst/>
            </c:spPr>
          </c:dPt>
          <c:dPt>
            <c:idx val="2"/>
            <c:invertIfNegative val="0"/>
            <c:bubble3D val="0"/>
            <c:spPr>
              <a:solidFill>
                <a:srgbClr val="34D399"/>
              </a:solidFill>
              <a:effectLst/>
            </c:spPr>
          </c:dPt>
          <c:dPt>
            <c:idx val="3"/>
            <c:invertIfNegative val="0"/>
            <c:bubble3D val="0"/>
            <c:spPr>
              <a:solidFill>
                <a:srgbClr val="FBBF24"/>
              </a:solidFill>
              <a:effectLst/>
            </c:spPr>
          </c:dPt>
          <c:dPt>
            <c:idx val="4"/>
            <c:invertIfNegative val="0"/>
            <c:bubble3D val="0"/>
            <c:spPr>
              <a:solidFill>
                <a:srgbClr val="FBBF24"/>
              </a:solidFill>
              <a:effectLst/>
            </c:spPr>
          </c:dPt>
          <c:dPt>
            <c:idx val="5"/>
            <c:invertIfNegative val="0"/>
            <c:bubble3D val="0"/>
            <c:spPr>
              <a:solidFill>
                <a:srgbClr val="FBBF24"/>
              </a:solidFill>
              <a:effectLst/>
            </c:spPr>
          </c:dPt>
          <c:dPt>
            <c:idx val="6"/>
            <c:invertIfNegative val="0"/>
            <c:bubble3D val="0"/>
            <c:spPr>
              <a:solidFill>
                <a:srgbClr val="FBBF24"/>
              </a:solidFill>
              <a:effectLst/>
            </c:spPr>
          </c:dPt>
          <c:dPt>
            <c:idx val="7"/>
            <c:invertIfNegative val="0"/>
            <c:bubble3D val="0"/>
            <c:spPr>
              <a:solidFill>
                <a:srgbClr val="FBBF24"/>
              </a:solidFill>
              <a:effectLst/>
            </c:spPr>
          </c:dPt>
          <c:dPt>
            <c:idx val="8"/>
            <c:invertIfNegative val="0"/>
            <c:bubble3D val="0"/>
            <c:spPr>
              <a:solidFill>
                <a:srgbClr val="F43F5E"/>
              </a:solidFill>
              <a:effectLst/>
            </c:spPr>
          </c:dPt>
          <c:dPt>
            <c:idx val="9"/>
            <c:invertIfNegative val="0"/>
            <c:bubble3D val="0"/>
            <c:spPr>
              <a:solidFill>
                <a:srgbClr val="F43F5E"/>
              </a:solidFill>
              <a:effectLst/>
            </c:spPr>
          </c:dPt>
          <c:cat>
            <c:multiLvlStrRef>
              <c:f>Sheet1!$A$2:$A$11</c:f>
              <c:multiLvlStrCache>
                <c:ptCount val="10"/>
                <c:lvl>
                  <c:pt idx="0">
                    <c:v>Clean</c:v>
                  </c:pt>
                  <c:pt idx="1">
                    <c:v>Rotation 10°</c:v>
                  </c:pt>
                  <c:pt idx="2">
                    <c:v>Shift 20 px</c:v>
                  </c:pt>
                  <c:pt idx="3">
                    <c:v>Contrast × 0.6</c:v>
                  </c:pt>
                  <c:pt idx="4">
                    <c:v>Brightness +0.2</c:v>
                  </c:pt>
                  <c:pt idx="5">
                    <c:v>Blur σ = 2</c:v>
                  </c:pt>
                  <c:pt idx="6">
                    <c:v>JPEG quality 30</c:v>
                  </c:pt>
                  <c:pt idx="7">
                    <c:v>Noise σ = 0.05</c:v>
                  </c:pt>
                  <c:pt idx="8">
                    <c:v>Noise σ = 0.10</c:v>
                  </c:pt>
                  <c:pt idx="9">
                    <c:v>Noise σ = 0.20</c:v>
                  </c:pt>
                </c:lvl>
              </c:multiLvlStrCache>
            </c:multiLvlStrRef>
          </c:cat>
          <c:val>
            <c:numRef>
              <c:f>Sheet1!$B$2:$B$11</c:f>
              <c:numCache>
                <c:formatCode>General</c:formatCode>
                <c:ptCount val="10"/>
                <c:pt idx="0">
                  <c:v>0.987</c:v>
                </c:pt>
                <c:pt idx="1">
                  <c:v>0.965</c:v>
                </c:pt>
                <c:pt idx="2">
                  <c:v>0.968</c:v>
                </c:pt>
                <c:pt idx="3">
                  <c:v>0.947</c:v>
                </c:pt>
                <c:pt idx="4">
                  <c:v>0.942</c:v>
                </c:pt>
                <c:pt idx="5">
                  <c:v>0.822</c:v>
                </c:pt>
                <c:pt idx="6">
                  <c:v>0.807</c:v>
                </c:pt>
                <c:pt idx="7">
                  <c:v>0.919</c:v>
                </c:pt>
                <c:pt idx="8">
                  <c:v>0.648</c:v>
                </c:pt>
                <c:pt idx="9">
                  <c:v>0.443</c:v>
                </c:pt>
              </c:numCache>
            </c:numRef>
          </c:val>
        </c:ser>
        <c:dLbls>
          <c:numFmt formatCode="0.000" sourceLinked="0"/>
          <c:txPr>
            <a:bodyPr/>
            <a:lstStyle/>
            <a:p>
              <a:pPr>
                <a:defRPr b="0" i="0" strike="noStrike" sz="1200" u="none">
                  <a:solidFill>
                    <a:srgbClr val="F4F1F4"/>
                  </a:solidFill>
                  <a:latin typeface="+mn-lt"/>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B3A9B4"/>
                </a:solidFill>
                <a:latin typeface="+mn-lt"/>
              </a:defRPr>
            </a:pPr>
            <a:endParaRPr lang="en-US"/>
          </a:p>
        </c:txPr>
        <c:crossAx val="2094734552"/>
        <c:crosses val="autoZero"/>
        <c:auto val="1"/>
        <c:lblAlgn val="ctr"/>
        <c:noMultiLvlLbl val="1"/>
      </c:catAx>
      <c:valAx>
        <c:axId val="2094734552"/>
        <c:scaling>
          <c:orientation val="minMax"/>
          <c:max val="1.1"/>
          <c:min val="0"/>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B3A9B4"/>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F4F1F4"/>
                </a:solidFill>
                <a:latin typeface="+mj-lt"/>
              </a:defRPr>
            </a:pPr>
            <a:r>
              <a:rPr sz="1400" b="0" i="0" u="none" strike="noStrike">
                <a:solidFill>
                  <a:srgbClr val="F4F1F4"/>
                </a:solidFill>
                <a:latin typeface="+mj-lt"/>
              </a:rPr>
              <a:t>Accuracy as coordinate noise grows</a:t>
            </a:r>
          </a:p>
        </c:rich>
      </c:tx>
      <c:layout/>
      <c:overlay val="0"/>
    </c:title>
    <c:autoTitleDeleted val="0"/>
    <c:plotArea>
      <c:layout/>
      <c:barChart>
        <c:barDir val="col"/>
        <c:grouping val="clustered"/>
        <c:varyColors val="0"/>
        <c:ser>
          <c:idx val="0"/>
          <c:order val="0"/>
          <c:tx>
            <c:strRef>
              <c:f>Sheet1!$B$1</c:f>
              <c:strCache>
                <c:ptCount val="1"/>
                <c:pt idx="0">
                  <c:v>Accuracy</c:v>
                </c:pt>
              </c:strCache>
            </c:strRef>
          </c:tx>
          <c:spPr>
            <a:solidFill>
              <a:srgbClr val="C99BDB"/>
            </a:solidFill>
            <a:effectLst/>
          </c:spPr>
          <c:invertIfNegative val="0"/>
          <c:dLbls>
            <c:numFmt formatCode="0.0%" sourceLinked="0"/>
            <c:txPr>
              <a:bodyPr/>
              <a:lstStyle/>
              <a:p>
                <a:pPr>
                  <a:defRPr b="0" i="0" strike="noStrike" sz="1200" u="none">
                    <a:solidFill>
                      <a:srgbClr val="F4F1F4"/>
                    </a:solidFill>
                    <a:latin typeface="+mn-lt"/>
                  </a:defRPr>
                </a:pPr>
              </a:p>
            </c:txPr>
            <c:showLegendKey val="0"/>
            <c:showVal val="1"/>
            <c:showCatName val="0"/>
            <c:showSerName val="0"/>
            <c:showPercent val="0"/>
            <c:showBubbleSize val="0"/>
            <c:showLeaderLines val="0"/>
          </c:dLbls>
          <c:dPt>
            <c:idx val="0"/>
            <c:invertIfNegative val="0"/>
            <c:bubble3D val="0"/>
            <c:spPr>
              <a:solidFill>
                <a:srgbClr val="C99BDB"/>
              </a:solidFill>
              <a:effectLst/>
            </c:spPr>
          </c:dPt>
          <c:dPt>
            <c:idx val="1"/>
            <c:invertIfNegative val="0"/>
            <c:bubble3D val="0"/>
            <c:spPr>
              <a:solidFill>
                <a:srgbClr val="C99BDB"/>
              </a:solidFill>
              <a:effectLst/>
            </c:spPr>
          </c:dPt>
          <c:dPt>
            <c:idx val="2"/>
            <c:invertIfNegative val="0"/>
            <c:bubble3D val="0"/>
            <c:spPr>
              <a:solidFill>
                <a:srgbClr val="C99BDB"/>
              </a:solidFill>
              <a:effectLst/>
            </c:spPr>
          </c:dPt>
          <c:dPt>
            <c:idx val="3"/>
            <c:invertIfNegative val="0"/>
            <c:bubble3D val="0"/>
            <c:spPr>
              <a:solidFill>
                <a:srgbClr val="C99BDB"/>
              </a:solidFill>
              <a:effectLst/>
            </c:spPr>
          </c:dPt>
          <c:dPt>
            <c:idx val="4"/>
            <c:invertIfNegative val="0"/>
            <c:bubble3D val="0"/>
            <c:spPr>
              <a:solidFill>
                <a:srgbClr val="F43F5E"/>
              </a:solidFill>
              <a:effectLst/>
            </c:spPr>
          </c:dPt>
          <c:cat>
            <c:multiLvlStrRef>
              <c:f>Sheet1!$A$2:$A$6</c:f>
              <c:multiLvlStrCache>
                <c:ptCount val="5"/>
                <c:lvl>
                  <c:pt idx="0">
                    <c:v>Clean</c:v>
                  </c:pt>
                  <c:pt idx="1">
                    <c:v>0.5 px</c:v>
                  </c:pt>
                  <c:pt idx="2">
                    <c:v>1 px</c:v>
                  </c:pt>
                  <c:pt idx="3">
                    <c:v>2 px</c:v>
                  </c:pt>
                  <c:pt idx="4">
                    <c:v>4 px</c:v>
                  </c:pt>
                </c:lvl>
              </c:multiLvlStrCache>
            </c:multiLvlStrRef>
          </c:cat>
          <c:val>
            <c:numRef>
              <c:f>Sheet1!$B$2:$B$6</c:f>
              <c:numCache>
                <c:formatCode>General</c:formatCode>
                <c:ptCount val="5"/>
                <c:pt idx="0">
                  <c:v>0.893</c:v>
                </c:pt>
                <c:pt idx="1">
                  <c:v>0.902</c:v>
                </c:pt>
                <c:pt idx="2">
                  <c:v>0.888</c:v>
                </c:pt>
                <c:pt idx="3">
                  <c:v>0.862</c:v>
                </c:pt>
                <c:pt idx="4">
                  <c:v>0.648</c:v>
                </c:pt>
              </c:numCache>
            </c:numRef>
          </c:val>
        </c:ser>
        <c:dLbls>
          <c:numFmt formatCode="0.0%" sourceLinked="0"/>
          <c:txPr>
            <a:bodyPr/>
            <a:lstStyle/>
            <a:p>
              <a:pPr>
                <a:defRPr b="0" i="0" strike="noStrike" sz="1200" u="none">
                  <a:solidFill>
                    <a:srgbClr val="F4F1F4"/>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B3A9B4"/>
                </a:solidFill>
                <a:latin typeface="+mn-lt"/>
              </a:defRPr>
            </a:pPr>
            <a:endParaRPr lang="en-US"/>
          </a:p>
        </c:txPr>
        <c:crossAx val="2094734552"/>
        <c:crosses val="autoZero"/>
        <c:auto val="1"/>
        <c:lblAlgn val="ctr"/>
        <c:noMultiLvlLbl val="1"/>
      </c:catAx>
      <c:valAx>
        <c:axId val="2094734552"/>
        <c:scaling>
          <c:orientation val="minMax"/>
          <c:max val="1.1"/>
          <c:min val="0"/>
        </c:scaling>
        <c:delete val="1"/>
        <c:axPos val="l"/>
        <c:numFmt formatCode="General" sourceLinked="0"/>
        <c:majorTickMark val="out"/>
        <c:minorTickMark val="none"/>
        <c:tickLblPos val="nextTo"/>
        <c:spPr>
          <a:ln w="12700" cap="flat">
            <a:noFill/>
            <a:prstDash val="solid"/>
            <a:round/>
          </a:ln>
        </c:spPr>
        <c:txPr>
          <a:bodyPr/>
          <a:lstStyle/>
          <a:p>
            <a:pPr>
              <a:defRPr sz="1100" b="0" i="0" u="none" strike="noStrike">
                <a:solidFill>
                  <a:srgbClr val="B3A9B4"/>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F4F1F4"/>
                </a:solidFill>
                <a:latin typeface="+mj-lt"/>
              </a:defRPr>
            </a:pPr>
            <a:r>
              <a:rPr sz="1500" b="0" i="0" u="none" strike="noStrike">
                <a:solidFill>
                  <a:srgbClr val="F4F1F4"/>
                </a:solidFill>
                <a:latin typeface="+mj-lt"/>
              </a:rPr>
              <a:t>Median latency in milliseconds (4 CPU cores)</a:t>
            </a:r>
          </a:p>
        </c:rich>
      </c:tx>
      <c:layout/>
      <c:overlay val="0"/>
    </c:title>
    <c:autoTitleDeleted val="0"/>
    <c:plotArea>
      <c:layout/>
      <c:barChart>
        <c:barDir val="bar"/>
        <c:grouping val="clustered"/>
        <c:varyColors val="0"/>
        <c:ser>
          <c:idx val="0"/>
          <c:order val="0"/>
          <c:tx>
            <c:strRef>
              <c:f>Sheet1!$B$1</c:f>
              <c:strCache>
                <c:ptCount val="1"/>
                <c:pt idx="0">
                  <c:v>Median ms</c:v>
                </c:pt>
              </c:strCache>
            </c:strRef>
          </c:tx>
          <c:spPr>
            <a:solidFill>
              <a:srgbClr val="C99BDB"/>
            </a:solidFill>
            <a:effectLst/>
          </c:spPr>
          <c:invertIfNegative val="0"/>
          <c:dLbls>
            <c:numFmt formatCode="0" sourceLinked="0"/>
            <c:txPr>
              <a:bodyPr/>
              <a:lstStyle/>
              <a:p>
                <a:pPr>
                  <a:defRPr b="0" i="0" strike="noStrike" sz="1200" u="none">
                    <a:solidFill>
                      <a:srgbClr val="F4F1F4"/>
                    </a:solidFill>
                    <a:latin typeface="+mn-lt"/>
                  </a:defRPr>
                </a:pPr>
              </a:p>
            </c:txPr>
            <c:showLegendKey val="0"/>
            <c:showVal val="1"/>
            <c:showCatName val="0"/>
            <c:showSerName val="0"/>
            <c:showPercent val="0"/>
            <c:showBubbleSize val="0"/>
            <c:showLeaderLines val="0"/>
          </c:dLbls>
          <c:dPt>
            <c:idx val="0"/>
            <c:invertIfNegative val="0"/>
            <c:bubble3D val="0"/>
            <c:spPr>
              <a:solidFill>
                <a:srgbClr val="C99BDB"/>
              </a:solidFill>
              <a:effectLst/>
            </c:spPr>
          </c:dPt>
          <c:dPt>
            <c:idx val="1"/>
            <c:invertIfNegative val="0"/>
            <c:bubble3D val="0"/>
            <c:spPr>
              <a:solidFill>
                <a:srgbClr val="C99BDB"/>
              </a:solidFill>
              <a:effectLst/>
            </c:spPr>
          </c:dPt>
          <c:dPt>
            <c:idx val="2"/>
            <c:invertIfNegative val="0"/>
            <c:bubble3D val="0"/>
            <c:spPr>
              <a:solidFill>
                <a:srgbClr val="C99BDB"/>
              </a:solidFill>
              <a:effectLst/>
            </c:spPr>
          </c:dPt>
          <c:cat>
            <c:multiLvlStrRef>
              <c:f>Sheet1!$A$2:$A$4</c:f>
              <c:multiLvlStrCache>
                <c:ptCount val="3"/>
                <c:lvl>
                  <c:pt idx="0">
                    <c:v>Handwriting score</c:v>
                  </c:pt>
                  <c:pt idx="1">
                    <c:v>MRI prediction</c:v>
                  </c:pt>
                  <c:pt idx="2">
                    <c:v>Prediction + Grad-CAM</c:v>
                  </c:pt>
                </c:lvl>
              </c:multiLvlStrCache>
            </c:multiLvlStrRef>
          </c:cat>
          <c:val>
            <c:numRef>
              <c:f>Sheet1!$B$2:$B$4</c:f>
              <c:numCache>
                <c:formatCode>General</c:formatCode>
                <c:ptCount val="3"/>
                <c:pt idx="0">
                  <c:v>10</c:v>
                </c:pt>
                <c:pt idx="1">
                  <c:v>111</c:v>
                </c:pt>
                <c:pt idx="2">
                  <c:v>293</c:v>
                </c:pt>
              </c:numCache>
            </c:numRef>
          </c:val>
        </c:ser>
        <c:dLbls>
          <c:numFmt formatCode="0" sourceLinked="0"/>
          <c:txPr>
            <a:bodyPr/>
            <a:lstStyle/>
            <a:p>
              <a:pPr>
                <a:defRPr b="0" i="0" strike="noStrike" sz="1200" u="none">
                  <a:solidFill>
                    <a:srgbClr val="F4F1F4"/>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B3A9B4"/>
                </a:solidFill>
                <a:latin typeface="+mn-lt"/>
              </a:defRPr>
            </a:pPr>
            <a:endParaRPr lang="en-US"/>
          </a:p>
        </c:txPr>
        <c:crossAx val="2094734552"/>
        <c:crosses val="autoZero"/>
        <c:auto val="1"/>
        <c:lblAlgn val="ctr"/>
        <c:noMultiLvlLbl val="1"/>
      </c:catAx>
      <c:valAx>
        <c:axId val="2094734552"/>
        <c:scaling>
          <c:orientation val="minMax"/>
          <c:max val="360"/>
          <c:min val="0"/>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B3A9B4"/>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everyone. We're presenting an explainable prototype for early Alzheimer's detection from MRI and handwriting. All our data is synthetic.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Malhar. Alzheimer's moves through stages, and earlier detection gives patients more options. But early MRI changes are subtle, a bare label gives doctors nothing to check, and records are messy. Our answer: a VGG19 stage classifier, Grad-CAM explanations, a data-cleaning pipeline, and a second signal from handwriting.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FastAPI service sits behind the browser with two analyzers: the MRI predictor gives stage probabilities and a Grad-CAM map, and the handwriting analyzer scores a spiral drawing. Remember, all data is synthetic, so our numbers describe the pipeline, not patients. Sathwik will cover the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Malhar. I'm Sathwik. Real ADNI scans take weeks to access, so we built a generator. Its phantoms get larger ventricles, thinner cortex and a smaller hippocampus as stages advance, plus a clinical table with realistic gaps. The classes are imbalanced, about three to one, and later stages lose more values, so deleting incomplete rows discards the sickest patients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fix this in two steps. Hot-deck imputation copies real values from similar patients and, unlike mean imputation, keeps the data's variance near one. ADASYN then balances the classes exactly, but over thirty splits it changed macro F1 by just minus 0.002, so we call it implemented, not proven useful. Harit will explain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Sathwik. I'm Harit. We did not train from scratch: VGG19 is pretrained on ImageNet, with early layers frozen. We fine-tune only the last convolutional block and replace the head with a new one ending in four stage outputs. That is 33 million parameters in total, 22.4 million of them trainable. We also use normal activations, so Grad-CAM can read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Training uses AdamW, label smoothing and class weights, and we pick checkpoints by validation macro F1, not accuracy. An honest note: our checkpoint came from epoch one with a perfect validation score, so the validation set is saturated. We did not retrain; every result comes from the released checkpoint. Shreya will show the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Harit. I'm Shreya. First, we reproduced the project's own reported numbers exactly: 95.35 percent accuracy and an identical confusion matrix on 43 slices. Then we tested three fresh cohorts, 1,065 unseen slices: 97.8 percent accuracy and macro F1 0.978, with a confidence interval from 0.968 to 0.986. The original figure was a small-sample estimate, not luck.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23 errors are between neighbouring stages; the model never confuses normal with Alzheimer's directly. Early-detection recall is 0.992, with five of 615 impaired slices called normal. The model is also underconfident: accuracy is 98.6 percent but average confidence only 91.8. Confidence still separates right from wrong: 0.92 versus 0.74. Taneesha will show what the model looks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Shreya. I'm Taneesha. For every scan, Grad-CAM shows which regions of the scan pushed the score up, and you can drag a slider between scan and map. You can even ask what would make a healthy scan Alzheimer's, and the map stays almost entirely cold. An attention audit flags maps with under forty percent of their weight centrally.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honest part. The audit never fired on 710 slices, so on clean data it is only a sanity check. And degraded images hurt: noise of 0.10 drops macro F1 from 0.987 to 0.648, and brightness shifts cut early-detection recall to about 0.89. Clean synthetic scores say little about real scans. Nithyashree will present handwriting.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Taneesha. I'm Nithyashree. Studies link cognitive decline to slower, more hesitant, wobblier handwriting. So you draw a spiral in the browser, and we record every pen point with its timestamp. From that trace we compute nine measurements, such as speed, stalls, tremor and spiral irregularity, all relative to canvas size. A mouse or finger gives no pressure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logistic regression scores the drawing, so each prediction splits exactly into per-feature contributions. On 600 held-out simulated drawings it reaches an AUC of 0.962. The big caveat: it was trained on simulated drawings, so it learned our assumptions. Heavy coordinate noise drops accuracy to 65 percent, though AUC stays 0.93. Arshi will finish with performance.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Nithyashree. I'm Arshi. On four CPU cores with no GPU, the handwriting score takes about 10 milliseconds, an MRI prediction 111, and adding the Grad-CAM explanation 293. One bottleneck: a worker handles about nine predictions or 3.6 explanations a second, because requests run one at a time. More users need more workers or a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can we claim? The pipeline works end to end, reproduces exactly, and explains its answers. What we cannot claim is clinical performance: the data are synthetic, image noise breaks the model, and the combined score is just an average. Next come real data such as ADNI and DARWIN, calibration, robustness training and a learned fusion. Thank you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We are happy to take questions, and we can run the live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CLOSE-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0E0A0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868680"/>
            <a:ext cx="11091672" cy="73152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3" name="Text 0"/>
          <p:cNvSpPr/>
          <p:nvPr/>
        </p:nvSpPr>
        <p:spPr>
          <a:xfrm>
            <a:off x="548640" y="6419088"/>
            <a:ext cx="8229600" cy="274320"/>
          </a:xfrm>
          <a:prstGeom prst="rect">
            <a:avLst/>
          </a:prstGeom>
          <a:noFill/>
          <a:ln/>
        </p:spPr>
        <p:txBody>
          <a:bodyPr wrap="square" lIns="0" tIns="0" rIns="0" bIns="0" rtlCol="0" anchor="ctr"/>
          <a:lstStyle/>
          <a:p>
            <a:pPr indent="0" marL="0">
              <a:buNone/>
            </a:pPr>
            <a:r>
              <a:rPr lang="en-US" sz="1000" dirty="0">
                <a:solidFill>
                  <a:schemeClr val="tx2"/>
                </a:solidFill>
              </a:rPr>
              <a:t>Early detection of Alzheimer's  ·  MRI + handwriting  ·  research prototype, synthetic data</a:t>
            </a:r>
            <a:endParaRPr lang="en-US" sz="1000" dirty="0"/>
          </a:p>
        </p:txBody>
      </p:sp>
      <p:sp>
        <p:nvSpPr>
          <p:cNvPr id="25" name="Slide Number Placeholder 0"/>
          <p:cNvSpPr>
            <a:spLocks noGrp="1"/>
          </p:cNvSpPr>
          <p:nvPr>
            <p:ph type="sldNum" sz="quarter" idx="4294967295"/>
          </p:nvPr>
        </p:nvSpPr>
        <p:spPr>
          <a:xfrm>
            <a:off x="11064240" y="6419088"/>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E7F9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19088"/>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E7F9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3.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5" Type="http://schemas.openxmlformats.org/officeDocument/2006/relationships/chart" Target="/ppt/charts/chart1.xml"/><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image" Target="../media/image-11-1.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chart" Target="/ppt/charts/chart7.xml"/><Relationship Id="rId1" Type="http://schemas.openxmlformats.org/officeDocument/2006/relationships/image" Target="../media/image-13-1.png"/><Relationship Id="rId2" Type="http://schemas.openxmlformats.org/officeDocument/2006/relationships/image" Target="../media/image-13-2.png"/><Relationship Id="rId4" Type="http://schemas.openxmlformats.org/officeDocument/2006/relationships/slideLayout" Target="../slideLayouts/slideLayout3.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image" Target="../media/image-14-1.png"/><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3.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Kicker"/>
          <p:cNvSpPr txBox="1"/>
          <p:nvPr/>
        </p:nvSpPr>
        <p:spPr>
          <a:xfrm>
            <a:off x="548640" y="640080"/>
            <a:ext cx="7315200" cy="320040"/>
          </a:xfrm>
          <a:prstGeom prst="rect">
            <a:avLst/>
          </a:prstGeom>
          <a:noFill/>
          <a:ln/>
        </p:spPr>
        <p:txBody>
          <a:bodyPr wrap="square" lIns="0" tIns="0" rIns="0" bIns="0" rtlCol="0" anchor="t"/>
          <a:lstStyle/>
          <a:p>
            <a:pPr indent="0" marL="0">
              <a:buNone/>
            </a:pPr>
            <a:r>
              <a:rPr lang="en-US" sz="1200" b="1" spc="400" kern="0" dirty="0">
                <a:solidFill>
                  <a:schemeClr val="accent1"/>
                </a:solidFill>
              </a:rPr>
              <a:t>RESEARCH PROTOTYPE  ·  SYNTHETIC DATA</a:t>
            </a:r>
            <a:endParaRPr lang="en-US" sz="1200" dirty="0"/>
          </a:p>
        </p:txBody>
      </p:sp>
      <p:sp>
        <p:nvSpPr>
          <p:cNvPr id="3" name="Deck title"/>
          <p:cNvSpPr txBox="1"/>
          <p:nvPr/>
        </p:nvSpPr>
        <p:spPr>
          <a:xfrm>
            <a:off x="548640" y="1143000"/>
            <a:ext cx="7498080" cy="2148840"/>
          </a:xfrm>
          <a:prstGeom prst="rect">
            <a:avLst/>
          </a:prstGeom>
          <a:noFill/>
          <a:ln/>
        </p:spPr>
        <p:txBody>
          <a:bodyPr wrap="square" lIns="0" tIns="0" rIns="0" bIns="0" rtlCol="0" anchor="t"/>
          <a:lstStyle/>
          <a:p>
            <a:pPr indent="0" marL="0">
              <a:buNone/>
            </a:pPr>
            <a:r>
              <a:rPr lang="en-US" sz="4600" b="1" dirty="0">
                <a:solidFill>
                  <a:schemeClr val="tx1"/>
                </a:solidFill>
                <a:latin typeface="+mj-lt" pitchFamily="34" charset="0"/>
                <a:ea typeface="+mj-lt" pitchFamily="34" charset="-122"/>
                <a:cs typeface="+mj-lt" pitchFamily="34" charset="-120"/>
              </a:rPr>
              <a:t>Early Detection of Alzheimer's from MRI and Handwriting</a:t>
            </a:r>
            <a:endParaRPr lang="en-US" sz="4600" dirty="0"/>
          </a:p>
        </p:txBody>
      </p:sp>
      <p:sp>
        <p:nvSpPr>
          <p:cNvPr id="4" name="Deck subtitle"/>
          <p:cNvSpPr txBox="1"/>
          <p:nvPr/>
        </p:nvSpPr>
        <p:spPr>
          <a:xfrm>
            <a:off x="548640" y="3383280"/>
            <a:ext cx="6949440" cy="822960"/>
          </a:xfrm>
          <a:prstGeom prst="rect">
            <a:avLst/>
          </a:prstGeom>
          <a:noFill/>
          <a:ln/>
        </p:spPr>
        <p:txBody>
          <a:bodyPr wrap="square" lIns="0" tIns="0" rIns="0" bIns="0" rtlCol="0" anchor="t"/>
          <a:lstStyle/>
          <a:p>
            <a:pPr indent="0" marL="0">
              <a:buNone/>
            </a:pPr>
            <a:r>
              <a:rPr lang="en-US" sz="2200" dirty="0">
                <a:solidFill>
                  <a:schemeClr val="tx2"/>
                </a:solidFill>
              </a:rPr>
              <a:t>Design and analysis of an explainable multimodal prototype</a:t>
            </a:r>
            <a:endParaRPr lang="en-US" sz="2200" dirty="0"/>
          </a:p>
        </p:txBody>
      </p:sp>
      <p:sp>
        <p:nvSpPr>
          <p:cNvPr id="5" name="Name chip MS"/>
          <p:cNvSpPr/>
          <p:nvPr/>
        </p:nvSpPr>
        <p:spPr>
          <a:xfrm>
            <a:off x="548640" y="4754880"/>
            <a:ext cx="2670048" cy="566928"/>
          </a:xfrm>
          <a:prstGeom prst="roundRect">
            <a:avLst>
              <a:gd name="adj" fmla="val 50000"/>
            </a:avLst>
          </a:prstGeom>
          <a:solidFill>
            <a:schemeClr val="bg2">
              <a:alpha val="82000"/>
            </a:schemeClr>
          </a:solidFill>
          <a:ln w="9525">
            <a:solidFill>
              <a:srgbClr val="FFFFFF">
                <a:alpha val="18000"/>
              </a:srgbClr>
            </a:solidFill>
            <a:prstDash val="solid"/>
          </a:ln>
        </p:spPr>
      </p:sp>
      <p:sp>
        <p:nvSpPr>
          <p:cNvPr id="6" name="Chip dot MS"/>
          <p:cNvSpPr/>
          <p:nvPr/>
        </p:nvSpPr>
        <p:spPr>
          <a:xfrm>
            <a:off x="640080" y="4846320"/>
            <a:ext cx="384048" cy="384048"/>
          </a:xfrm>
          <a:prstGeom prst="ellipse">
            <a:avLst/>
          </a:prstGeom>
          <a:solidFill>
            <a:schemeClr val="accent1"/>
          </a:solidFill>
          <a:ln w="12700">
            <a:solidFill>
              <a:schemeClr val="accent1"/>
            </a:solidFill>
            <a:prstDash val="solid"/>
          </a:ln>
        </p:spPr>
      </p:sp>
      <p:sp>
        <p:nvSpPr>
          <p:cNvPr id="7" name="Chip initials MS"/>
          <p:cNvSpPr txBox="1"/>
          <p:nvPr/>
        </p:nvSpPr>
        <p:spPr>
          <a:xfrm>
            <a:off x="640080" y="4846320"/>
            <a:ext cx="384048" cy="384048"/>
          </a:xfrm>
          <a:prstGeom prst="rect">
            <a:avLst/>
          </a:prstGeom>
          <a:noFill/>
          <a:ln/>
        </p:spPr>
        <p:txBody>
          <a:bodyPr wrap="square" lIns="0" tIns="0" rIns="0" bIns="0" rtlCol="0" anchor="ctr"/>
          <a:lstStyle/>
          <a:p>
            <a:pPr algn="ctr" indent="0" marL="0">
              <a:buNone/>
            </a:pPr>
            <a:r>
              <a:rPr lang="en-US" sz="1100" b="1" dirty="0">
                <a:solidFill>
                  <a:schemeClr val="bg1"/>
                </a:solidFill>
              </a:rPr>
              <a:t>MS</a:t>
            </a:r>
            <a:endParaRPr lang="en-US" sz="1100" dirty="0"/>
          </a:p>
        </p:txBody>
      </p:sp>
      <p:sp>
        <p:nvSpPr>
          <p:cNvPr id="8" name="Chip name MS"/>
          <p:cNvSpPr txBox="1"/>
          <p:nvPr/>
        </p:nvSpPr>
        <p:spPr>
          <a:xfrm>
            <a:off x="1115568" y="4754880"/>
            <a:ext cx="2029968" cy="566928"/>
          </a:xfrm>
          <a:prstGeom prst="rect">
            <a:avLst/>
          </a:prstGeom>
          <a:noFill/>
          <a:ln/>
        </p:spPr>
        <p:txBody>
          <a:bodyPr wrap="square" lIns="0" tIns="0" rIns="0" bIns="0" rtlCol="0" anchor="ctr"/>
          <a:lstStyle/>
          <a:p>
            <a:pPr indent="0" marL="0">
              <a:buNone/>
            </a:pPr>
            <a:r>
              <a:rPr lang="en-US" sz="1300" b="1" dirty="0">
                <a:solidFill>
                  <a:schemeClr val="tx1"/>
                </a:solidFill>
              </a:rPr>
              <a:t>Malhar Srivatsav</a:t>
            </a:r>
            <a:endParaRPr lang="en-US" sz="1300" dirty="0"/>
          </a:p>
        </p:txBody>
      </p:sp>
      <p:sp>
        <p:nvSpPr>
          <p:cNvPr id="9" name="Name chip SB"/>
          <p:cNvSpPr/>
          <p:nvPr/>
        </p:nvSpPr>
        <p:spPr>
          <a:xfrm>
            <a:off x="3355848" y="4754880"/>
            <a:ext cx="2670048" cy="566928"/>
          </a:xfrm>
          <a:prstGeom prst="roundRect">
            <a:avLst>
              <a:gd name="adj" fmla="val 50000"/>
            </a:avLst>
          </a:prstGeom>
          <a:solidFill>
            <a:schemeClr val="bg2">
              <a:alpha val="82000"/>
            </a:schemeClr>
          </a:solidFill>
          <a:ln w="9525">
            <a:solidFill>
              <a:srgbClr val="FFFFFF">
                <a:alpha val="18000"/>
              </a:srgbClr>
            </a:solidFill>
            <a:prstDash val="solid"/>
          </a:ln>
        </p:spPr>
      </p:sp>
      <p:sp>
        <p:nvSpPr>
          <p:cNvPr id="10" name="Chip dot SB"/>
          <p:cNvSpPr/>
          <p:nvPr/>
        </p:nvSpPr>
        <p:spPr>
          <a:xfrm>
            <a:off x="3447288" y="4846320"/>
            <a:ext cx="384048" cy="384048"/>
          </a:xfrm>
          <a:prstGeom prst="ellipse">
            <a:avLst/>
          </a:prstGeom>
          <a:solidFill>
            <a:schemeClr val="accent1"/>
          </a:solidFill>
          <a:ln w="12700">
            <a:solidFill>
              <a:schemeClr val="accent1"/>
            </a:solidFill>
            <a:prstDash val="solid"/>
          </a:ln>
        </p:spPr>
      </p:sp>
      <p:sp>
        <p:nvSpPr>
          <p:cNvPr id="11" name="Chip initials SB"/>
          <p:cNvSpPr txBox="1"/>
          <p:nvPr/>
        </p:nvSpPr>
        <p:spPr>
          <a:xfrm>
            <a:off x="3447288" y="4846320"/>
            <a:ext cx="384048" cy="384048"/>
          </a:xfrm>
          <a:prstGeom prst="rect">
            <a:avLst/>
          </a:prstGeom>
          <a:noFill/>
          <a:ln/>
        </p:spPr>
        <p:txBody>
          <a:bodyPr wrap="square" lIns="0" tIns="0" rIns="0" bIns="0" rtlCol="0" anchor="ctr"/>
          <a:lstStyle/>
          <a:p>
            <a:pPr algn="ctr" indent="0" marL="0">
              <a:buNone/>
            </a:pPr>
            <a:r>
              <a:rPr lang="en-US" sz="1100" b="1" dirty="0">
                <a:solidFill>
                  <a:schemeClr val="bg1"/>
                </a:solidFill>
              </a:rPr>
              <a:t>SB</a:t>
            </a:r>
            <a:endParaRPr lang="en-US" sz="1100" dirty="0"/>
          </a:p>
        </p:txBody>
      </p:sp>
      <p:sp>
        <p:nvSpPr>
          <p:cNvPr id="12" name="Chip name SB"/>
          <p:cNvSpPr txBox="1"/>
          <p:nvPr/>
        </p:nvSpPr>
        <p:spPr>
          <a:xfrm>
            <a:off x="3922776" y="4754880"/>
            <a:ext cx="2029968" cy="566928"/>
          </a:xfrm>
          <a:prstGeom prst="rect">
            <a:avLst/>
          </a:prstGeom>
          <a:noFill/>
          <a:ln/>
        </p:spPr>
        <p:txBody>
          <a:bodyPr wrap="square" lIns="0" tIns="0" rIns="0" bIns="0" rtlCol="0" anchor="ctr"/>
          <a:lstStyle/>
          <a:p>
            <a:pPr indent="0" marL="0">
              <a:buNone/>
            </a:pPr>
            <a:r>
              <a:rPr lang="en-US" sz="1300" b="1" dirty="0">
                <a:solidFill>
                  <a:schemeClr val="tx1"/>
                </a:solidFill>
              </a:rPr>
              <a:t>Sathwik Hejamady Bhat</a:t>
            </a:r>
            <a:endParaRPr lang="en-US" sz="1300" dirty="0"/>
          </a:p>
        </p:txBody>
      </p:sp>
      <p:sp>
        <p:nvSpPr>
          <p:cNvPr id="13" name="Name chip HR"/>
          <p:cNvSpPr/>
          <p:nvPr/>
        </p:nvSpPr>
        <p:spPr>
          <a:xfrm>
            <a:off x="6163056" y="4754880"/>
            <a:ext cx="2670048" cy="566928"/>
          </a:xfrm>
          <a:prstGeom prst="roundRect">
            <a:avLst>
              <a:gd name="adj" fmla="val 50000"/>
            </a:avLst>
          </a:prstGeom>
          <a:solidFill>
            <a:schemeClr val="bg2">
              <a:alpha val="82000"/>
            </a:schemeClr>
          </a:solidFill>
          <a:ln w="9525">
            <a:solidFill>
              <a:srgbClr val="FFFFFF">
                <a:alpha val="18000"/>
              </a:srgbClr>
            </a:solidFill>
            <a:prstDash val="solid"/>
          </a:ln>
        </p:spPr>
      </p:sp>
      <p:sp>
        <p:nvSpPr>
          <p:cNvPr id="14" name="Chip dot HR"/>
          <p:cNvSpPr/>
          <p:nvPr/>
        </p:nvSpPr>
        <p:spPr>
          <a:xfrm>
            <a:off x="6254496" y="4846320"/>
            <a:ext cx="384048" cy="384048"/>
          </a:xfrm>
          <a:prstGeom prst="ellipse">
            <a:avLst/>
          </a:prstGeom>
          <a:solidFill>
            <a:schemeClr val="accent1"/>
          </a:solidFill>
          <a:ln w="12700">
            <a:solidFill>
              <a:schemeClr val="accent1"/>
            </a:solidFill>
            <a:prstDash val="solid"/>
          </a:ln>
        </p:spPr>
      </p:sp>
      <p:sp>
        <p:nvSpPr>
          <p:cNvPr id="15" name="Chip initials HR"/>
          <p:cNvSpPr txBox="1"/>
          <p:nvPr/>
        </p:nvSpPr>
        <p:spPr>
          <a:xfrm>
            <a:off x="6254496" y="4846320"/>
            <a:ext cx="384048" cy="384048"/>
          </a:xfrm>
          <a:prstGeom prst="rect">
            <a:avLst/>
          </a:prstGeom>
          <a:noFill/>
          <a:ln/>
        </p:spPr>
        <p:txBody>
          <a:bodyPr wrap="square" lIns="0" tIns="0" rIns="0" bIns="0" rtlCol="0" anchor="ctr"/>
          <a:lstStyle/>
          <a:p>
            <a:pPr algn="ctr" indent="0" marL="0">
              <a:buNone/>
            </a:pPr>
            <a:r>
              <a:rPr lang="en-US" sz="1100" b="1" dirty="0">
                <a:solidFill>
                  <a:schemeClr val="bg1"/>
                </a:solidFill>
              </a:rPr>
              <a:t>HR</a:t>
            </a:r>
            <a:endParaRPr lang="en-US" sz="1100" dirty="0"/>
          </a:p>
        </p:txBody>
      </p:sp>
      <p:sp>
        <p:nvSpPr>
          <p:cNvPr id="16" name="Chip name HR"/>
          <p:cNvSpPr txBox="1"/>
          <p:nvPr/>
        </p:nvSpPr>
        <p:spPr>
          <a:xfrm>
            <a:off x="6729984" y="4754880"/>
            <a:ext cx="2029968" cy="566928"/>
          </a:xfrm>
          <a:prstGeom prst="rect">
            <a:avLst/>
          </a:prstGeom>
          <a:noFill/>
          <a:ln/>
        </p:spPr>
        <p:txBody>
          <a:bodyPr wrap="square" lIns="0" tIns="0" rIns="0" bIns="0" rtlCol="0" anchor="ctr"/>
          <a:lstStyle/>
          <a:p>
            <a:pPr indent="0" marL="0">
              <a:buNone/>
            </a:pPr>
            <a:r>
              <a:rPr lang="en-US" sz="1300" b="1" dirty="0">
                <a:solidFill>
                  <a:schemeClr val="tx1"/>
                </a:solidFill>
              </a:rPr>
              <a:t>Harit Raval</a:t>
            </a:r>
            <a:endParaRPr lang="en-US" sz="1300" dirty="0"/>
          </a:p>
        </p:txBody>
      </p:sp>
      <p:sp>
        <p:nvSpPr>
          <p:cNvPr id="17" name="Name chip SJ"/>
          <p:cNvSpPr/>
          <p:nvPr/>
        </p:nvSpPr>
        <p:spPr>
          <a:xfrm>
            <a:off x="8970264" y="4754880"/>
            <a:ext cx="2670048" cy="566928"/>
          </a:xfrm>
          <a:prstGeom prst="roundRect">
            <a:avLst>
              <a:gd name="adj" fmla="val 50000"/>
            </a:avLst>
          </a:prstGeom>
          <a:solidFill>
            <a:schemeClr val="bg2">
              <a:alpha val="82000"/>
            </a:schemeClr>
          </a:solidFill>
          <a:ln w="9525">
            <a:solidFill>
              <a:srgbClr val="FFFFFF">
                <a:alpha val="18000"/>
              </a:srgbClr>
            </a:solidFill>
            <a:prstDash val="solid"/>
          </a:ln>
        </p:spPr>
      </p:sp>
      <p:sp>
        <p:nvSpPr>
          <p:cNvPr id="18" name="Chip dot SJ"/>
          <p:cNvSpPr/>
          <p:nvPr/>
        </p:nvSpPr>
        <p:spPr>
          <a:xfrm>
            <a:off x="9061704" y="4846320"/>
            <a:ext cx="384048" cy="384048"/>
          </a:xfrm>
          <a:prstGeom prst="ellipse">
            <a:avLst/>
          </a:prstGeom>
          <a:solidFill>
            <a:schemeClr val="accent1"/>
          </a:solidFill>
          <a:ln w="12700">
            <a:solidFill>
              <a:schemeClr val="accent1"/>
            </a:solidFill>
            <a:prstDash val="solid"/>
          </a:ln>
        </p:spPr>
      </p:sp>
      <p:sp>
        <p:nvSpPr>
          <p:cNvPr id="19" name="Chip initials SJ"/>
          <p:cNvSpPr txBox="1"/>
          <p:nvPr/>
        </p:nvSpPr>
        <p:spPr>
          <a:xfrm>
            <a:off x="9061704" y="4846320"/>
            <a:ext cx="384048" cy="384048"/>
          </a:xfrm>
          <a:prstGeom prst="rect">
            <a:avLst/>
          </a:prstGeom>
          <a:noFill/>
          <a:ln/>
        </p:spPr>
        <p:txBody>
          <a:bodyPr wrap="square" lIns="0" tIns="0" rIns="0" bIns="0" rtlCol="0" anchor="ctr"/>
          <a:lstStyle/>
          <a:p>
            <a:pPr algn="ctr" indent="0" marL="0">
              <a:buNone/>
            </a:pPr>
            <a:r>
              <a:rPr lang="en-US" sz="1100" b="1" dirty="0">
                <a:solidFill>
                  <a:schemeClr val="bg1"/>
                </a:solidFill>
              </a:rPr>
              <a:t>SJ</a:t>
            </a:r>
            <a:endParaRPr lang="en-US" sz="1100" dirty="0"/>
          </a:p>
        </p:txBody>
      </p:sp>
      <p:sp>
        <p:nvSpPr>
          <p:cNvPr id="20" name="Chip name SJ"/>
          <p:cNvSpPr txBox="1"/>
          <p:nvPr/>
        </p:nvSpPr>
        <p:spPr>
          <a:xfrm>
            <a:off x="9537192" y="4754880"/>
            <a:ext cx="2029968" cy="566928"/>
          </a:xfrm>
          <a:prstGeom prst="rect">
            <a:avLst/>
          </a:prstGeom>
          <a:noFill/>
          <a:ln/>
        </p:spPr>
        <p:txBody>
          <a:bodyPr wrap="square" lIns="0" tIns="0" rIns="0" bIns="0" rtlCol="0" anchor="ctr"/>
          <a:lstStyle/>
          <a:p>
            <a:pPr indent="0" marL="0">
              <a:buNone/>
            </a:pPr>
            <a:r>
              <a:rPr lang="en-US" sz="1300" b="1" dirty="0">
                <a:solidFill>
                  <a:schemeClr val="tx1"/>
                </a:solidFill>
              </a:rPr>
              <a:t>Shreya Jain</a:t>
            </a:r>
            <a:endParaRPr lang="en-US" sz="1300" dirty="0"/>
          </a:p>
        </p:txBody>
      </p:sp>
      <p:sp>
        <p:nvSpPr>
          <p:cNvPr id="21" name="Name chip TP"/>
          <p:cNvSpPr/>
          <p:nvPr/>
        </p:nvSpPr>
        <p:spPr>
          <a:xfrm>
            <a:off x="548640" y="5477256"/>
            <a:ext cx="2670048" cy="566928"/>
          </a:xfrm>
          <a:prstGeom prst="roundRect">
            <a:avLst>
              <a:gd name="adj" fmla="val 50000"/>
            </a:avLst>
          </a:prstGeom>
          <a:solidFill>
            <a:schemeClr val="bg2">
              <a:alpha val="82000"/>
            </a:schemeClr>
          </a:solidFill>
          <a:ln w="9525">
            <a:solidFill>
              <a:srgbClr val="FFFFFF">
                <a:alpha val="18000"/>
              </a:srgbClr>
            </a:solidFill>
            <a:prstDash val="solid"/>
          </a:ln>
        </p:spPr>
      </p:sp>
      <p:sp>
        <p:nvSpPr>
          <p:cNvPr id="22" name="Chip dot TP"/>
          <p:cNvSpPr/>
          <p:nvPr/>
        </p:nvSpPr>
        <p:spPr>
          <a:xfrm>
            <a:off x="640080" y="5568696"/>
            <a:ext cx="384048" cy="384048"/>
          </a:xfrm>
          <a:prstGeom prst="ellipse">
            <a:avLst/>
          </a:prstGeom>
          <a:solidFill>
            <a:schemeClr val="accent1"/>
          </a:solidFill>
          <a:ln w="12700">
            <a:solidFill>
              <a:schemeClr val="accent1"/>
            </a:solidFill>
            <a:prstDash val="solid"/>
          </a:ln>
        </p:spPr>
      </p:sp>
      <p:sp>
        <p:nvSpPr>
          <p:cNvPr id="23" name="Chip initials TP"/>
          <p:cNvSpPr txBox="1"/>
          <p:nvPr/>
        </p:nvSpPr>
        <p:spPr>
          <a:xfrm>
            <a:off x="640080" y="5568696"/>
            <a:ext cx="384048" cy="384048"/>
          </a:xfrm>
          <a:prstGeom prst="rect">
            <a:avLst/>
          </a:prstGeom>
          <a:noFill/>
          <a:ln/>
        </p:spPr>
        <p:txBody>
          <a:bodyPr wrap="square" lIns="0" tIns="0" rIns="0" bIns="0" rtlCol="0" anchor="ctr"/>
          <a:lstStyle/>
          <a:p>
            <a:pPr algn="ctr" indent="0" marL="0">
              <a:buNone/>
            </a:pPr>
            <a:r>
              <a:rPr lang="en-US" sz="1100" b="1" dirty="0">
                <a:solidFill>
                  <a:schemeClr val="bg1"/>
                </a:solidFill>
              </a:rPr>
              <a:t>TP</a:t>
            </a:r>
            <a:endParaRPr lang="en-US" sz="1100" dirty="0"/>
          </a:p>
        </p:txBody>
      </p:sp>
      <p:sp>
        <p:nvSpPr>
          <p:cNvPr id="24" name="Chip name TP"/>
          <p:cNvSpPr txBox="1"/>
          <p:nvPr/>
        </p:nvSpPr>
        <p:spPr>
          <a:xfrm>
            <a:off x="1115568" y="5477256"/>
            <a:ext cx="2029968" cy="566928"/>
          </a:xfrm>
          <a:prstGeom prst="rect">
            <a:avLst/>
          </a:prstGeom>
          <a:noFill/>
          <a:ln/>
        </p:spPr>
        <p:txBody>
          <a:bodyPr wrap="square" lIns="0" tIns="0" rIns="0" bIns="0" rtlCol="0" anchor="ctr"/>
          <a:lstStyle/>
          <a:p>
            <a:pPr indent="0" marL="0">
              <a:buNone/>
            </a:pPr>
            <a:r>
              <a:rPr lang="en-US" sz="1300" b="1" dirty="0">
                <a:solidFill>
                  <a:schemeClr val="tx1"/>
                </a:solidFill>
              </a:rPr>
              <a:t>Taneesha Rajiv Prasad</a:t>
            </a:r>
            <a:endParaRPr lang="en-US" sz="1300" dirty="0"/>
          </a:p>
        </p:txBody>
      </p:sp>
      <p:sp>
        <p:nvSpPr>
          <p:cNvPr id="25" name="Name chip NH"/>
          <p:cNvSpPr/>
          <p:nvPr/>
        </p:nvSpPr>
        <p:spPr>
          <a:xfrm>
            <a:off x="3355848" y="5477256"/>
            <a:ext cx="2670048" cy="566928"/>
          </a:xfrm>
          <a:prstGeom prst="roundRect">
            <a:avLst>
              <a:gd name="adj" fmla="val 50000"/>
            </a:avLst>
          </a:prstGeom>
          <a:solidFill>
            <a:schemeClr val="bg2">
              <a:alpha val="82000"/>
            </a:schemeClr>
          </a:solidFill>
          <a:ln w="9525">
            <a:solidFill>
              <a:srgbClr val="FFFFFF">
                <a:alpha val="18000"/>
              </a:srgbClr>
            </a:solidFill>
            <a:prstDash val="solid"/>
          </a:ln>
        </p:spPr>
      </p:sp>
      <p:sp>
        <p:nvSpPr>
          <p:cNvPr id="26" name="Chip dot NH"/>
          <p:cNvSpPr/>
          <p:nvPr/>
        </p:nvSpPr>
        <p:spPr>
          <a:xfrm>
            <a:off x="3447288" y="5568696"/>
            <a:ext cx="384048" cy="384048"/>
          </a:xfrm>
          <a:prstGeom prst="ellipse">
            <a:avLst/>
          </a:prstGeom>
          <a:solidFill>
            <a:schemeClr val="accent1"/>
          </a:solidFill>
          <a:ln w="12700">
            <a:solidFill>
              <a:schemeClr val="accent1"/>
            </a:solidFill>
            <a:prstDash val="solid"/>
          </a:ln>
        </p:spPr>
      </p:sp>
      <p:sp>
        <p:nvSpPr>
          <p:cNvPr id="27" name="Chip initials NH"/>
          <p:cNvSpPr txBox="1"/>
          <p:nvPr/>
        </p:nvSpPr>
        <p:spPr>
          <a:xfrm>
            <a:off x="3447288" y="5568696"/>
            <a:ext cx="384048" cy="384048"/>
          </a:xfrm>
          <a:prstGeom prst="rect">
            <a:avLst/>
          </a:prstGeom>
          <a:noFill/>
          <a:ln/>
        </p:spPr>
        <p:txBody>
          <a:bodyPr wrap="square" lIns="0" tIns="0" rIns="0" bIns="0" rtlCol="0" anchor="ctr"/>
          <a:lstStyle/>
          <a:p>
            <a:pPr algn="ctr" indent="0" marL="0">
              <a:buNone/>
            </a:pPr>
            <a:r>
              <a:rPr lang="en-US" sz="1100" b="1" dirty="0">
                <a:solidFill>
                  <a:schemeClr val="bg1"/>
                </a:solidFill>
              </a:rPr>
              <a:t>NH</a:t>
            </a:r>
            <a:endParaRPr lang="en-US" sz="1100" dirty="0"/>
          </a:p>
        </p:txBody>
      </p:sp>
      <p:sp>
        <p:nvSpPr>
          <p:cNvPr id="28" name="Chip name NH"/>
          <p:cNvSpPr txBox="1"/>
          <p:nvPr/>
        </p:nvSpPr>
        <p:spPr>
          <a:xfrm>
            <a:off x="3922776" y="5477256"/>
            <a:ext cx="2029968" cy="566928"/>
          </a:xfrm>
          <a:prstGeom prst="rect">
            <a:avLst/>
          </a:prstGeom>
          <a:noFill/>
          <a:ln/>
        </p:spPr>
        <p:txBody>
          <a:bodyPr wrap="square" lIns="0" tIns="0" rIns="0" bIns="0" rtlCol="0" anchor="ctr"/>
          <a:lstStyle/>
          <a:p>
            <a:pPr indent="0" marL="0">
              <a:buNone/>
            </a:pPr>
            <a:r>
              <a:rPr lang="en-US" sz="1300" b="1" dirty="0">
                <a:solidFill>
                  <a:schemeClr val="tx1"/>
                </a:solidFill>
              </a:rPr>
              <a:t>Nithyashree Hebbar</a:t>
            </a:r>
            <a:endParaRPr lang="en-US" sz="1300" dirty="0"/>
          </a:p>
        </p:txBody>
      </p:sp>
      <p:sp>
        <p:nvSpPr>
          <p:cNvPr id="29" name="Name chip AG"/>
          <p:cNvSpPr/>
          <p:nvPr/>
        </p:nvSpPr>
        <p:spPr>
          <a:xfrm>
            <a:off x="6163056" y="5477256"/>
            <a:ext cx="2670048" cy="566928"/>
          </a:xfrm>
          <a:prstGeom prst="roundRect">
            <a:avLst>
              <a:gd name="adj" fmla="val 50000"/>
            </a:avLst>
          </a:prstGeom>
          <a:solidFill>
            <a:schemeClr val="bg2">
              <a:alpha val="82000"/>
            </a:schemeClr>
          </a:solidFill>
          <a:ln w="9525">
            <a:solidFill>
              <a:srgbClr val="FFFFFF">
                <a:alpha val="18000"/>
              </a:srgbClr>
            </a:solidFill>
            <a:prstDash val="solid"/>
          </a:ln>
        </p:spPr>
      </p:sp>
      <p:sp>
        <p:nvSpPr>
          <p:cNvPr id="30" name="Chip dot AG"/>
          <p:cNvSpPr/>
          <p:nvPr/>
        </p:nvSpPr>
        <p:spPr>
          <a:xfrm>
            <a:off x="6254496" y="5568696"/>
            <a:ext cx="384048" cy="384048"/>
          </a:xfrm>
          <a:prstGeom prst="ellipse">
            <a:avLst/>
          </a:prstGeom>
          <a:solidFill>
            <a:schemeClr val="accent1"/>
          </a:solidFill>
          <a:ln w="12700">
            <a:solidFill>
              <a:schemeClr val="accent1"/>
            </a:solidFill>
            <a:prstDash val="solid"/>
          </a:ln>
        </p:spPr>
      </p:sp>
      <p:sp>
        <p:nvSpPr>
          <p:cNvPr id="31" name="Chip initials AG"/>
          <p:cNvSpPr txBox="1"/>
          <p:nvPr/>
        </p:nvSpPr>
        <p:spPr>
          <a:xfrm>
            <a:off x="6254496" y="5568696"/>
            <a:ext cx="384048" cy="384048"/>
          </a:xfrm>
          <a:prstGeom prst="rect">
            <a:avLst/>
          </a:prstGeom>
          <a:noFill/>
          <a:ln/>
        </p:spPr>
        <p:txBody>
          <a:bodyPr wrap="square" lIns="0" tIns="0" rIns="0" bIns="0" rtlCol="0" anchor="ctr"/>
          <a:lstStyle/>
          <a:p>
            <a:pPr algn="ctr" indent="0" marL="0">
              <a:buNone/>
            </a:pPr>
            <a:r>
              <a:rPr lang="en-US" sz="1100" b="1" dirty="0">
                <a:solidFill>
                  <a:schemeClr val="bg1"/>
                </a:solidFill>
              </a:rPr>
              <a:t>AG</a:t>
            </a:r>
            <a:endParaRPr lang="en-US" sz="1100" dirty="0"/>
          </a:p>
        </p:txBody>
      </p:sp>
      <p:sp>
        <p:nvSpPr>
          <p:cNvPr id="32" name="Chip name AG"/>
          <p:cNvSpPr txBox="1"/>
          <p:nvPr/>
        </p:nvSpPr>
        <p:spPr>
          <a:xfrm>
            <a:off x="6729984" y="5477256"/>
            <a:ext cx="2029968" cy="566928"/>
          </a:xfrm>
          <a:prstGeom prst="rect">
            <a:avLst/>
          </a:prstGeom>
          <a:noFill/>
          <a:ln/>
        </p:spPr>
        <p:txBody>
          <a:bodyPr wrap="square" lIns="0" tIns="0" rIns="0" bIns="0" rtlCol="0" anchor="ctr"/>
          <a:lstStyle/>
          <a:p>
            <a:pPr indent="0" marL="0">
              <a:buNone/>
            </a:pPr>
            <a:r>
              <a:rPr lang="en-US" sz="1300" b="1" dirty="0">
                <a:solidFill>
                  <a:schemeClr val="tx1"/>
                </a:solidFill>
              </a:rPr>
              <a:t>Arshi Garg</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Presenter badge"/>
          <p:cNvSpPr/>
          <p:nvPr/>
        </p:nvSpPr>
        <p:spPr>
          <a:xfrm>
            <a:off x="548640" y="384048"/>
            <a:ext cx="365760" cy="365760"/>
          </a:xfrm>
          <a:prstGeom prst="ellipse">
            <a:avLst/>
          </a:prstGeom>
          <a:solidFill>
            <a:schemeClr val="accent1"/>
          </a:solidFill>
          <a:ln w="12700">
            <a:solidFill>
              <a:schemeClr val="accent1"/>
            </a:solidFill>
            <a:prstDash val="solid"/>
          </a:ln>
        </p:spPr>
      </p:sp>
      <p:sp>
        <p:nvSpPr>
          <p:cNvPr id="3" name="Presenter initials"/>
          <p:cNvSpPr txBox="1"/>
          <p:nvPr/>
        </p:nvSpPr>
        <p:spPr>
          <a:xfrm>
            <a:off x="548640" y="384048"/>
            <a:ext cx="365760" cy="365760"/>
          </a:xfrm>
          <a:prstGeom prst="rect">
            <a:avLst/>
          </a:prstGeom>
          <a:noFill/>
          <a:ln/>
        </p:spPr>
        <p:txBody>
          <a:bodyPr wrap="square" lIns="0" tIns="0" rIns="0" bIns="0" rtlCol="0" anchor="ctr"/>
          <a:lstStyle/>
          <a:p>
            <a:pPr algn="ctr" indent="0" marL="0">
              <a:buNone/>
            </a:pPr>
            <a:r>
              <a:rPr lang="en-US" sz="1100" b="1" dirty="0">
                <a:solidFill>
                  <a:schemeClr val="bg1"/>
                </a:solidFill>
              </a:rPr>
              <a:t>MS</a:t>
            </a:r>
            <a:endParaRPr lang="en-US" sz="1100" dirty="0"/>
          </a:p>
        </p:txBody>
      </p:sp>
      <p:sp>
        <p:nvSpPr>
          <p:cNvPr id="4" name="Presenter line"/>
          <p:cNvSpPr txBox="1"/>
          <p:nvPr/>
        </p:nvSpPr>
        <p:spPr>
          <a:xfrm>
            <a:off x="1051560" y="384048"/>
            <a:ext cx="9601200" cy="365760"/>
          </a:xfrm>
          <a:prstGeom prst="rect">
            <a:avLst/>
          </a:prstGeom>
          <a:noFill/>
          <a:ln/>
        </p:spPr>
        <p:txBody>
          <a:bodyPr wrap="square" lIns="0" tIns="0" rIns="0" bIns="0" rtlCol="0" anchor="ctr"/>
          <a:lstStyle/>
          <a:p>
            <a:pPr indent="0" marL="0">
              <a:buNone/>
            </a:pPr>
            <a:r>
              <a:rPr lang="en-US" sz="1200" b="1" spc="200" kern="0" dirty="0">
                <a:solidFill>
                  <a:schemeClr val="accent1"/>
                </a:solidFill>
              </a:rPr>
              <a:t>MALHAR SRIVATSAV</a:t>
            </a:r>
            <a:pPr indent="0" marL="0">
              <a:buNone/>
            </a:pPr>
            <a:r>
              <a:rPr lang="en-US" sz="1200" dirty="0">
                <a:solidFill>
                  <a:schemeClr val="tx2"/>
                </a:solidFill>
              </a:rPr>
              <a:t>   ·   Problem and system overview</a:t>
            </a:r>
            <a:endParaRPr lang="en-US" sz="1200" dirty="0"/>
          </a:p>
        </p:txBody>
      </p:sp>
      <p:sp>
        <p:nvSpPr>
          <p:cNvPr id="5" name="Text 0"/>
          <p:cNvSpPr/>
          <p:nvPr>
            <p:ph idx="100" type="title" hasCustomPrompt="1"/>
          </p:nvPr>
        </p:nvSpPr>
        <p:spPr>
          <a:xfrm>
            <a:off x="548640" y="868680"/>
            <a:ext cx="11091672" cy="731520"/>
          </a:xfrm>
          <a:prstGeom prst="rect">
            <a:avLst/>
          </a:prstGeom>
          <a:noFill/>
          <a:ln/>
        </p:spPr>
        <p:txBody>
          <a:bodyPr wrap="square" lIns="0" tIns="0" rIns="0" bIns="0" rtlCol="0" anchor="ctr"/>
          <a:lstStyle/>
          <a:p>
            <a:pPr algn="l" indent="0" marL="0">
              <a:buNone/>
            </a:pPr>
            <a:r>
              <a:rPr lang="en-US" sz="3400" b="1" dirty="0">
                <a:solidFill>
                  <a:schemeClr val="tx1"/>
                </a:solidFill>
              </a:rPr>
              <a:t>Early detection needs evidence you can check</a:t>
            </a:r>
            <a:endParaRPr lang="en-US" sz="3400" dirty="0"/>
          </a:p>
        </p:txBody>
      </p:sp>
      <p:sp>
        <p:nvSpPr>
          <p:cNvPr id="6" name="Stage pill NC"/>
          <p:cNvSpPr/>
          <p:nvPr/>
        </p:nvSpPr>
        <p:spPr>
          <a:xfrm>
            <a:off x="548640" y="1783080"/>
            <a:ext cx="2542032" cy="566928"/>
          </a:xfrm>
          <a:prstGeom prst="roundRect">
            <a:avLst>
              <a:gd name="adj" fmla="val 50000"/>
            </a:avLst>
          </a:prstGeom>
          <a:solidFill>
            <a:srgbClr val="34D399">
              <a:alpha val="18000"/>
            </a:srgbClr>
          </a:solidFill>
          <a:ln w="15875">
            <a:solidFill>
              <a:srgbClr val="34D399"/>
            </a:solidFill>
            <a:prstDash val="solid"/>
          </a:ln>
        </p:spPr>
      </p:sp>
      <p:sp>
        <p:nvSpPr>
          <p:cNvPr id="7" name="Stage label NC"/>
          <p:cNvSpPr txBox="1"/>
          <p:nvPr/>
        </p:nvSpPr>
        <p:spPr>
          <a:xfrm>
            <a:off x="548640" y="1783080"/>
            <a:ext cx="2542032" cy="566928"/>
          </a:xfrm>
          <a:prstGeom prst="rect">
            <a:avLst/>
          </a:prstGeom>
          <a:noFill/>
          <a:ln/>
        </p:spPr>
        <p:txBody>
          <a:bodyPr wrap="square" lIns="0" tIns="0" rIns="0" bIns="0" rtlCol="0" anchor="ctr"/>
          <a:lstStyle/>
          <a:p>
            <a:pPr algn="ctr" indent="0" marL="0">
              <a:buNone/>
            </a:pPr>
            <a:r>
              <a:rPr lang="en-US" sz="1500" b="1" dirty="0">
                <a:solidFill>
                  <a:srgbClr val="34D399"/>
                </a:solidFill>
              </a:rPr>
              <a:t>NC</a:t>
            </a:r>
            <a:pPr algn="ctr" indent="0" marL="0">
              <a:buNone/>
            </a:pPr>
            <a:r>
              <a:rPr lang="en-US" sz="1500" dirty="0">
                <a:solidFill>
                  <a:schemeClr val="tx1"/>
                </a:solidFill>
              </a:rPr>
              <a:t>   Normal cognition</a:t>
            </a:r>
            <a:endParaRPr lang="en-US" sz="1500" dirty="0"/>
          </a:p>
        </p:txBody>
      </p:sp>
      <p:sp>
        <p:nvSpPr>
          <p:cNvPr id="8" name="Stage arrow 1"/>
          <p:cNvSpPr txBox="1"/>
          <p:nvPr/>
        </p:nvSpPr>
        <p:spPr>
          <a:xfrm>
            <a:off x="3090672" y="1783080"/>
            <a:ext cx="310896" cy="566928"/>
          </a:xfrm>
          <a:prstGeom prst="rect">
            <a:avLst/>
          </a:prstGeom>
          <a:noFill/>
          <a:ln/>
        </p:spPr>
        <p:txBody>
          <a:bodyPr wrap="square" lIns="0" tIns="0" rIns="0" bIns="0" rtlCol="0" anchor="ctr"/>
          <a:lstStyle/>
          <a:p>
            <a:pPr algn="ctr" indent="0" marL="0">
              <a:buNone/>
            </a:pPr>
            <a:r>
              <a:rPr lang="en-US" sz="2400" dirty="0">
                <a:solidFill>
                  <a:schemeClr val="tx2"/>
                </a:solidFill>
              </a:rPr>
              <a:t>›</a:t>
            </a:r>
            <a:endParaRPr lang="en-US" sz="2400" dirty="0"/>
          </a:p>
        </p:txBody>
      </p:sp>
      <p:sp>
        <p:nvSpPr>
          <p:cNvPr id="9" name="Stage pill EMCI"/>
          <p:cNvSpPr/>
          <p:nvPr/>
        </p:nvSpPr>
        <p:spPr>
          <a:xfrm>
            <a:off x="3401568" y="1783080"/>
            <a:ext cx="2542032" cy="566928"/>
          </a:xfrm>
          <a:prstGeom prst="roundRect">
            <a:avLst>
              <a:gd name="adj" fmla="val 50000"/>
            </a:avLst>
          </a:prstGeom>
          <a:solidFill>
            <a:srgbClr val="FBBF24">
              <a:alpha val="18000"/>
            </a:srgbClr>
          </a:solidFill>
          <a:ln w="15875">
            <a:solidFill>
              <a:srgbClr val="FBBF24"/>
            </a:solidFill>
            <a:prstDash val="solid"/>
          </a:ln>
        </p:spPr>
      </p:sp>
      <p:sp>
        <p:nvSpPr>
          <p:cNvPr id="10" name="Stage label EMCI"/>
          <p:cNvSpPr txBox="1"/>
          <p:nvPr/>
        </p:nvSpPr>
        <p:spPr>
          <a:xfrm>
            <a:off x="3401568" y="1783080"/>
            <a:ext cx="2542032" cy="566928"/>
          </a:xfrm>
          <a:prstGeom prst="rect">
            <a:avLst/>
          </a:prstGeom>
          <a:noFill/>
          <a:ln/>
        </p:spPr>
        <p:txBody>
          <a:bodyPr wrap="square" lIns="0" tIns="0" rIns="0" bIns="0" rtlCol="0" anchor="ctr"/>
          <a:lstStyle/>
          <a:p>
            <a:pPr algn="ctr" indent="0" marL="0">
              <a:buNone/>
            </a:pPr>
            <a:r>
              <a:rPr lang="en-US" sz="1500" b="1" dirty="0">
                <a:solidFill>
                  <a:srgbClr val="FBBF24"/>
                </a:solidFill>
              </a:rPr>
              <a:t>EMCI</a:t>
            </a:r>
            <a:pPr algn="ctr" indent="0" marL="0">
              <a:buNone/>
            </a:pPr>
            <a:r>
              <a:rPr lang="en-US" sz="1500" dirty="0">
                <a:solidFill>
                  <a:schemeClr val="tx1"/>
                </a:solidFill>
              </a:rPr>
              <a:t>   Early MCI</a:t>
            </a:r>
            <a:endParaRPr lang="en-US" sz="1500" dirty="0"/>
          </a:p>
        </p:txBody>
      </p:sp>
      <p:sp>
        <p:nvSpPr>
          <p:cNvPr id="11" name="Stage arrow 2"/>
          <p:cNvSpPr txBox="1"/>
          <p:nvPr/>
        </p:nvSpPr>
        <p:spPr>
          <a:xfrm>
            <a:off x="5943600" y="1783080"/>
            <a:ext cx="310896" cy="566928"/>
          </a:xfrm>
          <a:prstGeom prst="rect">
            <a:avLst/>
          </a:prstGeom>
          <a:noFill/>
          <a:ln/>
        </p:spPr>
        <p:txBody>
          <a:bodyPr wrap="square" lIns="0" tIns="0" rIns="0" bIns="0" rtlCol="0" anchor="ctr"/>
          <a:lstStyle/>
          <a:p>
            <a:pPr algn="ctr" indent="0" marL="0">
              <a:buNone/>
            </a:pPr>
            <a:r>
              <a:rPr lang="en-US" sz="2400" dirty="0">
                <a:solidFill>
                  <a:schemeClr val="tx2"/>
                </a:solidFill>
              </a:rPr>
              <a:t>›</a:t>
            </a:r>
            <a:endParaRPr lang="en-US" sz="2400" dirty="0"/>
          </a:p>
        </p:txBody>
      </p:sp>
      <p:sp>
        <p:nvSpPr>
          <p:cNvPr id="12" name="Stage pill LMCI"/>
          <p:cNvSpPr/>
          <p:nvPr/>
        </p:nvSpPr>
        <p:spPr>
          <a:xfrm>
            <a:off x="6254496" y="1783080"/>
            <a:ext cx="2542032" cy="566928"/>
          </a:xfrm>
          <a:prstGeom prst="roundRect">
            <a:avLst>
              <a:gd name="adj" fmla="val 50000"/>
            </a:avLst>
          </a:prstGeom>
          <a:solidFill>
            <a:srgbClr val="FB923C">
              <a:alpha val="18000"/>
            </a:srgbClr>
          </a:solidFill>
          <a:ln w="15875">
            <a:solidFill>
              <a:srgbClr val="FB923C"/>
            </a:solidFill>
            <a:prstDash val="solid"/>
          </a:ln>
        </p:spPr>
      </p:sp>
      <p:sp>
        <p:nvSpPr>
          <p:cNvPr id="13" name="Stage label LMCI"/>
          <p:cNvSpPr txBox="1"/>
          <p:nvPr/>
        </p:nvSpPr>
        <p:spPr>
          <a:xfrm>
            <a:off x="6254496" y="1783080"/>
            <a:ext cx="2542032" cy="566928"/>
          </a:xfrm>
          <a:prstGeom prst="rect">
            <a:avLst/>
          </a:prstGeom>
          <a:noFill/>
          <a:ln/>
        </p:spPr>
        <p:txBody>
          <a:bodyPr wrap="square" lIns="0" tIns="0" rIns="0" bIns="0" rtlCol="0" anchor="ctr"/>
          <a:lstStyle/>
          <a:p>
            <a:pPr algn="ctr" indent="0" marL="0">
              <a:buNone/>
            </a:pPr>
            <a:r>
              <a:rPr lang="en-US" sz="1500" b="1" dirty="0">
                <a:solidFill>
                  <a:srgbClr val="FB923C"/>
                </a:solidFill>
              </a:rPr>
              <a:t>LMCI</a:t>
            </a:r>
            <a:pPr algn="ctr" indent="0" marL="0">
              <a:buNone/>
            </a:pPr>
            <a:r>
              <a:rPr lang="en-US" sz="1500" dirty="0">
                <a:solidFill>
                  <a:schemeClr val="tx1"/>
                </a:solidFill>
              </a:rPr>
              <a:t>   Late MCI</a:t>
            </a:r>
            <a:endParaRPr lang="en-US" sz="1500" dirty="0"/>
          </a:p>
        </p:txBody>
      </p:sp>
      <p:sp>
        <p:nvSpPr>
          <p:cNvPr id="14" name="Stage arrow 3"/>
          <p:cNvSpPr txBox="1"/>
          <p:nvPr/>
        </p:nvSpPr>
        <p:spPr>
          <a:xfrm>
            <a:off x="8796528" y="1783080"/>
            <a:ext cx="310896" cy="566928"/>
          </a:xfrm>
          <a:prstGeom prst="rect">
            <a:avLst/>
          </a:prstGeom>
          <a:noFill/>
          <a:ln/>
        </p:spPr>
        <p:txBody>
          <a:bodyPr wrap="square" lIns="0" tIns="0" rIns="0" bIns="0" rtlCol="0" anchor="ctr"/>
          <a:lstStyle/>
          <a:p>
            <a:pPr algn="ctr" indent="0" marL="0">
              <a:buNone/>
            </a:pPr>
            <a:r>
              <a:rPr lang="en-US" sz="2400" dirty="0">
                <a:solidFill>
                  <a:schemeClr val="tx2"/>
                </a:solidFill>
              </a:rPr>
              <a:t>›</a:t>
            </a:r>
            <a:endParaRPr lang="en-US" sz="2400" dirty="0"/>
          </a:p>
        </p:txBody>
      </p:sp>
      <p:sp>
        <p:nvSpPr>
          <p:cNvPr id="15" name="Stage pill AD"/>
          <p:cNvSpPr/>
          <p:nvPr/>
        </p:nvSpPr>
        <p:spPr>
          <a:xfrm>
            <a:off x="9107424" y="1783080"/>
            <a:ext cx="2542032" cy="566928"/>
          </a:xfrm>
          <a:prstGeom prst="roundRect">
            <a:avLst>
              <a:gd name="adj" fmla="val 50000"/>
            </a:avLst>
          </a:prstGeom>
          <a:solidFill>
            <a:srgbClr val="F43F5E">
              <a:alpha val="18000"/>
            </a:srgbClr>
          </a:solidFill>
          <a:ln w="15875">
            <a:solidFill>
              <a:srgbClr val="F43F5E"/>
            </a:solidFill>
            <a:prstDash val="solid"/>
          </a:ln>
        </p:spPr>
      </p:sp>
      <p:sp>
        <p:nvSpPr>
          <p:cNvPr id="16" name="Stage label AD"/>
          <p:cNvSpPr txBox="1"/>
          <p:nvPr/>
        </p:nvSpPr>
        <p:spPr>
          <a:xfrm>
            <a:off x="9107424" y="1783080"/>
            <a:ext cx="2542032" cy="566928"/>
          </a:xfrm>
          <a:prstGeom prst="rect">
            <a:avLst/>
          </a:prstGeom>
          <a:noFill/>
          <a:ln/>
        </p:spPr>
        <p:txBody>
          <a:bodyPr wrap="square" lIns="0" tIns="0" rIns="0" bIns="0" rtlCol="0" anchor="ctr"/>
          <a:lstStyle/>
          <a:p>
            <a:pPr algn="ctr" indent="0" marL="0">
              <a:buNone/>
            </a:pPr>
            <a:r>
              <a:rPr lang="en-US" sz="1500" b="1" dirty="0">
                <a:solidFill>
                  <a:srgbClr val="F43F5E"/>
                </a:solidFill>
              </a:rPr>
              <a:t>AD</a:t>
            </a:r>
            <a:pPr algn="ctr" indent="0" marL="0">
              <a:buNone/>
            </a:pPr>
            <a:r>
              <a:rPr lang="en-US" sz="1500" dirty="0">
                <a:solidFill>
                  <a:schemeClr val="tx1"/>
                </a:solidFill>
              </a:rPr>
              <a:t>   Alzheimer's</a:t>
            </a:r>
            <a:endParaRPr lang="en-US" sz="1500" dirty="0"/>
          </a:p>
        </p:txBody>
      </p:sp>
      <p:sp>
        <p:nvSpPr>
          <p:cNvPr id="17" name="Problems label"/>
          <p:cNvSpPr txBox="1"/>
          <p:nvPr/>
        </p:nvSpPr>
        <p:spPr>
          <a:xfrm>
            <a:off x="548640" y="2697480"/>
            <a:ext cx="5120640" cy="274320"/>
          </a:xfrm>
          <a:prstGeom prst="rect">
            <a:avLst/>
          </a:prstGeom>
          <a:noFill/>
          <a:ln/>
        </p:spPr>
        <p:txBody>
          <a:bodyPr wrap="square" lIns="0" tIns="0" rIns="0" bIns="0" rtlCol="0" anchor="t"/>
          <a:lstStyle/>
          <a:p>
            <a:pPr indent="0" marL="0">
              <a:buNone/>
            </a:pPr>
            <a:r>
              <a:rPr lang="en-US" sz="1200" b="1" spc="300" kern="0" dirty="0">
                <a:solidFill>
                  <a:schemeClr val="accent1"/>
                </a:solidFill>
              </a:rPr>
              <a:t>THREE PROBLEMS</a:t>
            </a:r>
            <a:endParaRPr lang="en-US" sz="1200" dirty="0"/>
          </a:p>
        </p:txBody>
      </p:sp>
      <p:sp>
        <p:nvSpPr>
          <p:cNvPr id="18" name="Problem card 1"/>
          <p:cNvSpPr/>
          <p:nvPr/>
        </p:nvSpPr>
        <p:spPr>
          <a:xfrm>
            <a:off x="548640" y="3063240"/>
            <a:ext cx="5212080" cy="868680"/>
          </a:xfrm>
          <a:prstGeom prst="roundRect">
            <a:avLst>
              <a:gd name="adj" fmla="val 12632"/>
            </a:avLst>
          </a:prstGeom>
          <a:solidFill>
            <a:schemeClr val="bg2">
              <a:alpha val="88000"/>
            </a:schemeClr>
          </a:solidFill>
          <a:ln w="9525">
            <a:solidFill>
              <a:srgbClr val="FFFFFF">
                <a:alpha val="12000"/>
              </a:srgbClr>
            </a:solidFill>
            <a:prstDash val="solid"/>
          </a:ln>
        </p:spPr>
      </p:sp>
      <p:sp>
        <p:nvSpPr>
          <p:cNvPr id="19" name="Problem number dot 1"/>
          <p:cNvSpPr/>
          <p:nvPr/>
        </p:nvSpPr>
        <p:spPr>
          <a:xfrm>
            <a:off x="749808" y="3282696"/>
            <a:ext cx="429768" cy="429768"/>
          </a:xfrm>
          <a:prstGeom prst="ellipse">
            <a:avLst/>
          </a:prstGeom>
          <a:solidFill>
            <a:schemeClr val="accent6"/>
          </a:solidFill>
          <a:ln w="12700">
            <a:solidFill>
              <a:schemeClr val="accent6"/>
            </a:solidFill>
            <a:prstDash val="solid"/>
          </a:ln>
        </p:spPr>
      </p:sp>
      <p:sp>
        <p:nvSpPr>
          <p:cNvPr id="20" name="Problem number 1"/>
          <p:cNvSpPr txBox="1"/>
          <p:nvPr/>
        </p:nvSpPr>
        <p:spPr>
          <a:xfrm>
            <a:off x="749808" y="3282696"/>
            <a:ext cx="429768" cy="429768"/>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21" name="Problem text 1"/>
          <p:cNvSpPr txBox="1"/>
          <p:nvPr/>
        </p:nvSpPr>
        <p:spPr>
          <a:xfrm>
            <a:off x="1371600" y="3063240"/>
            <a:ext cx="4206240" cy="868680"/>
          </a:xfrm>
          <a:prstGeom prst="rect">
            <a:avLst/>
          </a:prstGeom>
          <a:noFill/>
          <a:ln/>
        </p:spPr>
        <p:txBody>
          <a:bodyPr wrap="square" lIns="0" tIns="0" rIns="0" bIns="0" rtlCol="0" anchor="ctr"/>
          <a:lstStyle/>
          <a:p>
            <a:pPr indent="0" marL="0">
              <a:buNone/>
            </a:pPr>
            <a:r>
              <a:rPr lang="en-US" sz="1600" dirty="0">
                <a:solidFill>
                  <a:schemeClr val="tx1"/>
                </a:solidFill>
              </a:rPr>
              <a:t>Early MRI changes are subtle</a:t>
            </a:r>
            <a:endParaRPr lang="en-US" sz="1600" dirty="0"/>
          </a:p>
        </p:txBody>
      </p:sp>
      <p:sp>
        <p:nvSpPr>
          <p:cNvPr id="22" name="Problem card 2"/>
          <p:cNvSpPr/>
          <p:nvPr/>
        </p:nvSpPr>
        <p:spPr>
          <a:xfrm>
            <a:off x="548640" y="4087368"/>
            <a:ext cx="5212080" cy="868680"/>
          </a:xfrm>
          <a:prstGeom prst="roundRect">
            <a:avLst>
              <a:gd name="adj" fmla="val 12632"/>
            </a:avLst>
          </a:prstGeom>
          <a:solidFill>
            <a:schemeClr val="bg2">
              <a:alpha val="88000"/>
            </a:schemeClr>
          </a:solidFill>
          <a:ln w="9525">
            <a:solidFill>
              <a:srgbClr val="FFFFFF">
                <a:alpha val="12000"/>
              </a:srgbClr>
            </a:solidFill>
            <a:prstDash val="solid"/>
          </a:ln>
        </p:spPr>
      </p:sp>
      <p:sp>
        <p:nvSpPr>
          <p:cNvPr id="23" name="Problem number dot 2"/>
          <p:cNvSpPr/>
          <p:nvPr/>
        </p:nvSpPr>
        <p:spPr>
          <a:xfrm>
            <a:off x="749808" y="4306824"/>
            <a:ext cx="429768" cy="429768"/>
          </a:xfrm>
          <a:prstGeom prst="ellipse">
            <a:avLst/>
          </a:prstGeom>
          <a:solidFill>
            <a:schemeClr val="accent6"/>
          </a:solidFill>
          <a:ln w="12700">
            <a:solidFill>
              <a:schemeClr val="accent6"/>
            </a:solidFill>
            <a:prstDash val="solid"/>
          </a:ln>
        </p:spPr>
      </p:sp>
      <p:sp>
        <p:nvSpPr>
          <p:cNvPr id="24" name="Problem number 2"/>
          <p:cNvSpPr txBox="1"/>
          <p:nvPr/>
        </p:nvSpPr>
        <p:spPr>
          <a:xfrm>
            <a:off x="749808" y="4306824"/>
            <a:ext cx="429768" cy="429768"/>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25" name="Problem text 2"/>
          <p:cNvSpPr txBox="1"/>
          <p:nvPr/>
        </p:nvSpPr>
        <p:spPr>
          <a:xfrm>
            <a:off x="1371600" y="4087368"/>
            <a:ext cx="4206240" cy="868680"/>
          </a:xfrm>
          <a:prstGeom prst="rect">
            <a:avLst/>
          </a:prstGeom>
          <a:noFill/>
          <a:ln/>
        </p:spPr>
        <p:txBody>
          <a:bodyPr wrap="square" lIns="0" tIns="0" rIns="0" bIns="0" rtlCol="0" anchor="ctr"/>
          <a:lstStyle/>
          <a:p>
            <a:pPr indent="0" marL="0">
              <a:buNone/>
            </a:pPr>
            <a:r>
              <a:rPr lang="en-US" sz="1600" dirty="0">
                <a:solidFill>
                  <a:schemeClr val="tx1"/>
                </a:solidFill>
              </a:rPr>
              <a:t>A bare label gives a clinician nothing to check</a:t>
            </a:r>
            <a:endParaRPr lang="en-US" sz="1600" dirty="0"/>
          </a:p>
        </p:txBody>
      </p:sp>
      <p:sp>
        <p:nvSpPr>
          <p:cNvPr id="26" name="Problem card 3"/>
          <p:cNvSpPr/>
          <p:nvPr/>
        </p:nvSpPr>
        <p:spPr>
          <a:xfrm>
            <a:off x="548640" y="5111496"/>
            <a:ext cx="5212080" cy="868680"/>
          </a:xfrm>
          <a:prstGeom prst="roundRect">
            <a:avLst>
              <a:gd name="adj" fmla="val 12632"/>
            </a:avLst>
          </a:prstGeom>
          <a:solidFill>
            <a:schemeClr val="bg2">
              <a:alpha val="88000"/>
            </a:schemeClr>
          </a:solidFill>
          <a:ln w="9525">
            <a:solidFill>
              <a:srgbClr val="FFFFFF">
                <a:alpha val="12000"/>
              </a:srgbClr>
            </a:solidFill>
            <a:prstDash val="solid"/>
          </a:ln>
        </p:spPr>
      </p:sp>
      <p:sp>
        <p:nvSpPr>
          <p:cNvPr id="27" name="Problem number dot 3"/>
          <p:cNvSpPr/>
          <p:nvPr/>
        </p:nvSpPr>
        <p:spPr>
          <a:xfrm>
            <a:off x="749808" y="5330952"/>
            <a:ext cx="429768" cy="429768"/>
          </a:xfrm>
          <a:prstGeom prst="ellipse">
            <a:avLst/>
          </a:prstGeom>
          <a:solidFill>
            <a:schemeClr val="accent6"/>
          </a:solidFill>
          <a:ln w="12700">
            <a:solidFill>
              <a:schemeClr val="accent6"/>
            </a:solidFill>
            <a:prstDash val="solid"/>
          </a:ln>
        </p:spPr>
      </p:sp>
      <p:sp>
        <p:nvSpPr>
          <p:cNvPr id="28" name="Problem number 3"/>
          <p:cNvSpPr txBox="1"/>
          <p:nvPr/>
        </p:nvSpPr>
        <p:spPr>
          <a:xfrm>
            <a:off x="749808" y="5330952"/>
            <a:ext cx="429768" cy="429768"/>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29" name="Problem text 3"/>
          <p:cNvSpPr txBox="1"/>
          <p:nvPr/>
        </p:nvSpPr>
        <p:spPr>
          <a:xfrm>
            <a:off x="1371600" y="5111496"/>
            <a:ext cx="4206240" cy="868680"/>
          </a:xfrm>
          <a:prstGeom prst="rect">
            <a:avLst/>
          </a:prstGeom>
          <a:noFill/>
          <a:ln/>
        </p:spPr>
        <p:txBody>
          <a:bodyPr wrap="square" lIns="0" tIns="0" rIns="0" bIns="0" rtlCol="0" anchor="ctr"/>
          <a:lstStyle/>
          <a:p>
            <a:pPr indent="0" marL="0">
              <a:buNone/>
            </a:pPr>
            <a:r>
              <a:rPr lang="en-US" sz="1600" dirty="0">
                <a:solidFill>
                  <a:schemeClr val="tx1"/>
                </a:solidFill>
              </a:rPr>
              <a:t>Records have gaps, and healthy cases dominate</a:t>
            </a:r>
            <a:endParaRPr lang="en-US" sz="1600" dirty="0"/>
          </a:p>
        </p:txBody>
      </p:sp>
      <p:sp>
        <p:nvSpPr>
          <p:cNvPr id="30" name="Answer label"/>
          <p:cNvSpPr txBox="1"/>
          <p:nvPr/>
        </p:nvSpPr>
        <p:spPr>
          <a:xfrm>
            <a:off x="6263640" y="2697480"/>
            <a:ext cx="5303520" cy="274320"/>
          </a:xfrm>
          <a:prstGeom prst="rect">
            <a:avLst/>
          </a:prstGeom>
          <a:noFill/>
          <a:ln/>
        </p:spPr>
        <p:txBody>
          <a:bodyPr wrap="square" lIns="0" tIns="0" rIns="0" bIns="0" rtlCol="0" anchor="t"/>
          <a:lstStyle/>
          <a:p>
            <a:pPr indent="0" marL="0">
              <a:buNone/>
            </a:pPr>
            <a:r>
              <a:rPr lang="en-US" sz="1200" b="1" spc="300" kern="0" dirty="0">
                <a:solidFill>
                  <a:schemeClr val="accent1"/>
                </a:solidFill>
              </a:rPr>
              <a:t>OUR ANSWER</a:t>
            </a:r>
            <a:endParaRPr lang="en-US" sz="1200" dirty="0"/>
          </a:p>
        </p:txBody>
      </p:sp>
      <p:sp>
        <p:nvSpPr>
          <p:cNvPr id="31" name="Answer card 1"/>
          <p:cNvSpPr/>
          <p:nvPr/>
        </p:nvSpPr>
        <p:spPr>
          <a:xfrm>
            <a:off x="6263640" y="3063240"/>
            <a:ext cx="2587752" cy="1417320"/>
          </a:xfrm>
          <a:prstGeom prst="roundRect">
            <a:avLst>
              <a:gd name="adj" fmla="val 7742"/>
            </a:avLst>
          </a:prstGeom>
          <a:solidFill>
            <a:schemeClr val="bg2">
              <a:alpha val="88000"/>
            </a:schemeClr>
          </a:solidFill>
          <a:ln w="9525">
            <a:solidFill>
              <a:srgbClr val="FFFFFF">
                <a:alpha val="12000"/>
              </a:srgbClr>
            </a:solidFill>
            <a:prstDash val="solid"/>
          </a:ln>
        </p:spPr>
      </p:sp>
      <p:sp>
        <p:nvSpPr>
          <p:cNvPr id="32" name="Answer icon circle 1"/>
          <p:cNvSpPr/>
          <p:nvPr/>
        </p:nvSpPr>
        <p:spPr>
          <a:xfrm>
            <a:off x="6446520" y="3246120"/>
            <a:ext cx="502920" cy="502920"/>
          </a:xfrm>
          <a:prstGeom prst="ellipse">
            <a:avLst/>
          </a:prstGeom>
          <a:solidFill>
            <a:schemeClr val="accent1"/>
          </a:solidFill>
          <a:ln w="12700">
            <a:solidFill>
              <a:schemeClr val="accent1"/>
            </a:solidFill>
            <a:prstDash val="solid"/>
          </a:ln>
        </p:spPr>
      </p:sp>
      <p:pic>
        <p:nvPicPr>
          <p:cNvPr id="33" name="Answer icon 1" descr="Stage classifier icon">    </p:cNvPr>
          <p:cNvPicPr>
            <a:picLocks noChangeAspect="1"/>
          </p:cNvPicPr>
          <p:nvPr/>
        </p:nvPicPr>
        <p:blipFill>
          <a:blip r:embed="rId1"/>
          <a:stretch>
            <a:fillRect/>
          </a:stretch>
        </p:blipFill>
        <p:spPr>
          <a:xfrm>
            <a:off x="6565392" y="3364992"/>
            <a:ext cx="265176" cy="265176"/>
          </a:xfrm>
          <a:prstGeom prst="rect">
            <a:avLst/>
          </a:prstGeom>
        </p:spPr>
      </p:pic>
      <p:sp>
        <p:nvSpPr>
          <p:cNvPr id="34" name="Answer title 1"/>
          <p:cNvSpPr txBox="1"/>
          <p:nvPr/>
        </p:nvSpPr>
        <p:spPr>
          <a:xfrm>
            <a:off x="6446520" y="3840480"/>
            <a:ext cx="2240280" cy="274320"/>
          </a:xfrm>
          <a:prstGeom prst="rect">
            <a:avLst/>
          </a:prstGeom>
          <a:noFill/>
          <a:ln/>
        </p:spPr>
        <p:txBody>
          <a:bodyPr wrap="square" lIns="0" tIns="0" rIns="0" bIns="0" rtlCol="0" anchor="t"/>
          <a:lstStyle/>
          <a:p>
            <a:pPr indent="0" marL="0">
              <a:buNone/>
            </a:pPr>
            <a:r>
              <a:rPr lang="en-US" sz="1500" b="1" dirty="0">
                <a:solidFill>
                  <a:schemeClr val="tx1"/>
                </a:solidFill>
              </a:rPr>
              <a:t>Stage classifier</a:t>
            </a:r>
            <a:endParaRPr lang="en-US" sz="1500" dirty="0"/>
          </a:p>
        </p:txBody>
      </p:sp>
      <p:sp>
        <p:nvSpPr>
          <p:cNvPr id="35" name="Answer text 1"/>
          <p:cNvSpPr txBox="1"/>
          <p:nvPr/>
        </p:nvSpPr>
        <p:spPr>
          <a:xfrm>
            <a:off x="6446520" y="4114800"/>
            <a:ext cx="2240280" cy="320040"/>
          </a:xfrm>
          <a:prstGeom prst="rect">
            <a:avLst/>
          </a:prstGeom>
          <a:noFill/>
          <a:ln/>
        </p:spPr>
        <p:txBody>
          <a:bodyPr wrap="square" lIns="0" tIns="0" rIns="0" bIns="0" rtlCol="0" anchor="t"/>
          <a:lstStyle/>
          <a:p>
            <a:pPr indent="0" marL="0">
              <a:buNone/>
            </a:pPr>
            <a:r>
              <a:rPr lang="en-US" sz="1300" dirty="0">
                <a:solidFill>
                  <a:schemeClr val="tx2"/>
                </a:solidFill>
              </a:rPr>
              <a:t>VGG19, four ordered stages</a:t>
            </a:r>
            <a:endParaRPr lang="en-US" sz="1300" dirty="0"/>
          </a:p>
        </p:txBody>
      </p:sp>
      <p:sp>
        <p:nvSpPr>
          <p:cNvPr id="36" name="Answer card 2"/>
          <p:cNvSpPr/>
          <p:nvPr/>
        </p:nvSpPr>
        <p:spPr>
          <a:xfrm>
            <a:off x="9006840" y="3063240"/>
            <a:ext cx="2587752" cy="1417320"/>
          </a:xfrm>
          <a:prstGeom prst="roundRect">
            <a:avLst>
              <a:gd name="adj" fmla="val 7742"/>
            </a:avLst>
          </a:prstGeom>
          <a:solidFill>
            <a:schemeClr val="bg2">
              <a:alpha val="88000"/>
            </a:schemeClr>
          </a:solidFill>
          <a:ln w="9525">
            <a:solidFill>
              <a:srgbClr val="FFFFFF">
                <a:alpha val="12000"/>
              </a:srgbClr>
            </a:solidFill>
            <a:prstDash val="solid"/>
          </a:ln>
        </p:spPr>
      </p:sp>
      <p:sp>
        <p:nvSpPr>
          <p:cNvPr id="37" name="Answer icon circle 2"/>
          <p:cNvSpPr/>
          <p:nvPr/>
        </p:nvSpPr>
        <p:spPr>
          <a:xfrm>
            <a:off x="9189720" y="3246120"/>
            <a:ext cx="502920" cy="502920"/>
          </a:xfrm>
          <a:prstGeom prst="ellipse">
            <a:avLst/>
          </a:prstGeom>
          <a:solidFill>
            <a:schemeClr val="accent1"/>
          </a:solidFill>
          <a:ln w="12700">
            <a:solidFill>
              <a:schemeClr val="accent1"/>
            </a:solidFill>
            <a:prstDash val="solid"/>
          </a:ln>
        </p:spPr>
      </p:sp>
      <p:pic>
        <p:nvPicPr>
          <p:cNvPr id="38" name="Answer icon 2" descr="Explanation icon">    </p:cNvPr>
          <p:cNvPicPr>
            <a:picLocks noChangeAspect="1"/>
          </p:cNvPicPr>
          <p:nvPr/>
        </p:nvPicPr>
        <p:blipFill>
          <a:blip r:embed="rId2"/>
          <a:stretch>
            <a:fillRect/>
          </a:stretch>
        </p:blipFill>
        <p:spPr>
          <a:xfrm>
            <a:off x="9308592" y="3364992"/>
            <a:ext cx="265176" cy="265176"/>
          </a:xfrm>
          <a:prstGeom prst="rect">
            <a:avLst/>
          </a:prstGeom>
        </p:spPr>
      </p:pic>
      <p:sp>
        <p:nvSpPr>
          <p:cNvPr id="39" name="Answer title 2"/>
          <p:cNvSpPr txBox="1"/>
          <p:nvPr/>
        </p:nvSpPr>
        <p:spPr>
          <a:xfrm>
            <a:off x="9189720" y="3840480"/>
            <a:ext cx="2240280" cy="274320"/>
          </a:xfrm>
          <a:prstGeom prst="rect">
            <a:avLst/>
          </a:prstGeom>
          <a:noFill/>
          <a:ln/>
        </p:spPr>
        <p:txBody>
          <a:bodyPr wrap="square" lIns="0" tIns="0" rIns="0" bIns="0" rtlCol="0" anchor="t"/>
          <a:lstStyle/>
          <a:p>
            <a:pPr indent="0" marL="0">
              <a:buNone/>
            </a:pPr>
            <a:r>
              <a:rPr lang="en-US" sz="1500" b="1" dirty="0">
                <a:solidFill>
                  <a:schemeClr val="tx1"/>
                </a:solidFill>
              </a:rPr>
              <a:t>Explanation</a:t>
            </a:r>
            <a:endParaRPr lang="en-US" sz="1500" dirty="0"/>
          </a:p>
        </p:txBody>
      </p:sp>
      <p:sp>
        <p:nvSpPr>
          <p:cNvPr id="40" name="Answer text 2"/>
          <p:cNvSpPr txBox="1"/>
          <p:nvPr/>
        </p:nvSpPr>
        <p:spPr>
          <a:xfrm>
            <a:off x="9189720" y="4114800"/>
            <a:ext cx="2240280" cy="320040"/>
          </a:xfrm>
          <a:prstGeom prst="rect">
            <a:avLst/>
          </a:prstGeom>
          <a:noFill/>
          <a:ln/>
        </p:spPr>
        <p:txBody>
          <a:bodyPr wrap="square" lIns="0" tIns="0" rIns="0" bIns="0" rtlCol="0" anchor="t"/>
          <a:lstStyle/>
          <a:p>
            <a:pPr indent="0" marL="0">
              <a:buNone/>
            </a:pPr>
            <a:r>
              <a:rPr lang="en-US" sz="1300" dirty="0">
                <a:solidFill>
                  <a:schemeClr val="tx2"/>
                </a:solidFill>
              </a:rPr>
              <a:t>Grad-CAM map + attention audit</a:t>
            </a:r>
            <a:endParaRPr lang="en-US" sz="1300" dirty="0"/>
          </a:p>
        </p:txBody>
      </p:sp>
      <p:sp>
        <p:nvSpPr>
          <p:cNvPr id="41" name="Answer card 3"/>
          <p:cNvSpPr/>
          <p:nvPr/>
        </p:nvSpPr>
        <p:spPr>
          <a:xfrm>
            <a:off x="6263640" y="4617720"/>
            <a:ext cx="2587752" cy="1417320"/>
          </a:xfrm>
          <a:prstGeom prst="roundRect">
            <a:avLst>
              <a:gd name="adj" fmla="val 7742"/>
            </a:avLst>
          </a:prstGeom>
          <a:solidFill>
            <a:schemeClr val="bg2">
              <a:alpha val="88000"/>
            </a:schemeClr>
          </a:solidFill>
          <a:ln w="9525">
            <a:solidFill>
              <a:srgbClr val="FFFFFF">
                <a:alpha val="12000"/>
              </a:srgbClr>
            </a:solidFill>
            <a:prstDash val="solid"/>
          </a:ln>
        </p:spPr>
      </p:sp>
      <p:sp>
        <p:nvSpPr>
          <p:cNvPr id="42" name="Answer icon circle 3"/>
          <p:cNvSpPr/>
          <p:nvPr/>
        </p:nvSpPr>
        <p:spPr>
          <a:xfrm>
            <a:off x="6446520" y="4800600"/>
            <a:ext cx="502920" cy="502920"/>
          </a:xfrm>
          <a:prstGeom prst="ellipse">
            <a:avLst/>
          </a:prstGeom>
          <a:solidFill>
            <a:schemeClr val="accent1"/>
          </a:solidFill>
          <a:ln w="12700">
            <a:solidFill>
              <a:schemeClr val="accent1"/>
            </a:solidFill>
            <a:prstDash val="solid"/>
          </a:ln>
        </p:spPr>
      </p:sp>
      <p:pic>
        <p:nvPicPr>
          <p:cNvPr id="43" name="Answer icon 3" descr="Data pipeline icon">    </p:cNvPr>
          <p:cNvPicPr>
            <a:picLocks noChangeAspect="1"/>
          </p:cNvPicPr>
          <p:nvPr/>
        </p:nvPicPr>
        <p:blipFill>
          <a:blip r:embed="rId3"/>
          <a:stretch>
            <a:fillRect/>
          </a:stretch>
        </p:blipFill>
        <p:spPr>
          <a:xfrm>
            <a:off x="6565392" y="4919472"/>
            <a:ext cx="265176" cy="265176"/>
          </a:xfrm>
          <a:prstGeom prst="rect">
            <a:avLst/>
          </a:prstGeom>
        </p:spPr>
      </p:pic>
      <p:sp>
        <p:nvSpPr>
          <p:cNvPr id="44" name="Answer title 3"/>
          <p:cNvSpPr txBox="1"/>
          <p:nvPr/>
        </p:nvSpPr>
        <p:spPr>
          <a:xfrm>
            <a:off x="6446520" y="5394960"/>
            <a:ext cx="2240280" cy="274320"/>
          </a:xfrm>
          <a:prstGeom prst="rect">
            <a:avLst/>
          </a:prstGeom>
          <a:noFill/>
          <a:ln/>
        </p:spPr>
        <p:txBody>
          <a:bodyPr wrap="square" lIns="0" tIns="0" rIns="0" bIns="0" rtlCol="0" anchor="t"/>
          <a:lstStyle/>
          <a:p>
            <a:pPr indent="0" marL="0">
              <a:buNone/>
            </a:pPr>
            <a:r>
              <a:rPr lang="en-US" sz="1500" b="1" dirty="0">
                <a:solidFill>
                  <a:schemeClr val="tx1"/>
                </a:solidFill>
              </a:rPr>
              <a:t>Data pipeline</a:t>
            </a:r>
            <a:endParaRPr lang="en-US" sz="1500" dirty="0"/>
          </a:p>
        </p:txBody>
      </p:sp>
      <p:sp>
        <p:nvSpPr>
          <p:cNvPr id="45" name="Answer text 3"/>
          <p:cNvSpPr txBox="1"/>
          <p:nvPr/>
        </p:nvSpPr>
        <p:spPr>
          <a:xfrm>
            <a:off x="6446520" y="5669280"/>
            <a:ext cx="2240280" cy="320040"/>
          </a:xfrm>
          <a:prstGeom prst="rect">
            <a:avLst/>
          </a:prstGeom>
          <a:noFill/>
          <a:ln/>
        </p:spPr>
        <p:txBody>
          <a:bodyPr wrap="square" lIns="0" tIns="0" rIns="0" bIns="0" rtlCol="0" anchor="t"/>
          <a:lstStyle/>
          <a:p>
            <a:pPr indent="0" marL="0">
              <a:buNone/>
            </a:pPr>
            <a:r>
              <a:rPr lang="en-US" sz="1300" dirty="0">
                <a:solidFill>
                  <a:schemeClr val="tx2"/>
                </a:solidFill>
              </a:rPr>
              <a:t>Hot-deck imputation, ADASYN</a:t>
            </a:r>
            <a:endParaRPr lang="en-US" sz="1300" dirty="0"/>
          </a:p>
        </p:txBody>
      </p:sp>
      <p:sp>
        <p:nvSpPr>
          <p:cNvPr id="46" name="Answer card 4"/>
          <p:cNvSpPr/>
          <p:nvPr/>
        </p:nvSpPr>
        <p:spPr>
          <a:xfrm>
            <a:off x="9006840" y="4617720"/>
            <a:ext cx="2587752" cy="1417320"/>
          </a:xfrm>
          <a:prstGeom prst="roundRect">
            <a:avLst>
              <a:gd name="adj" fmla="val 7742"/>
            </a:avLst>
          </a:prstGeom>
          <a:solidFill>
            <a:schemeClr val="bg2">
              <a:alpha val="88000"/>
            </a:schemeClr>
          </a:solidFill>
          <a:ln w="9525">
            <a:solidFill>
              <a:srgbClr val="FFFFFF">
                <a:alpha val="12000"/>
              </a:srgbClr>
            </a:solidFill>
            <a:prstDash val="solid"/>
          </a:ln>
        </p:spPr>
      </p:sp>
      <p:sp>
        <p:nvSpPr>
          <p:cNvPr id="47" name="Answer icon circle 4"/>
          <p:cNvSpPr/>
          <p:nvPr/>
        </p:nvSpPr>
        <p:spPr>
          <a:xfrm>
            <a:off x="9189720" y="4800600"/>
            <a:ext cx="502920" cy="502920"/>
          </a:xfrm>
          <a:prstGeom prst="ellipse">
            <a:avLst/>
          </a:prstGeom>
          <a:solidFill>
            <a:schemeClr val="accent1"/>
          </a:solidFill>
          <a:ln w="12700">
            <a:solidFill>
              <a:schemeClr val="accent1"/>
            </a:solidFill>
            <a:prstDash val="solid"/>
          </a:ln>
        </p:spPr>
      </p:sp>
      <p:pic>
        <p:nvPicPr>
          <p:cNvPr id="48" name="Answer icon 4" descr="Second signal icon">    </p:cNvPr>
          <p:cNvPicPr>
            <a:picLocks noChangeAspect="1"/>
          </p:cNvPicPr>
          <p:nvPr/>
        </p:nvPicPr>
        <p:blipFill>
          <a:blip r:embed="rId4"/>
          <a:stretch>
            <a:fillRect/>
          </a:stretch>
        </p:blipFill>
        <p:spPr>
          <a:xfrm>
            <a:off x="9308592" y="4919472"/>
            <a:ext cx="265176" cy="265176"/>
          </a:xfrm>
          <a:prstGeom prst="rect">
            <a:avLst/>
          </a:prstGeom>
        </p:spPr>
      </p:pic>
      <p:sp>
        <p:nvSpPr>
          <p:cNvPr id="49" name="Answer title 4"/>
          <p:cNvSpPr txBox="1"/>
          <p:nvPr/>
        </p:nvSpPr>
        <p:spPr>
          <a:xfrm>
            <a:off x="9189720" y="5394960"/>
            <a:ext cx="2240280" cy="274320"/>
          </a:xfrm>
          <a:prstGeom prst="rect">
            <a:avLst/>
          </a:prstGeom>
          <a:noFill/>
          <a:ln/>
        </p:spPr>
        <p:txBody>
          <a:bodyPr wrap="square" lIns="0" tIns="0" rIns="0" bIns="0" rtlCol="0" anchor="t"/>
          <a:lstStyle/>
          <a:p>
            <a:pPr indent="0" marL="0">
              <a:buNone/>
            </a:pPr>
            <a:r>
              <a:rPr lang="en-US" sz="1500" b="1" dirty="0">
                <a:solidFill>
                  <a:schemeClr val="tx1"/>
                </a:solidFill>
              </a:rPr>
              <a:t>Second signal</a:t>
            </a:r>
            <a:endParaRPr lang="en-US" sz="1500" dirty="0"/>
          </a:p>
        </p:txBody>
      </p:sp>
      <p:sp>
        <p:nvSpPr>
          <p:cNvPr id="50" name="Answer text 4"/>
          <p:cNvSpPr txBox="1"/>
          <p:nvPr/>
        </p:nvSpPr>
        <p:spPr>
          <a:xfrm>
            <a:off x="9189720" y="5669280"/>
            <a:ext cx="2240280" cy="320040"/>
          </a:xfrm>
          <a:prstGeom prst="rect">
            <a:avLst/>
          </a:prstGeom>
          <a:noFill/>
          <a:ln/>
        </p:spPr>
        <p:txBody>
          <a:bodyPr wrap="square" lIns="0" tIns="0" rIns="0" bIns="0" rtlCol="0" anchor="t"/>
          <a:lstStyle/>
          <a:p>
            <a:pPr indent="0" marL="0">
              <a:buNone/>
            </a:pPr>
            <a:r>
              <a:rPr lang="en-US" sz="1300" dirty="0">
                <a:solidFill>
                  <a:schemeClr val="tx2"/>
                </a:solidFill>
              </a:rPr>
              <a:t>Spiral handwriting kinematics</a:t>
            </a:r>
            <a:endParaRPr lang="en-US" sz="1300" dirty="0"/>
          </a:p>
        </p:txBody>
      </p:sp>
      <p:sp>
        <p:nvSpPr>
          <p:cNvPr id="25" name="Slide Number Placeholder 0"/>
          <p:cNvSpPr>
            <a:spLocks noGrp="1"/>
          </p:cNvSpPr>
          <p:nvPr>
            <p:ph type="sldNum" sz="quarter" idx="4294967295"/>
          </p:nvPr>
        </p:nvSpPr>
        <p:spPr>
          <a:xfrm>
            <a:off x="11064240" y="6419088"/>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E7F9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Presenter badge"/>
          <p:cNvSpPr/>
          <p:nvPr/>
        </p:nvSpPr>
        <p:spPr>
          <a:xfrm>
            <a:off x="548640" y="384048"/>
            <a:ext cx="365760" cy="365760"/>
          </a:xfrm>
          <a:prstGeom prst="ellipse">
            <a:avLst/>
          </a:prstGeom>
          <a:solidFill>
            <a:schemeClr val="accent1"/>
          </a:solidFill>
          <a:ln w="12700">
            <a:solidFill>
              <a:schemeClr val="accent1"/>
            </a:solidFill>
            <a:prstDash val="solid"/>
          </a:ln>
        </p:spPr>
      </p:sp>
      <p:sp>
        <p:nvSpPr>
          <p:cNvPr id="3" name="Presenter initials"/>
          <p:cNvSpPr txBox="1"/>
          <p:nvPr/>
        </p:nvSpPr>
        <p:spPr>
          <a:xfrm>
            <a:off x="548640" y="384048"/>
            <a:ext cx="365760" cy="365760"/>
          </a:xfrm>
          <a:prstGeom prst="rect">
            <a:avLst/>
          </a:prstGeom>
          <a:noFill/>
          <a:ln/>
        </p:spPr>
        <p:txBody>
          <a:bodyPr wrap="square" lIns="0" tIns="0" rIns="0" bIns="0" rtlCol="0" anchor="ctr"/>
          <a:lstStyle/>
          <a:p>
            <a:pPr algn="ctr" indent="0" marL="0">
              <a:buNone/>
            </a:pPr>
            <a:r>
              <a:rPr lang="en-US" sz="1100" b="1" dirty="0">
                <a:solidFill>
                  <a:schemeClr val="bg1"/>
                </a:solidFill>
              </a:rPr>
              <a:t>MS</a:t>
            </a:r>
            <a:endParaRPr lang="en-US" sz="1100" dirty="0"/>
          </a:p>
        </p:txBody>
      </p:sp>
      <p:sp>
        <p:nvSpPr>
          <p:cNvPr id="4" name="Presenter line"/>
          <p:cNvSpPr txBox="1"/>
          <p:nvPr/>
        </p:nvSpPr>
        <p:spPr>
          <a:xfrm>
            <a:off x="1051560" y="384048"/>
            <a:ext cx="9601200" cy="365760"/>
          </a:xfrm>
          <a:prstGeom prst="rect">
            <a:avLst/>
          </a:prstGeom>
          <a:noFill/>
          <a:ln/>
        </p:spPr>
        <p:txBody>
          <a:bodyPr wrap="square" lIns="0" tIns="0" rIns="0" bIns="0" rtlCol="0" anchor="ctr"/>
          <a:lstStyle/>
          <a:p>
            <a:pPr indent="0" marL="0">
              <a:buNone/>
            </a:pPr>
            <a:r>
              <a:rPr lang="en-US" sz="1200" b="1" spc="200" kern="0" dirty="0">
                <a:solidFill>
                  <a:schemeClr val="accent1"/>
                </a:solidFill>
              </a:rPr>
              <a:t>MALHAR SRIVATSAV</a:t>
            </a:r>
            <a:pPr indent="0" marL="0">
              <a:buNone/>
            </a:pPr>
            <a:r>
              <a:rPr lang="en-US" sz="1200" dirty="0">
                <a:solidFill>
                  <a:schemeClr val="tx2"/>
                </a:solidFill>
              </a:rPr>
              <a:t>   ·   Problem and system overview</a:t>
            </a:r>
            <a:endParaRPr lang="en-US" sz="1200" dirty="0"/>
          </a:p>
        </p:txBody>
      </p:sp>
      <p:sp>
        <p:nvSpPr>
          <p:cNvPr id="5" name="Text 0"/>
          <p:cNvSpPr/>
          <p:nvPr>
            <p:ph idx="100" type="title" hasCustomPrompt="1"/>
          </p:nvPr>
        </p:nvSpPr>
        <p:spPr>
          <a:xfrm>
            <a:off x="548640" y="868680"/>
            <a:ext cx="11091672" cy="731520"/>
          </a:xfrm>
          <a:prstGeom prst="rect">
            <a:avLst/>
          </a:prstGeom>
          <a:noFill/>
          <a:ln/>
        </p:spPr>
        <p:txBody>
          <a:bodyPr wrap="square" lIns="0" tIns="0" rIns="0" bIns="0" rtlCol="0" anchor="ctr"/>
          <a:lstStyle/>
          <a:p>
            <a:pPr algn="l" indent="0" marL="0">
              <a:buNone/>
            </a:pPr>
            <a:r>
              <a:rPr lang="en-US" sz="3400" b="1" dirty="0">
                <a:solidFill>
                  <a:schemeClr val="tx1"/>
                </a:solidFill>
              </a:rPr>
              <a:t>One app, two signals, every answer explained</a:t>
            </a:r>
            <a:endParaRPr lang="en-US" sz="3400" dirty="0"/>
          </a:p>
        </p:txBody>
      </p:sp>
      <p:sp>
        <p:nvSpPr>
          <p:cNvPr id="6" name="Arch browser"/>
          <p:cNvSpPr/>
          <p:nvPr/>
        </p:nvSpPr>
        <p:spPr>
          <a:xfrm>
            <a:off x="548640" y="1783080"/>
            <a:ext cx="5577840" cy="777240"/>
          </a:xfrm>
          <a:prstGeom prst="roundRect">
            <a:avLst>
              <a:gd name="adj" fmla="val 14118"/>
            </a:avLst>
          </a:prstGeom>
          <a:solidFill>
            <a:schemeClr val="bg2">
              <a:alpha val="88000"/>
            </a:schemeClr>
          </a:solidFill>
          <a:ln w="9525">
            <a:solidFill>
              <a:srgbClr val="FFFFFF">
                <a:alpha val="12000"/>
              </a:srgbClr>
            </a:solidFill>
            <a:prstDash val="solid"/>
          </a:ln>
        </p:spPr>
      </p:sp>
      <p:sp>
        <p:nvSpPr>
          <p:cNvPr id="7" name="Arch browser title"/>
          <p:cNvSpPr txBox="1"/>
          <p:nvPr/>
        </p:nvSpPr>
        <p:spPr>
          <a:xfrm>
            <a:off x="640080" y="1856232"/>
            <a:ext cx="5394960" cy="292608"/>
          </a:xfrm>
          <a:prstGeom prst="rect">
            <a:avLst/>
          </a:prstGeom>
          <a:noFill/>
          <a:ln/>
        </p:spPr>
        <p:txBody>
          <a:bodyPr wrap="square" lIns="0" tIns="0" rIns="0" bIns="0" rtlCol="0" anchor="t"/>
          <a:lstStyle/>
          <a:p>
            <a:pPr algn="ctr" indent="0" marL="0">
              <a:buNone/>
            </a:pPr>
            <a:r>
              <a:rPr lang="en-US" sz="1400" b="1" dirty="0">
                <a:solidFill>
                  <a:schemeClr val="tx1"/>
                </a:solidFill>
              </a:rPr>
              <a:t>Browser</a:t>
            </a:r>
            <a:endParaRPr lang="en-US" sz="1400" dirty="0"/>
          </a:p>
        </p:txBody>
      </p:sp>
      <p:sp>
        <p:nvSpPr>
          <p:cNvPr id="8" name="Arch browser detail"/>
          <p:cNvSpPr txBox="1"/>
          <p:nvPr/>
        </p:nvSpPr>
        <p:spPr>
          <a:xfrm>
            <a:off x="640080" y="2167128"/>
            <a:ext cx="5394960" cy="338328"/>
          </a:xfrm>
          <a:prstGeom prst="rect">
            <a:avLst/>
          </a:prstGeom>
          <a:noFill/>
          <a:ln/>
        </p:spPr>
        <p:txBody>
          <a:bodyPr wrap="square" lIns="0" tIns="0" rIns="0" bIns="0" rtlCol="0" anchor="t"/>
          <a:lstStyle/>
          <a:p>
            <a:pPr algn="ctr" indent="0" marL="0">
              <a:buNone/>
            </a:pPr>
            <a:r>
              <a:rPr lang="en-US" sz="1200" dirty="0">
                <a:solidFill>
                  <a:schemeClr val="tx2"/>
                </a:solidFill>
              </a:rPr>
              <a:t>MRI tab · handwriting canvas · results</a:t>
            </a:r>
            <a:endParaRPr lang="en-US" sz="1200" dirty="0"/>
          </a:p>
        </p:txBody>
      </p:sp>
      <p:sp>
        <p:nvSpPr>
          <p:cNvPr id="9" name="Arch arrow 1"/>
          <p:cNvSpPr/>
          <p:nvPr/>
        </p:nvSpPr>
        <p:spPr>
          <a:xfrm>
            <a:off x="3337560" y="2560320"/>
            <a:ext cx="0" cy="274320"/>
          </a:xfrm>
          <a:prstGeom prst="line">
            <a:avLst/>
          </a:prstGeom>
          <a:noFill/>
          <a:ln w="22225">
            <a:solidFill>
              <a:srgbClr val="C99BDB"/>
            </a:solidFill>
            <a:prstDash val="solid"/>
            <a:tailEnd type="triangle"/>
          </a:ln>
        </p:spPr>
      </p:sp>
      <p:sp>
        <p:nvSpPr>
          <p:cNvPr id="10" name="Arch api"/>
          <p:cNvSpPr/>
          <p:nvPr/>
        </p:nvSpPr>
        <p:spPr>
          <a:xfrm>
            <a:off x="548640" y="2834640"/>
            <a:ext cx="5577840" cy="777240"/>
          </a:xfrm>
          <a:prstGeom prst="roundRect">
            <a:avLst>
              <a:gd name="adj" fmla="val 14118"/>
            </a:avLst>
          </a:prstGeom>
          <a:solidFill>
            <a:schemeClr val="bg2">
              <a:alpha val="88000"/>
            </a:schemeClr>
          </a:solidFill>
          <a:ln w="9525">
            <a:solidFill>
              <a:srgbClr val="FFFFFF">
                <a:alpha val="12000"/>
              </a:srgbClr>
            </a:solidFill>
            <a:prstDash val="solid"/>
          </a:ln>
        </p:spPr>
      </p:sp>
      <p:sp>
        <p:nvSpPr>
          <p:cNvPr id="11" name="Arch api title"/>
          <p:cNvSpPr txBox="1"/>
          <p:nvPr/>
        </p:nvSpPr>
        <p:spPr>
          <a:xfrm>
            <a:off x="640080" y="2907792"/>
            <a:ext cx="5394960" cy="292608"/>
          </a:xfrm>
          <a:prstGeom prst="rect">
            <a:avLst/>
          </a:prstGeom>
          <a:noFill/>
          <a:ln/>
        </p:spPr>
        <p:txBody>
          <a:bodyPr wrap="square" lIns="0" tIns="0" rIns="0" bIns="0" rtlCol="0" anchor="t"/>
          <a:lstStyle/>
          <a:p>
            <a:pPr algn="ctr" indent="0" marL="0">
              <a:buNone/>
            </a:pPr>
            <a:r>
              <a:rPr lang="en-US" sz="1400" b="1" dirty="0">
                <a:solidFill>
                  <a:schemeClr val="tx1"/>
                </a:solidFill>
              </a:rPr>
              <a:t>FastAPI service</a:t>
            </a:r>
            <a:endParaRPr lang="en-US" sz="1400" dirty="0"/>
          </a:p>
        </p:txBody>
      </p:sp>
      <p:sp>
        <p:nvSpPr>
          <p:cNvPr id="12" name="Arch api detail"/>
          <p:cNvSpPr txBox="1"/>
          <p:nvPr/>
        </p:nvSpPr>
        <p:spPr>
          <a:xfrm>
            <a:off x="640080" y="3218688"/>
            <a:ext cx="5394960" cy="338328"/>
          </a:xfrm>
          <a:prstGeom prst="rect">
            <a:avLst/>
          </a:prstGeom>
          <a:noFill/>
          <a:ln/>
        </p:spPr>
        <p:txBody>
          <a:bodyPr wrap="square" lIns="0" tIns="0" rIns="0" bIns="0" rtlCol="0" anchor="t"/>
          <a:lstStyle/>
          <a:p>
            <a:pPr algn="ctr" indent="0" marL="0">
              <a:buNone/>
            </a:pPr>
            <a:r>
              <a:rPr lang="en-US" sz="1200" dirty="0">
                <a:solidFill>
                  <a:schemeClr val="tx2"/>
                </a:solidFill>
              </a:rPr>
              <a:t>size limits · validation · typed errors · /health</a:t>
            </a:r>
            <a:endParaRPr lang="en-US" sz="1200" dirty="0"/>
          </a:p>
        </p:txBody>
      </p:sp>
      <p:sp>
        <p:nvSpPr>
          <p:cNvPr id="13" name="Arch arrow 2"/>
          <p:cNvSpPr/>
          <p:nvPr/>
        </p:nvSpPr>
        <p:spPr>
          <a:xfrm>
            <a:off x="1920240" y="3611880"/>
            <a:ext cx="0" cy="274320"/>
          </a:xfrm>
          <a:prstGeom prst="line">
            <a:avLst/>
          </a:prstGeom>
          <a:noFill/>
          <a:ln w="22225">
            <a:solidFill>
              <a:srgbClr val="C99BDB"/>
            </a:solidFill>
            <a:prstDash val="solid"/>
            <a:tailEnd type="triangle"/>
          </a:ln>
        </p:spPr>
      </p:sp>
      <p:sp>
        <p:nvSpPr>
          <p:cNvPr id="14" name="Arch arrow 3"/>
          <p:cNvSpPr/>
          <p:nvPr/>
        </p:nvSpPr>
        <p:spPr>
          <a:xfrm>
            <a:off x="4754880" y="3611880"/>
            <a:ext cx="0" cy="274320"/>
          </a:xfrm>
          <a:prstGeom prst="line">
            <a:avLst/>
          </a:prstGeom>
          <a:noFill/>
          <a:ln w="22225">
            <a:solidFill>
              <a:srgbClr val="C99BDB"/>
            </a:solidFill>
            <a:prstDash val="solid"/>
            <a:tailEnd type="triangle"/>
          </a:ln>
        </p:spPr>
      </p:sp>
      <p:sp>
        <p:nvSpPr>
          <p:cNvPr id="15" name="Arch mri"/>
          <p:cNvSpPr/>
          <p:nvPr/>
        </p:nvSpPr>
        <p:spPr>
          <a:xfrm>
            <a:off x="548640" y="3886200"/>
            <a:ext cx="2697480" cy="1097280"/>
          </a:xfrm>
          <a:prstGeom prst="roundRect">
            <a:avLst>
              <a:gd name="adj" fmla="val 10000"/>
            </a:avLst>
          </a:prstGeom>
          <a:solidFill>
            <a:schemeClr val="accent1">
              <a:alpha val="15000"/>
            </a:schemeClr>
          </a:solidFill>
          <a:ln w="9525">
            <a:solidFill>
              <a:srgbClr val="C99BDB">
                <a:alpha val="50000"/>
              </a:srgbClr>
            </a:solidFill>
            <a:prstDash val="solid"/>
          </a:ln>
        </p:spPr>
      </p:sp>
      <p:sp>
        <p:nvSpPr>
          <p:cNvPr id="16" name="Arch mri title"/>
          <p:cNvSpPr txBox="1"/>
          <p:nvPr/>
        </p:nvSpPr>
        <p:spPr>
          <a:xfrm>
            <a:off x="640080" y="3959352"/>
            <a:ext cx="2514600" cy="292608"/>
          </a:xfrm>
          <a:prstGeom prst="rect">
            <a:avLst/>
          </a:prstGeom>
          <a:noFill/>
          <a:ln/>
        </p:spPr>
        <p:txBody>
          <a:bodyPr wrap="square" lIns="0" tIns="0" rIns="0" bIns="0" rtlCol="0" anchor="t"/>
          <a:lstStyle/>
          <a:p>
            <a:pPr algn="ctr" indent="0" marL="0">
              <a:buNone/>
            </a:pPr>
            <a:r>
              <a:rPr lang="en-US" sz="1400" b="1" dirty="0">
                <a:solidFill>
                  <a:schemeClr val="tx1"/>
                </a:solidFill>
              </a:rPr>
              <a:t>MRI predictor</a:t>
            </a:r>
            <a:endParaRPr lang="en-US" sz="1400" dirty="0"/>
          </a:p>
        </p:txBody>
      </p:sp>
      <p:sp>
        <p:nvSpPr>
          <p:cNvPr id="17" name="Arch mri detail"/>
          <p:cNvSpPr txBox="1"/>
          <p:nvPr/>
        </p:nvSpPr>
        <p:spPr>
          <a:xfrm>
            <a:off x="640080" y="4270248"/>
            <a:ext cx="2514600" cy="658368"/>
          </a:xfrm>
          <a:prstGeom prst="rect">
            <a:avLst/>
          </a:prstGeom>
          <a:noFill/>
          <a:ln/>
        </p:spPr>
        <p:txBody>
          <a:bodyPr wrap="square" lIns="0" tIns="0" rIns="0" bIns="0" rtlCol="0" anchor="t"/>
          <a:lstStyle/>
          <a:p>
            <a:pPr algn="ctr" indent="0" marL="0">
              <a:buNone/>
            </a:pPr>
            <a:r>
              <a:rPr lang="en-US" sz="1200" dirty="0">
                <a:solidFill>
                  <a:schemeClr val="tx2"/>
                </a:solidFill>
              </a:rPr>
              <a:t>VGG19 · probabilities · Grad-CAM</a:t>
            </a:r>
            <a:endParaRPr lang="en-US" sz="1200" dirty="0"/>
          </a:p>
        </p:txBody>
      </p:sp>
      <p:sp>
        <p:nvSpPr>
          <p:cNvPr id="18" name="Arch handwriting"/>
          <p:cNvSpPr/>
          <p:nvPr/>
        </p:nvSpPr>
        <p:spPr>
          <a:xfrm>
            <a:off x="3429000" y="3886200"/>
            <a:ext cx="2697480" cy="1097280"/>
          </a:xfrm>
          <a:prstGeom prst="roundRect">
            <a:avLst>
              <a:gd name="adj" fmla="val 10000"/>
            </a:avLst>
          </a:prstGeom>
          <a:solidFill>
            <a:schemeClr val="accent1">
              <a:alpha val="15000"/>
            </a:schemeClr>
          </a:solidFill>
          <a:ln w="9525">
            <a:solidFill>
              <a:srgbClr val="C99BDB">
                <a:alpha val="50000"/>
              </a:srgbClr>
            </a:solidFill>
            <a:prstDash val="solid"/>
          </a:ln>
        </p:spPr>
      </p:sp>
      <p:sp>
        <p:nvSpPr>
          <p:cNvPr id="19" name="Arch handwriting title"/>
          <p:cNvSpPr txBox="1"/>
          <p:nvPr/>
        </p:nvSpPr>
        <p:spPr>
          <a:xfrm>
            <a:off x="3520440" y="3959352"/>
            <a:ext cx="2514600" cy="292608"/>
          </a:xfrm>
          <a:prstGeom prst="rect">
            <a:avLst/>
          </a:prstGeom>
          <a:noFill/>
          <a:ln/>
        </p:spPr>
        <p:txBody>
          <a:bodyPr wrap="square" lIns="0" tIns="0" rIns="0" bIns="0" rtlCol="0" anchor="t"/>
          <a:lstStyle/>
          <a:p>
            <a:pPr algn="ctr" indent="0" marL="0">
              <a:buNone/>
            </a:pPr>
            <a:r>
              <a:rPr lang="en-US" sz="1400" b="1" dirty="0">
                <a:solidFill>
                  <a:schemeClr val="tx1"/>
                </a:solidFill>
              </a:rPr>
              <a:t>Handwriting analyzer</a:t>
            </a:r>
            <a:endParaRPr lang="en-US" sz="1400" dirty="0"/>
          </a:p>
        </p:txBody>
      </p:sp>
      <p:sp>
        <p:nvSpPr>
          <p:cNvPr id="20" name="Arch handwriting detail"/>
          <p:cNvSpPr txBox="1"/>
          <p:nvPr/>
        </p:nvSpPr>
        <p:spPr>
          <a:xfrm>
            <a:off x="3520440" y="4270248"/>
            <a:ext cx="2514600" cy="658368"/>
          </a:xfrm>
          <a:prstGeom prst="rect">
            <a:avLst/>
          </a:prstGeom>
          <a:noFill/>
          <a:ln/>
        </p:spPr>
        <p:txBody>
          <a:bodyPr wrap="square" lIns="0" tIns="0" rIns="0" bIns="0" rtlCol="0" anchor="t"/>
          <a:lstStyle/>
          <a:p>
            <a:pPr algn="ctr" indent="0" marL="0">
              <a:buNone/>
            </a:pPr>
            <a:r>
              <a:rPr lang="en-US" sz="1200" dirty="0">
                <a:solidFill>
                  <a:schemeClr val="tx2"/>
                </a:solidFill>
              </a:rPr>
              <a:t>9 features · logistic regression</a:t>
            </a:r>
            <a:endParaRPr lang="en-US" sz="1200" dirty="0"/>
          </a:p>
        </p:txBody>
      </p:sp>
      <p:sp>
        <p:nvSpPr>
          <p:cNvPr id="21" name="Arch arrow 4"/>
          <p:cNvSpPr/>
          <p:nvPr/>
        </p:nvSpPr>
        <p:spPr>
          <a:xfrm>
            <a:off x="1897380" y="4983480"/>
            <a:ext cx="0" cy="246888"/>
          </a:xfrm>
          <a:prstGeom prst="line">
            <a:avLst/>
          </a:prstGeom>
          <a:noFill/>
          <a:ln w="22225">
            <a:solidFill>
              <a:srgbClr val="C99BDB"/>
            </a:solidFill>
            <a:prstDash val="solid"/>
            <a:tailEnd type="triangle"/>
          </a:ln>
        </p:spPr>
      </p:sp>
      <p:sp>
        <p:nvSpPr>
          <p:cNvPr id="22" name="Arch arrow 5"/>
          <p:cNvSpPr/>
          <p:nvPr/>
        </p:nvSpPr>
        <p:spPr>
          <a:xfrm>
            <a:off x="4777740" y="4983480"/>
            <a:ext cx="0" cy="246888"/>
          </a:xfrm>
          <a:prstGeom prst="line">
            <a:avLst/>
          </a:prstGeom>
          <a:noFill/>
          <a:ln w="22225">
            <a:solidFill>
              <a:srgbClr val="C99BDB"/>
            </a:solidFill>
            <a:prstDash val="solid"/>
            <a:tailEnd type="triangle"/>
          </a:ln>
        </p:spPr>
      </p:sp>
      <p:sp>
        <p:nvSpPr>
          <p:cNvPr id="23" name="Arch checkpoint"/>
          <p:cNvSpPr/>
          <p:nvPr/>
        </p:nvSpPr>
        <p:spPr>
          <a:xfrm>
            <a:off x="548640" y="5230368"/>
            <a:ext cx="2697480" cy="658368"/>
          </a:xfrm>
          <a:prstGeom prst="roundRect">
            <a:avLst>
              <a:gd name="adj" fmla="val 16667"/>
            </a:avLst>
          </a:prstGeom>
          <a:solidFill>
            <a:schemeClr val="bg2">
              <a:alpha val="88000"/>
            </a:schemeClr>
          </a:solidFill>
          <a:ln w="9525">
            <a:solidFill>
              <a:srgbClr val="FFFFFF">
                <a:alpha val="12000"/>
              </a:srgbClr>
            </a:solidFill>
            <a:prstDash val="solid"/>
          </a:ln>
        </p:spPr>
      </p:sp>
      <p:sp>
        <p:nvSpPr>
          <p:cNvPr id="24" name="Arch checkpoint title"/>
          <p:cNvSpPr txBox="1"/>
          <p:nvPr/>
        </p:nvSpPr>
        <p:spPr>
          <a:xfrm>
            <a:off x="640080" y="5303520"/>
            <a:ext cx="2514600" cy="292608"/>
          </a:xfrm>
          <a:prstGeom prst="rect">
            <a:avLst/>
          </a:prstGeom>
          <a:noFill/>
          <a:ln/>
        </p:spPr>
        <p:txBody>
          <a:bodyPr wrap="square" lIns="0" tIns="0" rIns="0" bIns="0" rtlCol="0" anchor="t"/>
          <a:lstStyle/>
          <a:p>
            <a:pPr algn="ctr" indent="0" marL="0">
              <a:buNone/>
            </a:pPr>
            <a:r>
              <a:rPr lang="en-US" sz="1400" b="1" dirty="0">
                <a:solidFill>
                  <a:schemeClr val="tx1"/>
                </a:solidFill>
              </a:rPr>
              <a:t>Checkpoint</a:t>
            </a:r>
            <a:endParaRPr lang="en-US" sz="1400" dirty="0"/>
          </a:p>
        </p:txBody>
      </p:sp>
      <p:sp>
        <p:nvSpPr>
          <p:cNvPr id="25" name="Arch checkpoint detail"/>
          <p:cNvSpPr txBox="1"/>
          <p:nvPr/>
        </p:nvSpPr>
        <p:spPr>
          <a:xfrm>
            <a:off x="640080" y="5614416"/>
            <a:ext cx="2514600" cy="219456"/>
          </a:xfrm>
          <a:prstGeom prst="rect">
            <a:avLst/>
          </a:prstGeom>
          <a:noFill/>
          <a:ln/>
        </p:spPr>
        <p:txBody>
          <a:bodyPr wrap="square" lIns="0" tIns="0" rIns="0" bIns="0" rtlCol="0" anchor="t"/>
          <a:lstStyle/>
          <a:p>
            <a:pPr algn="ctr" indent="0" marL="0">
              <a:buNone/>
            </a:pPr>
            <a:r>
              <a:rPr lang="en-US" sz="1200" dirty="0">
                <a:solidFill>
                  <a:schemeClr val="tx2"/>
                </a:solidFill>
              </a:rPr>
              <a:t>best_model.pt · 132 MB</a:t>
            </a:r>
            <a:endParaRPr lang="en-US" sz="1200" dirty="0"/>
          </a:p>
        </p:txBody>
      </p:sp>
      <p:sp>
        <p:nvSpPr>
          <p:cNvPr id="26" name="Arch hw model"/>
          <p:cNvSpPr/>
          <p:nvPr/>
        </p:nvSpPr>
        <p:spPr>
          <a:xfrm>
            <a:off x="3429000" y="5230368"/>
            <a:ext cx="2697480" cy="658368"/>
          </a:xfrm>
          <a:prstGeom prst="roundRect">
            <a:avLst>
              <a:gd name="adj" fmla="val 16667"/>
            </a:avLst>
          </a:prstGeom>
          <a:solidFill>
            <a:schemeClr val="bg2">
              <a:alpha val="88000"/>
            </a:schemeClr>
          </a:solidFill>
          <a:ln w="9525">
            <a:solidFill>
              <a:srgbClr val="FFFFFF">
                <a:alpha val="12000"/>
              </a:srgbClr>
            </a:solidFill>
            <a:prstDash val="solid"/>
          </a:ln>
        </p:spPr>
      </p:sp>
      <p:sp>
        <p:nvSpPr>
          <p:cNvPr id="27" name="Arch hw model title"/>
          <p:cNvSpPr txBox="1"/>
          <p:nvPr/>
        </p:nvSpPr>
        <p:spPr>
          <a:xfrm>
            <a:off x="3520440" y="5303520"/>
            <a:ext cx="2514600" cy="292608"/>
          </a:xfrm>
          <a:prstGeom prst="rect">
            <a:avLst/>
          </a:prstGeom>
          <a:noFill/>
          <a:ln/>
        </p:spPr>
        <p:txBody>
          <a:bodyPr wrap="square" lIns="0" tIns="0" rIns="0" bIns="0" rtlCol="0" anchor="t"/>
          <a:lstStyle/>
          <a:p>
            <a:pPr algn="ctr" indent="0" marL="0">
              <a:buNone/>
            </a:pPr>
            <a:r>
              <a:rPr lang="en-US" sz="1400" b="1" dirty="0">
                <a:solidFill>
                  <a:schemeClr val="tx1"/>
                </a:solidFill>
              </a:rPr>
              <a:t>Saved model</a:t>
            </a:r>
            <a:endParaRPr lang="en-US" sz="1400" dirty="0"/>
          </a:p>
        </p:txBody>
      </p:sp>
      <p:sp>
        <p:nvSpPr>
          <p:cNvPr id="28" name="Arch hw model detail"/>
          <p:cNvSpPr txBox="1"/>
          <p:nvPr/>
        </p:nvSpPr>
        <p:spPr>
          <a:xfrm>
            <a:off x="3520440" y="5614416"/>
            <a:ext cx="2514600" cy="219456"/>
          </a:xfrm>
          <a:prstGeom prst="rect">
            <a:avLst/>
          </a:prstGeom>
          <a:noFill/>
          <a:ln/>
        </p:spPr>
        <p:txBody>
          <a:bodyPr wrap="square" lIns="0" tIns="0" rIns="0" bIns="0" rtlCol="0" anchor="t"/>
          <a:lstStyle/>
          <a:p>
            <a:pPr algn="ctr" indent="0" marL="0">
              <a:buNone/>
            </a:pPr>
            <a:r>
              <a:rPr lang="en-US" sz="1200" dirty="0">
                <a:solidFill>
                  <a:schemeClr val="tx2"/>
                </a:solidFill>
              </a:rPr>
              <a:t>trains itself in about 6 s</a:t>
            </a:r>
            <a:endParaRPr lang="en-US" sz="1200" dirty="0"/>
          </a:p>
        </p:txBody>
      </p:sp>
      <p:sp>
        <p:nvSpPr>
          <p:cNvPr id="29" name="Prototype home screenshot frame"/>
          <p:cNvSpPr/>
          <p:nvPr/>
        </p:nvSpPr>
        <p:spPr>
          <a:xfrm>
            <a:off x="6556248" y="1737360"/>
            <a:ext cx="5084064" cy="3232404"/>
          </a:xfrm>
          <a:prstGeom prst="roundRect">
            <a:avLst>
              <a:gd name="adj" fmla="val 3395"/>
            </a:avLst>
          </a:prstGeom>
          <a:solidFill>
            <a:schemeClr val="bg2"/>
          </a:solidFill>
          <a:ln w="9525">
            <a:solidFill>
              <a:srgbClr val="FFFFFF">
                <a:alpha val="20000"/>
              </a:srgbClr>
            </a:solidFill>
            <a:prstDash val="solid"/>
          </a:ln>
        </p:spPr>
      </p:sp>
      <p:pic>
        <p:nvPicPr>
          <p:cNvPr id="30" name="Prototype home screenshot" descr="Screenshot of the running prototype: upload zone and labelled sample scans">    </p:cNvPr>
          <p:cNvPicPr>
            <a:picLocks noChangeAspect="1"/>
          </p:cNvPicPr>
          <p:nvPr/>
        </p:nvPicPr>
        <p:blipFill>
          <a:blip r:embed="rId1"/>
          <a:stretch>
            <a:fillRect/>
          </a:stretch>
        </p:blipFill>
        <p:spPr>
          <a:xfrm>
            <a:off x="6629400" y="1810512"/>
            <a:ext cx="4937760" cy="3086100"/>
          </a:xfrm>
          <a:prstGeom prst="rect">
            <a:avLst/>
          </a:prstGeom>
        </p:spPr>
      </p:pic>
      <p:sp>
        <p:nvSpPr>
          <p:cNvPr id="31" name="Screenshot caption"/>
          <p:cNvSpPr txBox="1"/>
          <p:nvPr/>
        </p:nvSpPr>
        <p:spPr>
          <a:xfrm>
            <a:off x="6629400" y="5029200"/>
            <a:ext cx="4937760" cy="274320"/>
          </a:xfrm>
          <a:prstGeom prst="rect">
            <a:avLst/>
          </a:prstGeom>
          <a:noFill/>
          <a:ln/>
        </p:spPr>
        <p:txBody>
          <a:bodyPr wrap="square" lIns="0" tIns="0" rIns="0" bIns="0" rtlCol="0" anchor="t"/>
          <a:lstStyle/>
          <a:p>
            <a:pPr indent="0" marL="0">
              <a:buNone/>
            </a:pPr>
            <a:r>
              <a:rPr lang="en-US" sz="1200" dirty="0">
                <a:solidFill>
                  <a:schemeClr val="tx2"/>
                </a:solidFill>
              </a:rPr>
              <a:t>The running prototype: upload a slice or click a labelled sample</a:t>
            </a:r>
            <a:endParaRPr lang="en-US" sz="1200" dirty="0"/>
          </a:p>
        </p:txBody>
      </p:sp>
      <p:sp>
        <p:nvSpPr>
          <p:cNvPr id="32" name="Synthetic data note"/>
          <p:cNvSpPr/>
          <p:nvPr/>
        </p:nvSpPr>
        <p:spPr>
          <a:xfrm>
            <a:off x="6556248" y="5440680"/>
            <a:ext cx="5084064" cy="713232"/>
          </a:xfrm>
          <a:prstGeom prst="roundRect">
            <a:avLst>
              <a:gd name="adj" fmla="val 15385"/>
            </a:avLst>
          </a:prstGeom>
          <a:solidFill>
            <a:schemeClr val="accent4">
              <a:alpha val="12000"/>
            </a:schemeClr>
          </a:solidFill>
          <a:ln w="9525">
            <a:solidFill>
              <a:srgbClr val="FBBF24">
                <a:alpha val="45000"/>
              </a:srgbClr>
            </a:solidFill>
            <a:prstDash val="solid"/>
          </a:ln>
        </p:spPr>
      </p:sp>
      <p:pic>
        <p:nvPicPr>
          <p:cNvPr id="33" name="Warning icon" descr="Warning icon">    </p:cNvPr>
          <p:cNvPicPr>
            <a:picLocks noChangeAspect="1"/>
          </p:cNvPicPr>
          <p:nvPr/>
        </p:nvPicPr>
        <p:blipFill>
          <a:blip r:embed="rId2"/>
          <a:stretch>
            <a:fillRect/>
          </a:stretch>
        </p:blipFill>
        <p:spPr>
          <a:xfrm>
            <a:off x="6766560" y="5641848"/>
            <a:ext cx="310896" cy="310896"/>
          </a:xfrm>
          <a:prstGeom prst="rect">
            <a:avLst/>
          </a:prstGeom>
        </p:spPr>
      </p:pic>
      <p:sp>
        <p:nvSpPr>
          <p:cNvPr id="34" name="Synthetic data text"/>
          <p:cNvSpPr txBox="1"/>
          <p:nvPr/>
        </p:nvSpPr>
        <p:spPr>
          <a:xfrm>
            <a:off x="7223760" y="5440680"/>
            <a:ext cx="4297680" cy="713232"/>
          </a:xfrm>
          <a:prstGeom prst="rect">
            <a:avLst/>
          </a:prstGeom>
          <a:noFill/>
          <a:ln/>
        </p:spPr>
        <p:txBody>
          <a:bodyPr wrap="square" lIns="0" tIns="0" rIns="0" bIns="0" rtlCol="0" anchor="ctr"/>
          <a:lstStyle/>
          <a:p>
            <a:pPr indent="0" marL="0">
              <a:buNone/>
            </a:pPr>
            <a:r>
              <a:rPr lang="en-US" sz="1400" b="1" dirty="0">
                <a:solidFill>
                  <a:schemeClr val="tx1"/>
                </a:solidFill>
              </a:rPr>
              <a:t>All data are synthetic: scores describe the pipeline, not patients</a:t>
            </a:r>
            <a:endParaRPr lang="en-US" sz="1400" dirty="0"/>
          </a:p>
        </p:txBody>
      </p:sp>
      <p:sp>
        <p:nvSpPr>
          <p:cNvPr id="25" name="Slide Number Placeholder 0"/>
          <p:cNvSpPr>
            <a:spLocks noGrp="1"/>
          </p:cNvSpPr>
          <p:nvPr>
            <p:ph type="sldNum" sz="quarter" idx="4294967295"/>
          </p:nvPr>
        </p:nvSpPr>
        <p:spPr>
          <a:xfrm>
            <a:off x="11064240" y="6419088"/>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E7F9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Presenter badge"/>
          <p:cNvSpPr/>
          <p:nvPr/>
        </p:nvSpPr>
        <p:spPr>
          <a:xfrm>
            <a:off x="548640" y="384048"/>
            <a:ext cx="365760" cy="365760"/>
          </a:xfrm>
          <a:prstGeom prst="ellipse">
            <a:avLst/>
          </a:prstGeom>
          <a:solidFill>
            <a:schemeClr val="accent1"/>
          </a:solidFill>
          <a:ln w="12700">
            <a:solidFill>
              <a:schemeClr val="accent1"/>
            </a:solidFill>
            <a:prstDash val="solid"/>
          </a:ln>
        </p:spPr>
      </p:sp>
      <p:sp>
        <p:nvSpPr>
          <p:cNvPr id="3" name="Presenter initials"/>
          <p:cNvSpPr txBox="1"/>
          <p:nvPr/>
        </p:nvSpPr>
        <p:spPr>
          <a:xfrm>
            <a:off x="548640" y="384048"/>
            <a:ext cx="365760" cy="365760"/>
          </a:xfrm>
          <a:prstGeom prst="rect">
            <a:avLst/>
          </a:prstGeom>
          <a:noFill/>
          <a:ln/>
        </p:spPr>
        <p:txBody>
          <a:bodyPr wrap="square" lIns="0" tIns="0" rIns="0" bIns="0" rtlCol="0" anchor="ctr"/>
          <a:lstStyle/>
          <a:p>
            <a:pPr algn="ctr" indent="0" marL="0">
              <a:buNone/>
            </a:pPr>
            <a:r>
              <a:rPr lang="en-US" sz="1100" b="1" dirty="0">
                <a:solidFill>
                  <a:schemeClr val="bg1"/>
                </a:solidFill>
              </a:rPr>
              <a:t>SB</a:t>
            </a:r>
            <a:endParaRPr lang="en-US" sz="1100" dirty="0"/>
          </a:p>
        </p:txBody>
      </p:sp>
      <p:sp>
        <p:nvSpPr>
          <p:cNvPr id="4" name="Presenter line"/>
          <p:cNvSpPr txBox="1"/>
          <p:nvPr/>
        </p:nvSpPr>
        <p:spPr>
          <a:xfrm>
            <a:off x="1051560" y="384048"/>
            <a:ext cx="9601200" cy="365760"/>
          </a:xfrm>
          <a:prstGeom prst="rect">
            <a:avLst/>
          </a:prstGeom>
          <a:noFill/>
          <a:ln/>
        </p:spPr>
        <p:txBody>
          <a:bodyPr wrap="square" lIns="0" tIns="0" rIns="0" bIns="0" rtlCol="0" anchor="ctr"/>
          <a:lstStyle/>
          <a:p>
            <a:pPr indent="0" marL="0">
              <a:buNone/>
            </a:pPr>
            <a:r>
              <a:rPr lang="en-US" sz="1200" b="1" spc="200" kern="0" dirty="0">
                <a:solidFill>
                  <a:schemeClr val="accent1"/>
                </a:solidFill>
              </a:rPr>
              <a:t>SATHWIK HEJAMADY BHAT</a:t>
            </a:r>
            <a:pPr indent="0" marL="0">
              <a:buNone/>
            </a:pPr>
            <a:r>
              <a:rPr lang="en-US" sz="1200" dirty="0">
                <a:solidFill>
                  <a:schemeClr val="tx2"/>
                </a:solidFill>
              </a:rPr>
              <a:t>   ·   Data, imputation and balancing</a:t>
            </a:r>
            <a:endParaRPr lang="en-US" sz="1200" dirty="0"/>
          </a:p>
        </p:txBody>
      </p:sp>
      <p:sp>
        <p:nvSpPr>
          <p:cNvPr id="5" name="Text 0"/>
          <p:cNvSpPr/>
          <p:nvPr>
            <p:ph idx="100" type="title" hasCustomPrompt="1"/>
          </p:nvPr>
        </p:nvSpPr>
        <p:spPr>
          <a:xfrm>
            <a:off x="548640" y="868680"/>
            <a:ext cx="11091672" cy="731520"/>
          </a:xfrm>
          <a:prstGeom prst="rect">
            <a:avLst/>
          </a:prstGeom>
          <a:noFill/>
          <a:ln/>
        </p:spPr>
        <p:txBody>
          <a:bodyPr wrap="square" lIns="0" tIns="0" rIns="0" bIns="0" rtlCol="0" anchor="ctr"/>
          <a:lstStyle/>
          <a:p>
            <a:pPr algn="l" indent="0" marL="0">
              <a:buNone/>
            </a:pPr>
            <a:r>
              <a:rPr lang="en-US" sz="3400" b="1" dirty="0">
                <a:solidFill>
                  <a:schemeClr val="tx1"/>
                </a:solidFill>
              </a:rPr>
              <a:t>Why we generate our own data</a:t>
            </a:r>
            <a:endParaRPr lang="en-US" sz="3400" dirty="0"/>
          </a:p>
        </p:txBody>
      </p:sp>
      <p:pic>
        <p:nvPicPr>
          <p:cNvPr id="6" name="Phantom NC" descr="Phantom slice, stage NC">    </p:cNvPr>
          <p:cNvPicPr>
            <a:picLocks noChangeAspect="1"/>
          </p:cNvPicPr>
          <p:nvPr/>
        </p:nvPicPr>
        <p:blipFill>
          <a:blip r:embed="rId1"/>
          <a:stretch>
            <a:fillRect/>
          </a:stretch>
        </p:blipFill>
        <p:spPr>
          <a:xfrm>
            <a:off x="548640" y="1783080"/>
            <a:ext cx="1325880" cy="1325880"/>
          </a:xfrm>
          <a:prstGeom prst="rect">
            <a:avLst/>
          </a:prstGeom>
        </p:spPr>
      </p:pic>
      <p:sp>
        <p:nvSpPr>
          <p:cNvPr id="7" name="Phantom label NC"/>
          <p:cNvSpPr txBox="1"/>
          <p:nvPr/>
        </p:nvSpPr>
        <p:spPr>
          <a:xfrm>
            <a:off x="548640" y="3154680"/>
            <a:ext cx="1325880" cy="274320"/>
          </a:xfrm>
          <a:prstGeom prst="rect">
            <a:avLst/>
          </a:prstGeom>
          <a:noFill/>
          <a:ln/>
        </p:spPr>
        <p:txBody>
          <a:bodyPr wrap="square" lIns="0" tIns="0" rIns="0" bIns="0" rtlCol="0" anchor="t"/>
          <a:lstStyle/>
          <a:p>
            <a:pPr algn="ctr" indent="0" marL="0">
              <a:buNone/>
            </a:pPr>
            <a:r>
              <a:rPr lang="en-US" sz="1400" b="1" dirty="0">
                <a:solidFill>
                  <a:srgbClr val="34D399"/>
                </a:solidFill>
              </a:rPr>
              <a:t>NC</a:t>
            </a:r>
            <a:endParaRPr lang="en-US" sz="1400" dirty="0"/>
          </a:p>
        </p:txBody>
      </p:sp>
      <p:pic>
        <p:nvPicPr>
          <p:cNvPr id="8" name="Phantom EMCI" descr="Phantom slice, stage EMCI">    </p:cNvPr>
          <p:cNvPicPr>
            <a:picLocks noChangeAspect="1"/>
          </p:cNvPicPr>
          <p:nvPr/>
        </p:nvPicPr>
        <p:blipFill>
          <a:blip r:embed="rId2"/>
          <a:stretch>
            <a:fillRect/>
          </a:stretch>
        </p:blipFill>
        <p:spPr>
          <a:xfrm>
            <a:off x="1993392" y="1783080"/>
            <a:ext cx="1325880" cy="1325880"/>
          </a:xfrm>
          <a:prstGeom prst="rect">
            <a:avLst/>
          </a:prstGeom>
        </p:spPr>
      </p:pic>
      <p:sp>
        <p:nvSpPr>
          <p:cNvPr id="9" name="Phantom label EMCI"/>
          <p:cNvSpPr txBox="1"/>
          <p:nvPr/>
        </p:nvSpPr>
        <p:spPr>
          <a:xfrm>
            <a:off x="1993392" y="3154680"/>
            <a:ext cx="1325880" cy="274320"/>
          </a:xfrm>
          <a:prstGeom prst="rect">
            <a:avLst/>
          </a:prstGeom>
          <a:noFill/>
          <a:ln/>
        </p:spPr>
        <p:txBody>
          <a:bodyPr wrap="square" lIns="0" tIns="0" rIns="0" bIns="0" rtlCol="0" anchor="t"/>
          <a:lstStyle/>
          <a:p>
            <a:pPr algn="ctr" indent="0" marL="0">
              <a:buNone/>
            </a:pPr>
            <a:r>
              <a:rPr lang="en-US" sz="1400" b="1" dirty="0">
                <a:solidFill>
                  <a:srgbClr val="FBBF24"/>
                </a:solidFill>
              </a:rPr>
              <a:t>EMCI</a:t>
            </a:r>
            <a:endParaRPr lang="en-US" sz="1400" dirty="0"/>
          </a:p>
        </p:txBody>
      </p:sp>
      <p:pic>
        <p:nvPicPr>
          <p:cNvPr id="10" name="Phantom LMCI" descr="Phantom slice, stage LMCI">    </p:cNvPr>
          <p:cNvPicPr>
            <a:picLocks noChangeAspect="1"/>
          </p:cNvPicPr>
          <p:nvPr/>
        </p:nvPicPr>
        <p:blipFill>
          <a:blip r:embed="rId3"/>
          <a:stretch>
            <a:fillRect/>
          </a:stretch>
        </p:blipFill>
        <p:spPr>
          <a:xfrm>
            <a:off x="3438144" y="1783080"/>
            <a:ext cx="1325880" cy="1325880"/>
          </a:xfrm>
          <a:prstGeom prst="rect">
            <a:avLst/>
          </a:prstGeom>
        </p:spPr>
      </p:pic>
      <p:sp>
        <p:nvSpPr>
          <p:cNvPr id="11" name="Phantom label LMCI"/>
          <p:cNvSpPr txBox="1"/>
          <p:nvPr/>
        </p:nvSpPr>
        <p:spPr>
          <a:xfrm>
            <a:off x="3438144" y="3154680"/>
            <a:ext cx="1325880" cy="274320"/>
          </a:xfrm>
          <a:prstGeom prst="rect">
            <a:avLst/>
          </a:prstGeom>
          <a:noFill/>
          <a:ln/>
        </p:spPr>
        <p:txBody>
          <a:bodyPr wrap="square" lIns="0" tIns="0" rIns="0" bIns="0" rtlCol="0" anchor="t"/>
          <a:lstStyle/>
          <a:p>
            <a:pPr algn="ctr" indent="0" marL="0">
              <a:buNone/>
            </a:pPr>
            <a:r>
              <a:rPr lang="en-US" sz="1400" b="1" dirty="0">
                <a:solidFill>
                  <a:srgbClr val="FB923C"/>
                </a:solidFill>
              </a:rPr>
              <a:t>LMCI</a:t>
            </a:r>
            <a:endParaRPr lang="en-US" sz="1400" dirty="0"/>
          </a:p>
        </p:txBody>
      </p:sp>
      <p:pic>
        <p:nvPicPr>
          <p:cNvPr id="12" name="Phantom AD" descr="Phantom slice, stage AD">    </p:cNvPr>
          <p:cNvPicPr>
            <a:picLocks noChangeAspect="1"/>
          </p:cNvPicPr>
          <p:nvPr/>
        </p:nvPicPr>
        <p:blipFill>
          <a:blip r:embed="rId4"/>
          <a:stretch>
            <a:fillRect/>
          </a:stretch>
        </p:blipFill>
        <p:spPr>
          <a:xfrm>
            <a:off x="4882896" y="1783080"/>
            <a:ext cx="1325880" cy="1325880"/>
          </a:xfrm>
          <a:prstGeom prst="rect">
            <a:avLst/>
          </a:prstGeom>
        </p:spPr>
      </p:pic>
      <p:sp>
        <p:nvSpPr>
          <p:cNvPr id="13" name="Phantom label AD"/>
          <p:cNvSpPr txBox="1"/>
          <p:nvPr/>
        </p:nvSpPr>
        <p:spPr>
          <a:xfrm>
            <a:off x="4882896" y="3154680"/>
            <a:ext cx="1325880" cy="274320"/>
          </a:xfrm>
          <a:prstGeom prst="rect">
            <a:avLst/>
          </a:prstGeom>
          <a:noFill/>
          <a:ln/>
        </p:spPr>
        <p:txBody>
          <a:bodyPr wrap="square" lIns="0" tIns="0" rIns="0" bIns="0" rtlCol="0" anchor="t"/>
          <a:lstStyle/>
          <a:p>
            <a:pPr algn="ctr" indent="0" marL="0">
              <a:buNone/>
            </a:pPr>
            <a:r>
              <a:rPr lang="en-US" sz="1400" b="1" dirty="0">
                <a:solidFill>
                  <a:srgbClr val="F43F5E"/>
                </a:solidFill>
              </a:rPr>
              <a:t>AD</a:t>
            </a:r>
            <a:endParaRPr lang="en-US" sz="1400" dirty="0"/>
          </a:p>
        </p:txBody>
      </p:sp>
      <p:sp>
        <p:nvSpPr>
          <p:cNvPr id="14" name="Data bullets"/>
          <p:cNvSpPr/>
          <p:nvPr/>
        </p:nvSpPr>
        <p:spPr>
          <a:xfrm>
            <a:off x="548640" y="3611880"/>
            <a:ext cx="5669280" cy="2606040"/>
          </a:xfrm>
          <a:prstGeom prst="roundRect">
            <a:avLst>
              <a:gd name="adj" fmla="val 4211"/>
            </a:avLst>
          </a:prstGeom>
          <a:solidFill>
            <a:schemeClr val="bg2">
              <a:alpha val="88000"/>
            </a:schemeClr>
          </a:solidFill>
          <a:ln w="9525">
            <a:solidFill>
              <a:srgbClr val="FFFFFF">
                <a:alpha val="12000"/>
              </a:srgbClr>
            </a:solidFill>
            <a:prstDash val="solid"/>
          </a:ln>
        </p:spPr>
      </p:sp>
      <p:sp>
        <p:nvSpPr>
          <p:cNvPr id="15" name="Data bullet list"/>
          <p:cNvSpPr txBox="1"/>
          <p:nvPr/>
        </p:nvSpPr>
        <p:spPr>
          <a:xfrm>
            <a:off x="822960" y="3794760"/>
            <a:ext cx="5120640" cy="2240280"/>
          </a:xfrm>
          <a:prstGeom prst="rect">
            <a:avLst/>
          </a:prstGeom>
          <a:noFill/>
          <a:ln/>
        </p:spPr>
        <p:txBody>
          <a:bodyPr wrap="square" lIns="0" tIns="0" rIns="0" bIns="0" rtlCol="0" anchor="ctr"/>
          <a:lstStyle/>
          <a:p>
            <a:pPr marL="342900" indent="-342900">
              <a:spcAft>
                <a:spcPts val="1000"/>
              </a:spcAft>
              <a:buSzPct val="100000"/>
              <a:buChar char="•"/>
            </a:pPr>
            <a:r>
              <a:rPr lang="en-US" sz="1500" dirty="0">
                <a:solidFill>
                  <a:schemeClr val="tx1"/>
                </a:solidFill>
              </a:rPr>
              <a:t>ADNI access takes weeks: a generator lets the whole pipeline run today</a:t>
            </a:r>
            <a:endParaRPr lang="en-US" sz="1500" dirty="0"/>
          </a:p>
          <a:p>
            <a:pPr marL="342900" indent="-342900">
              <a:spcAft>
                <a:spcPts val="1000"/>
              </a:spcAft>
              <a:buSzPct val="100000"/>
              <a:buChar char="•"/>
            </a:pPr>
            <a:r>
              <a:rPr lang="en-US" sz="1500" dirty="0">
                <a:solidFill>
                  <a:schemeClr val="tx1"/>
                </a:solidFill>
              </a:rPr>
              <a:t>As the stage advances: ventricles larger, cortex thinner, hippocampus smaller</a:t>
            </a:r>
            <a:endParaRPr lang="en-US" sz="1500" dirty="0"/>
          </a:p>
          <a:p>
            <a:pPr marL="342900" indent="-342900">
              <a:spcAft>
                <a:spcPts val="1000"/>
              </a:spcAft>
              <a:buSzPct val="100000"/>
              <a:buChar char="•"/>
            </a:pPr>
            <a:r>
              <a:rPr lang="en-US" sz="1500" dirty="0">
                <a:solidFill>
                  <a:schemeClr val="tx1"/>
                </a:solidFill>
              </a:rPr>
              <a:t>Clinical table of 7 measures; gaps rise with stage, CSF amyloid most often missing</a:t>
            </a:r>
            <a:endParaRPr lang="en-US" sz="1500" dirty="0"/>
          </a:p>
        </p:txBody>
      </p:sp>
      <p:sp>
        <p:nvSpPr>
          <p:cNvPr id="16" name="Class chart card"/>
          <p:cNvSpPr/>
          <p:nvPr/>
        </p:nvSpPr>
        <p:spPr>
          <a:xfrm>
            <a:off x="6537960" y="1783080"/>
            <a:ext cx="5102352" cy="4434840"/>
          </a:xfrm>
          <a:prstGeom prst="roundRect">
            <a:avLst>
              <a:gd name="adj" fmla="val 2474"/>
            </a:avLst>
          </a:prstGeom>
          <a:solidFill>
            <a:schemeClr val="bg2">
              <a:alpha val="88000"/>
            </a:schemeClr>
          </a:solidFill>
          <a:ln w="9525">
            <a:solidFill>
              <a:srgbClr val="FFFFFF">
                <a:alpha val="12000"/>
              </a:srgbClr>
            </a:solidFill>
            <a:prstDash val="solid"/>
          </a:ln>
        </p:spPr>
      </p:sp>
      <p:sp>
        <p:nvSpPr>
          <p:cNvPr id="17" name="Imbalance callout"/>
          <p:cNvSpPr txBox="1"/>
          <p:nvPr/>
        </p:nvSpPr>
        <p:spPr>
          <a:xfrm>
            <a:off x="6812280" y="1920240"/>
            <a:ext cx="4572000" cy="548640"/>
          </a:xfrm>
          <a:prstGeom prst="rect">
            <a:avLst/>
          </a:prstGeom>
          <a:noFill/>
          <a:ln/>
        </p:spPr>
        <p:txBody>
          <a:bodyPr wrap="square" lIns="0" tIns="0" rIns="0" bIns="0" rtlCol="0" anchor="ctr"/>
          <a:lstStyle/>
          <a:p>
            <a:pPr indent="0" marL="0">
              <a:buNone/>
            </a:pPr>
            <a:r>
              <a:rPr lang="en-US" sz="3000" b="1" dirty="0">
                <a:solidFill>
                  <a:schemeClr val="accent1"/>
                </a:solidFill>
                <a:latin typeface="+mj-lt" pitchFamily="34" charset="0"/>
                <a:ea typeface="+mj-lt" pitchFamily="34" charset="-122"/>
                <a:cs typeface="+mj-lt" pitchFamily="34" charset="-120"/>
              </a:rPr>
              <a:t>3.2 : 1</a:t>
            </a:r>
            <a:pPr indent="0" marL="0">
              <a:buNone/>
            </a:pPr>
            <a:r>
              <a:rPr lang="en-US" sz="1400" dirty="0">
                <a:solidFill>
                  <a:schemeClr val="tx2"/>
                </a:solidFill>
              </a:rPr>
              <a:t>   class imbalance in the 285-slice cohort</a:t>
            </a:r>
            <a:endParaRPr lang="en-US" sz="1400" dirty="0"/>
          </a:p>
        </p:txBody>
      </p:sp>
      <p:graphicFrame>
        <p:nvGraphicFramePr>
          <p:cNvPr id="18" name="Chart 0" descr=""/>
          <p:cNvGraphicFramePr/>
          <p:nvPr/>
        </p:nvGraphicFramePr>
        <p:xfrm>
          <a:off x="6675120" y="2560320"/>
          <a:ext cx="4846320" cy="3566160"/>
        </p:xfrm>
        <a:graphic xmlns:a="http://schemas.openxmlformats.org/drawingml/2006/main">
          <a:graphicData uri="http://schemas.openxmlformats.org/drawingml/2006/chart">
            <c:chart xmlns:c="http://schemas.openxmlformats.org/drawingml/2006/chart" r:id="rId5"/>
          </a:graphicData>
        </a:graphic>
      </p:graphicFrame>
      <p:sp>
        <p:nvSpPr>
          <p:cNvPr id="25" name="Slide Number Placeholder 0"/>
          <p:cNvSpPr>
            <a:spLocks noGrp="1"/>
          </p:cNvSpPr>
          <p:nvPr>
            <p:ph type="sldNum" sz="quarter" idx="4294967295"/>
          </p:nvPr>
        </p:nvSpPr>
        <p:spPr>
          <a:xfrm>
            <a:off x="11064240" y="6419088"/>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E7F9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Presenter badge"/>
          <p:cNvSpPr/>
          <p:nvPr/>
        </p:nvSpPr>
        <p:spPr>
          <a:xfrm>
            <a:off x="548640" y="384048"/>
            <a:ext cx="365760" cy="365760"/>
          </a:xfrm>
          <a:prstGeom prst="ellipse">
            <a:avLst/>
          </a:prstGeom>
          <a:solidFill>
            <a:schemeClr val="accent1"/>
          </a:solidFill>
          <a:ln w="12700">
            <a:solidFill>
              <a:schemeClr val="accent1"/>
            </a:solidFill>
            <a:prstDash val="solid"/>
          </a:ln>
        </p:spPr>
      </p:sp>
      <p:sp>
        <p:nvSpPr>
          <p:cNvPr id="3" name="Presenter initials"/>
          <p:cNvSpPr txBox="1"/>
          <p:nvPr/>
        </p:nvSpPr>
        <p:spPr>
          <a:xfrm>
            <a:off x="548640" y="384048"/>
            <a:ext cx="365760" cy="365760"/>
          </a:xfrm>
          <a:prstGeom prst="rect">
            <a:avLst/>
          </a:prstGeom>
          <a:noFill/>
          <a:ln/>
        </p:spPr>
        <p:txBody>
          <a:bodyPr wrap="square" lIns="0" tIns="0" rIns="0" bIns="0" rtlCol="0" anchor="ctr"/>
          <a:lstStyle/>
          <a:p>
            <a:pPr algn="ctr" indent="0" marL="0">
              <a:buNone/>
            </a:pPr>
            <a:r>
              <a:rPr lang="en-US" sz="1100" b="1" dirty="0">
                <a:solidFill>
                  <a:schemeClr val="bg1"/>
                </a:solidFill>
              </a:rPr>
              <a:t>SB</a:t>
            </a:r>
            <a:endParaRPr lang="en-US" sz="1100" dirty="0"/>
          </a:p>
        </p:txBody>
      </p:sp>
      <p:sp>
        <p:nvSpPr>
          <p:cNvPr id="4" name="Presenter line"/>
          <p:cNvSpPr txBox="1"/>
          <p:nvPr/>
        </p:nvSpPr>
        <p:spPr>
          <a:xfrm>
            <a:off x="1051560" y="384048"/>
            <a:ext cx="9601200" cy="365760"/>
          </a:xfrm>
          <a:prstGeom prst="rect">
            <a:avLst/>
          </a:prstGeom>
          <a:noFill/>
          <a:ln/>
        </p:spPr>
        <p:txBody>
          <a:bodyPr wrap="square" lIns="0" tIns="0" rIns="0" bIns="0" rtlCol="0" anchor="ctr"/>
          <a:lstStyle/>
          <a:p>
            <a:pPr indent="0" marL="0">
              <a:buNone/>
            </a:pPr>
            <a:r>
              <a:rPr lang="en-US" sz="1200" b="1" spc="200" kern="0" dirty="0">
                <a:solidFill>
                  <a:schemeClr val="accent1"/>
                </a:solidFill>
              </a:rPr>
              <a:t>SATHWIK HEJAMADY BHAT</a:t>
            </a:r>
            <a:pPr indent="0" marL="0">
              <a:buNone/>
            </a:pPr>
            <a:r>
              <a:rPr lang="en-US" sz="1200" dirty="0">
                <a:solidFill>
                  <a:schemeClr val="tx2"/>
                </a:solidFill>
              </a:rPr>
              <a:t>   ·   Data, imputation and balancing</a:t>
            </a:r>
            <a:endParaRPr lang="en-US" sz="1200" dirty="0"/>
          </a:p>
        </p:txBody>
      </p:sp>
      <p:sp>
        <p:nvSpPr>
          <p:cNvPr id="5" name="Text 0"/>
          <p:cNvSpPr/>
          <p:nvPr>
            <p:ph idx="100" type="title" hasCustomPrompt="1"/>
          </p:nvPr>
        </p:nvSpPr>
        <p:spPr>
          <a:xfrm>
            <a:off x="548640" y="868680"/>
            <a:ext cx="11091672" cy="731520"/>
          </a:xfrm>
          <a:prstGeom prst="rect">
            <a:avLst/>
          </a:prstGeom>
          <a:noFill/>
          <a:ln/>
        </p:spPr>
        <p:txBody>
          <a:bodyPr wrap="square" lIns="0" tIns="0" rIns="0" bIns="0" rtlCol="0" anchor="ctr"/>
          <a:lstStyle/>
          <a:p>
            <a:pPr algn="l" indent="0" marL="0">
              <a:buNone/>
            </a:pPr>
            <a:r>
              <a:rPr lang="en-US" sz="3400" b="1" dirty="0">
                <a:solidFill>
                  <a:schemeClr val="tx1"/>
                </a:solidFill>
              </a:rPr>
              <a:t>Hot-deck kept the spread; ADASYN did not help</a:t>
            </a:r>
            <a:endParaRPr lang="en-US" sz="3400" dirty="0"/>
          </a:p>
        </p:txBody>
      </p:sp>
      <p:sp>
        <p:nvSpPr>
          <p:cNvPr id="6" name="Imputation card"/>
          <p:cNvSpPr/>
          <p:nvPr/>
        </p:nvSpPr>
        <p:spPr>
          <a:xfrm>
            <a:off x="548640" y="1783080"/>
            <a:ext cx="5440680" cy="4434840"/>
          </a:xfrm>
          <a:prstGeom prst="roundRect">
            <a:avLst>
              <a:gd name="adj" fmla="val 2474"/>
            </a:avLst>
          </a:prstGeom>
          <a:solidFill>
            <a:schemeClr val="bg2">
              <a:alpha val="88000"/>
            </a:schemeClr>
          </a:solidFill>
          <a:ln w="9525">
            <a:solidFill>
              <a:srgbClr val="FFFFFF">
                <a:alpha val="12000"/>
              </a:srgbClr>
            </a:solidFill>
            <a:prstDash val="solid"/>
          </a:ln>
        </p:spPr>
      </p:sp>
      <p:graphicFrame>
        <p:nvGraphicFramePr>
          <p:cNvPr id="7" name="Chart 0" descr=""/>
          <p:cNvGraphicFramePr/>
          <p:nvPr/>
        </p:nvGraphicFramePr>
        <p:xfrm>
          <a:off x="685800" y="1874520"/>
          <a:ext cx="5166360" cy="2743200"/>
        </p:xfrm>
        <a:graphic xmlns:a="http://schemas.openxmlformats.org/drawingml/2006/main">
          <a:graphicData uri="http://schemas.openxmlformats.org/drawingml/2006/chart">
            <c:chart xmlns:c="http://schemas.openxmlformats.org/drawingml/2006/chart" r:id="rId1"/>
          </a:graphicData>
        </a:graphic>
      </p:graphicFrame>
      <p:sp>
        <p:nvSpPr>
          <p:cNvPr id="8" name="Imputation takeaway"/>
          <p:cNvSpPr txBox="1"/>
          <p:nvPr/>
        </p:nvSpPr>
        <p:spPr>
          <a:xfrm>
            <a:off x="822960" y="4754880"/>
            <a:ext cx="4937760" cy="1325880"/>
          </a:xfrm>
          <a:prstGeom prst="rect">
            <a:avLst/>
          </a:prstGeom>
          <a:noFill/>
          <a:ln/>
        </p:spPr>
        <p:txBody>
          <a:bodyPr wrap="square" lIns="0" tIns="0" rIns="0" bIns="0" rtlCol="0" anchor="t"/>
          <a:lstStyle/>
          <a:p>
            <a:pPr indent="0" marL="0">
              <a:buNone/>
            </a:pPr>
            <a:r>
              <a:rPr lang="en-US" sz="1400" b="1" dirty="0">
                <a:solidFill>
                  <a:schemeClr val="tx1"/>
                </a:solidFill>
              </a:rPr>
              <a:t>Mean imputation: </a:t>
            </a:r>
            <a:pPr indent="0" marL="0">
              <a:buNone/>
            </a:pPr>
            <a:r>
              <a:rPr lang="en-US" sz="1400" dirty="0">
                <a:solidFill>
                  <a:schemeClr val="tx1"/>
                </a:solidFill>
              </a:rPr>
              <a:t>variance 0 and AD hippocampal volume 1.47 sd too large. </a:t>
            </a:r>
            <a:pPr indent="0" marL="0">
              <a:buNone/>
            </a:pPr>
            <a:r>
              <a:rPr lang="en-US" sz="1400" b="1" dirty="0">
                <a:solidFill>
                  <a:schemeClr val="accent1"/>
                </a:solidFill>
              </a:rPr>
              <a:t>Hot-deck: </a:t>
            </a:r>
            <a:pPr indent="0" marL="0">
              <a:buNone/>
            </a:pPr>
            <a:r>
              <a:rPr lang="en-US" sz="1400" dirty="0">
                <a:solidFill>
                  <a:schemeClr val="tx1"/>
                </a:solidFill>
              </a:rPr>
              <a:t>variance ≈ 1.0, bias −0.05 sd, at the cost of noisier single guesses.</a:t>
            </a:r>
            <a:endParaRPr lang="en-US" sz="1400" dirty="0"/>
          </a:p>
        </p:txBody>
      </p:sp>
      <p:sp>
        <p:nvSpPr>
          <p:cNvPr id="9" name="ADASYN card"/>
          <p:cNvSpPr/>
          <p:nvPr/>
        </p:nvSpPr>
        <p:spPr>
          <a:xfrm>
            <a:off x="6199632" y="1783080"/>
            <a:ext cx="5440680" cy="4434840"/>
          </a:xfrm>
          <a:prstGeom prst="roundRect">
            <a:avLst>
              <a:gd name="adj" fmla="val 2474"/>
            </a:avLst>
          </a:prstGeom>
          <a:solidFill>
            <a:schemeClr val="bg2">
              <a:alpha val="88000"/>
            </a:schemeClr>
          </a:solidFill>
          <a:ln w="9525">
            <a:solidFill>
              <a:srgbClr val="FFFFFF">
                <a:alpha val="12000"/>
              </a:srgbClr>
            </a:solidFill>
            <a:prstDash val="solid"/>
          </a:ln>
        </p:spPr>
      </p:sp>
      <p:graphicFrame>
        <p:nvGraphicFramePr>
          <p:cNvPr id="10" name="Chart 1" descr=""/>
          <p:cNvGraphicFramePr/>
          <p:nvPr/>
        </p:nvGraphicFramePr>
        <p:xfrm>
          <a:off x="6336792" y="1874520"/>
          <a:ext cx="5166360" cy="2743200"/>
        </p:xfrm>
        <a:graphic xmlns:a="http://schemas.openxmlformats.org/drawingml/2006/main">
          <a:graphicData uri="http://schemas.openxmlformats.org/drawingml/2006/chart">
            <c:chart xmlns:c="http://schemas.openxmlformats.org/drawingml/2006/chart" r:id="rId2"/>
          </a:graphicData>
        </a:graphic>
      </p:graphicFrame>
      <p:sp>
        <p:nvSpPr>
          <p:cNvPr id="11" name="ADASYN takeaway"/>
          <p:cNvSpPr txBox="1"/>
          <p:nvPr/>
        </p:nvSpPr>
        <p:spPr>
          <a:xfrm>
            <a:off x="6473952" y="4754880"/>
            <a:ext cx="4937760" cy="1325880"/>
          </a:xfrm>
          <a:prstGeom prst="rect">
            <a:avLst/>
          </a:prstGeom>
          <a:noFill/>
          <a:ln/>
        </p:spPr>
        <p:txBody>
          <a:bodyPr wrap="square" lIns="0" tIns="0" rIns="0" bIns="0" rtlCol="0" anchor="t"/>
          <a:lstStyle/>
          <a:p>
            <a:pPr indent="0" marL="0">
              <a:buNone/>
            </a:pPr>
            <a:r>
              <a:rPr lang="en-US" sz="1400" b="1" dirty="0">
                <a:solidFill>
                  <a:schemeClr val="tx1"/>
                </a:solidFill>
              </a:rPr>
              <a:t>ADASYN balances exactly </a:t>
            </a:r>
            <a:pPr indent="0" marL="0">
              <a:buNone/>
            </a:pPr>
            <a:r>
              <a:rPr lang="en-US" sz="1400" dirty="0">
                <a:solidFill>
                  <a:schemeClr val="tx1"/>
                </a:solidFill>
              </a:rPr>
              <a:t>(+455 synthetic rows, 3.26 → 1.00) </a:t>
            </a:r>
            <a:pPr indent="0" marL="0">
              <a:buNone/>
            </a:pPr>
            <a:r>
              <a:rPr lang="en-US" sz="1400" dirty="0">
                <a:solidFill>
                  <a:schemeClr val="tx1"/>
                </a:solidFill>
              </a:rPr>
              <a:t>but macro F1 moves </a:t>
            </a:r>
            <a:pPr indent="0" marL="0">
              <a:buNone/>
            </a:pPr>
            <a:r>
              <a:rPr lang="en-US" sz="1400" b="1" dirty="0">
                <a:solidFill>
                  <a:schemeClr val="accent1"/>
                </a:solidFill>
              </a:rPr>
              <a:t>-0.002 ± 0.015</a:t>
            </a:r>
            <a:pPr indent="0" marL="0">
              <a:buNone/>
            </a:pPr>
            <a:r>
              <a:rPr lang="en-US" sz="1400" dirty="0">
                <a:solidFill>
                  <a:schemeClr val="tx1"/>
                </a:solidFill>
              </a:rPr>
              <a:t>, ahead in 14 of 30 splits: no measurable gain.</a:t>
            </a:r>
            <a:endParaRPr lang="en-US" sz="1400" dirty="0"/>
          </a:p>
        </p:txBody>
      </p:sp>
      <p:sp>
        <p:nvSpPr>
          <p:cNvPr id="12" name="Footnote"/>
          <p:cNvSpPr txBox="1"/>
          <p:nvPr/>
        </p:nvSpPr>
        <p:spPr>
          <a:xfrm>
            <a:off x="822960" y="5943600"/>
            <a:ext cx="4937760" cy="228600"/>
          </a:xfrm>
          <a:prstGeom prst="rect">
            <a:avLst/>
          </a:prstGeom>
          <a:noFill/>
          <a:ln/>
        </p:spPr>
        <p:txBody>
          <a:bodyPr wrap="square" lIns="0" tIns="0" rIns="0" bIns="0" rtlCol="0" anchor="t"/>
          <a:lstStyle/>
          <a:p>
            <a:pPr indent="0" marL="0">
              <a:buNone/>
            </a:pPr>
            <a:r>
              <a:rPr lang="en-US" sz="1000" dirty="0">
                <a:solidFill>
                  <a:schemeClr val="tx2"/>
                </a:solidFill>
              </a:rPr>
              <a:t>* Class mean uses the true label, so it is only a reference.</a:t>
            </a:r>
            <a:endParaRPr lang="en-US" sz="1000" dirty="0"/>
          </a:p>
        </p:txBody>
      </p:sp>
      <p:sp>
        <p:nvSpPr>
          <p:cNvPr id="25" name="Slide Number Placeholder 0"/>
          <p:cNvSpPr>
            <a:spLocks noGrp="1"/>
          </p:cNvSpPr>
          <p:nvPr>
            <p:ph type="sldNum" sz="quarter" idx="4294967295"/>
          </p:nvPr>
        </p:nvSpPr>
        <p:spPr>
          <a:xfrm>
            <a:off x="11064240" y="6419088"/>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E7F9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Presenter badge"/>
          <p:cNvSpPr/>
          <p:nvPr/>
        </p:nvSpPr>
        <p:spPr>
          <a:xfrm>
            <a:off x="548640" y="384048"/>
            <a:ext cx="365760" cy="365760"/>
          </a:xfrm>
          <a:prstGeom prst="ellipse">
            <a:avLst/>
          </a:prstGeom>
          <a:solidFill>
            <a:schemeClr val="accent1"/>
          </a:solidFill>
          <a:ln w="12700">
            <a:solidFill>
              <a:schemeClr val="accent1"/>
            </a:solidFill>
            <a:prstDash val="solid"/>
          </a:ln>
        </p:spPr>
      </p:sp>
      <p:sp>
        <p:nvSpPr>
          <p:cNvPr id="3" name="Presenter initials"/>
          <p:cNvSpPr txBox="1"/>
          <p:nvPr/>
        </p:nvSpPr>
        <p:spPr>
          <a:xfrm>
            <a:off x="548640" y="384048"/>
            <a:ext cx="365760" cy="365760"/>
          </a:xfrm>
          <a:prstGeom prst="rect">
            <a:avLst/>
          </a:prstGeom>
          <a:noFill/>
          <a:ln/>
        </p:spPr>
        <p:txBody>
          <a:bodyPr wrap="square" lIns="0" tIns="0" rIns="0" bIns="0" rtlCol="0" anchor="ctr"/>
          <a:lstStyle/>
          <a:p>
            <a:pPr algn="ctr" indent="0" marL="0">
              <a:buNone/>
            </a:pPr>
            <a:r>
              <a:rPr lang="en-US" sz="1100" b="1" dirty="0">
                <a:solidFill>
                  <a:schemeClr val="bg1"/>
                </a:solidFill>
              </a:rPr>
              <a:t>HR</a:t>
            </a:r>
            <a:endParaRPr lang="en-US" sz="1100" dirty="0"/>
          </a:p>
        </p:txBody>
      </p:sp>
      <p:sp>
        <p:nvSpPr>
          <p:cNvPr id="4" name="Presenter line"/>
          <p:cNvSpPr txBox="1"/>
          <p:nvPr/>
        </p:nvSpPr>
        <p:spPr>
          <a:xfrm>
            <a:off x="1051560" y="384048"/>
            <a:ext cx="9601200" cy="365760"/>
          </a:xfrm>
          <a:prstGeom prst="rect">
            <a:avLst/>
          </a:prstGeom>
          <a:noFill/>
          <a:ln/>
        </p:spPr>
        <p:txBody>
          <a:bodyPr wrap="square" lIns="0" tIns="0" rIns="0" bIns="0" rtlCol="0" anchor="ctr"/>
          <a:lstStyle/>
          <a:p>
            <a:pPr indent="0" marL="0">
              <a:buNone/>
            </a:pPr>
            <a:r>
              <a:rPr lang="en-US" sz="1200" b="1" spc="200" kern="0" dirty="0">
                <a:solidFill>
                  <a:schemeClr val="accent1"/>
                </a:solidFill>
              </a:rPr>
              <a:t>HARIT RAVAL</a:t>
            </a:r>
            <a:pPr indent="0" marL="0">
              <a:buNone/>
            </a:pPr>
            <a:r>
              <a:rPr lang="en-US" sz="1200" dirty="0">
                <a:solidFill>
                  <a:schemeClr val="tx2"/>
                </a:solidFill>
              </a:rPr>
              <a:t>   ·   The MRI model</a:t>
            </a:r>
            <a:endParaRPr lang="en-US" sz="1200" dirty="0"/>
          </a:p>
        </p:txBody>
      </p:sp>
      <p:sp>
        <p:nvSpPr>
          <p:cNvPr id="5" name="Text 0"/>
          <p:cNvSpPr/>
          <p:nvPr>
            <p:ph idx="100" type="title" hasCustomPrompt="1"/>
          </p:nvPr>
        </p:nvSpPr>
        <p:spPr>
          <a:xfrm>
            <a:off x="548640" y="868680"/>
            <a:ext cx="11091672" cy="731520"/>
          </a:xfrm>
          <a:prstGeom prst="rect">
            <a:avLst/>
          </a:prstGeom>
          <a:noFill/>
          <a:ln/>
        </p:spPr>
        <p:txBody>
          <a:bodyPr wrap="square" lIns="0" tIns="0" rIns="0" bIns="0" rtlCol="0" anchor="ctr"/>
          <a:lstStyle/>
          <a:p>
            <a:pPr algn="l" indent="0" marL="0">
              <a:buNone/>
            </a:pPr>
            <a:r>
              <a:rPr lang="en-US" sz="3400" b="1" dirty="0">
                <a:solidFill>
                  <a:schemeClr val="tx1"/>
                </a:solidFill>
              </a:rPr>
              <a:t>A pretrained VGG19, fine-tuned where it matters</a:t>
            </a:r>
            <a:endParaRPr lang="en-US" sz="3400" dirty="0"/>
          </a:p>
        </p:txBody>
      </p:sp>
      <p:sp>
        <p:nvSpPr>
          <p:cNvPr id="6" name="VGG box 1"/>
          <p:cNvSpPr/>
          <p:nvPr/>
        </p:nvSpPr>
        <p:spPr>
          <a:xfrm>
            <a:off x="548640" y="1783080"/>
            <a:ext cx="2057400" cy="1417320"/>
          </a:xfrm>
          <a:prstGeom prst="roundRect">
            <a:avLst>
              <a:gd name="adj" fmla="val 7742"/>
            </a:avLst>
          </a:prstGeom>
          <a:solidFill>
            <a:schemeClr val="bg2">
              <a:alpha val="88000"/>
            </a:schemeClr>
          </a:solidFill>
          <a:ln w="9525">
            <a:solidFill>
              <a:srgbClr val="FFFFFF">
                <a:alpha val="12000"/>
              </a:srgbClr>
            </a:solidFill>
            <a:prstDash val="solid"/>
          </a:ln>
        </p:spPr>
      </p:sp>
      <p:sp>
        <p:nvSpPr>
          <p:cNvPr id="7" name="VGG title 1"/>
          <p:cNvSpPr txBox="1"/>
          <p:nvPr/>
        </p:nvSpPr>
        <p:spPr>
          <a:xfrm>
            <a:off x="658368" y="1920240"/>
            <a:ext cx="1837944" cy="365760"/>
          </a:xfrm>
          <a:prstGeom prst="rect">
            <a:avLst/>
          </a:prstGeom>
          <a:noFill/>
          <a:ln/>
        </p:spPr>
        <p:txBody>
          <a:bodyPr wrap="square" lIns="0" tIns="0" rIns="0" bIns="0" rtlCol="0" anchor="t"/>
          <a:lstStyle/>
          <a:p>
            <a:pPr algn="ctr" indent="0" marL="0">
              <a:buNone/>
            </a:pPr>
            <a:r>
              <a:rPr lang="en-US" sz="1600" b="1" dirty="0">
                <a:solidFill>
                  <a:schemeClr val="tx1"/>
                </a:solidFill>
              </a:rPr>
              <a:t>Input</a:t>
            </a:r>
            <a:endParaRPr lang="en-US" sz="1600" dirty="0"/>
          </a:p>
        </p:txBody>
      </p:sp>
      <p:sp>
        <p:nvSpPr>
          <p:cNvPr id="8" name="VGG detail 1"/>
          <p:cNvSpPr txBox="1"/>
          <p:nvPr/>
        </p:nvSpPr>
        <p:spPr>
          <a:xfrm>
            <a:off x="658368" y="2331720"/>
            <a:ext cx="1837944" cy="777240"/>
          </a:xfrm>
          <a:prstGeom prst="rect">
            <a:avLst/>
          </a:prstGeom>
          <a:noFill/>
          <a:ln/>
        </p:spPr>
        <p:txBody>
          <a:bodyPr wrap="square" lIns="0" tIns="0" rIns="0" bIns="0" rtlCol="0" anchor="t"/>
          <a:lstStyle/>
          <a:p>
            <a:pPr algn="ctr" indent="0" marL="0">
              <a:buNone/>
            </a:pPr>
            <a:r>
              <a:rPr lang="en-US" sz="1300" dirty="0">
                <a:solidFill>
                  <a:schemeClr val="tx2"/>
                </a:solidFill>
              </a:rPr>
              <a:t>224 × 224 MRI slice</a:t>
            </a:r>
            <a:endParaRPr lang="en-US" sz="1300" dirty="0"/>
          </a:p>
        </p:txBody>
      </p:sp>
      <p:sp>
        <p:nvSpPr>
          <p:cNvPr id="9" name="VGG arrow 1"/>
          <p:cNvSpPr txBox="1"/>
          <p:nvPr/>
        </p:nvSpPr>
        <p:spPr>
          <a:xfrm>
            <a:off x="2606040" y="2194560"/>
            <a:ext cx="201168" cy="457200"/>
          </a:xfrm>
          <a:prstGeom prst="rect">
            <a:avLst/>
          </a:prstGeom>
          <a:noFill/>
          <a:ln/>
        </p:spPr>
        <p:txBody>
          <a:bodyPr wrap="square" lIns="0" tIns="0" rIns="0" bIns="0" rtlCol="0" anchor="ctr"/>
          <a:lstStyle/>
          <a:p>
            <a:pPr algn="ctr" indent="0" marL="0">
              <a:buNone/>
            </a:pPr>
            <a:r>
              <a:rPr lang="en-US" sz="2200" dirty="0">
                <a:solidFill>
                  <a:schemeClr val="tx2"/>
                </a:solidFill>
              </a:rPr>
              <a:t>›</a:t>
            </a:r>
            <a:endParaRPr lang="en-US" sz="2200" dirty="0"/>
          </a:p>
        </p:txBody>
      </p:sp>
      <p:sp>
        <p:nvSpPr>
          <p:cNvPr id="10" name="VGG box 2"/>
          <p:cNvSpPr/>
          <p:nvPr/>
        </p:nvSpPr>
        <p:spPr>
          <a:xfrm>
            <a:off x="2807208" y="1783080"/>
            <a:ext cx="2057400" cy="1417320"/>
          </a:xfrm>
          <a:prstGeom prst="roundRect">
            <a:avLst>
              <a:gd name="adj" fmla="val 7742"/>
            </a:avLst>
          </a:prstGeom>
          <a:solidFill>
            <a:schemeClr val="accent6">
              <a:alpha val="30000"/>
            </a:schemeClr>
          </a:solidFill>
          <a:ln w="9525">
            <a:solidFill>
              <a:srgbClr val="FFFFFF">
                <a:alpha val="30000"/>
              </a:srgbClr>
            </a:solidFill>
            <a:prstDash val="solid"/>
          </a:ln>
        </p:spPr>
      </p:sp>
      <p:sp>
        <p:nvSpPr>
          <p:cNvPr id="11" name="VGG title 2"/>
          <p:cNvSpPr txBox="1"/>
          <p:nvPr/>
        </p:nvSpPr>
        <p:spPr>
          <a:xfrm>
            <a:off x="2916936" y="1920240"/>
            <a:ext cx="1837944" cy="365760"/>
          </a:xfrm>
          <a:prstGeom prst="rect">
            <a:avLst/>
          </a:prstGeom>
          <a:noFill/>
          <a:ln/>
        </p:spPr>
        <p:txBody>
          <a:bodyPr wrap="square" lIns="0" tIns="0" rIns="0" bIns="0" rtlCol="0" anchor="t"/>
          <a:lstStyle/>
          <a:p>
            <a:pPr algn="ctr" indent="0" marL="0">
              <a:buNone/>
            </a:pPr>
            <a:r>
              <a:rPr lang="en-US" sz="1600" b="1" dirty="0">
                <a:solidFill>
                  <a:schemeClr val="tx1"/>
                </a:solidFill>
              </a:rPr>
              <a:t>Conv blocks 1–4</a:t>
            </a:r>
            <a:endParaRPr lang="en-US" sz="1600" dirty="0"/>
          </a:p>
        </p:txBody>
      </p:sp>
      <p:sp>
        <p:nvSpPr>
          <p:cNvPr id="12" name="VGG detail 2"/>
          <p:cNvSpPr txBox="1"/>
          <p:nvPr/>
        </p:nvSpPr>
        <p:spPr>
          <a:xfrm>
            <a:off x="2916936" y="2331720"/>
            <a:ext cx="1837944" cy="777240"/>
          </a:xfrm>
          <a:prstGeom prst="rect">
            <a:avLst/>
          </a:prstGeom>
          <a:noFill/>
          <a:ln/>
        </p:spPr>
        <p:txBody>
          <a:bodyPr wrap="square" lIns="0" tIns="0" rIns="0" bIns="0" rtlCol="0" anchor="t"/>
          <a:lstStyle/>
          <a:p>
            <a:pPr algn="ctr" indent="0" marL="0">
              <a:buNone/>
            </a:pPr>
            <a:r>
              <a:rPr lang="en-US" sz="1300" dirty="0">
                <a:solidFill>
                  <a:schemeClr val="tx2"/>
                </a:solidFill>
              </a:rPr>
              <a:t>Frozen · ImageNet filters</a:t>
            </a:r>
            <a:endParaRPr lang="en-US" sz="1300" dirty="0"/>
          </a:p>
        </p:txBody>
      </p:sp>
      <p:sp>
        <p:nvSpPr>
          <p:cNvPr id="13" name="VGG arrow 2"/>
          <p:cNvSpPr txBox="1"/>
          <p:nvPr/>
        </p:nvSpPr>
        <p:spPr>
          <a:xfrm>
            <a:off x="4864608" y="2194560"/>
            <a:ext cx="201168" cy="457200"/>
          </a:xfrm>
          <a:prstGeom prst="rect">
            <a:avLst/>
          </a:prstGeom>
          <a:noFill/>
          <a:ln/>
        </p:spPr>
        <p:txBody>
          <a:bodyPr wrap="square" lIns="0" tIns="0" rIns="0" bIns="0" rtlCol="0" anchor="ctr"/>
          <a:lstStyle/>
          <a:p>
            <a:pPr algn="ctr" indent="0" marL="0">
              <a:buNone/>
            </a:pPr>
            <a:r>
              <a:rPr lang="en-US" sz="2200" dirty="0">
                <a:solidFill>
                  <a:schemeClr val="tx2"/>
                </a:solidFill>
              </a:rPr>
              <a:t>›</a:t>
            </a:r>
            <a:endParaRPr lang="en-US" sz="2200" dirty="0"/>
          </a:p>
        </p:txBody>
      </p:sp>
      <p:sp>
        <p:nvSpPr>
          <p:cNvPr id="14" name="VGG box 3"/>
          <p:cNvSpPr/>
          <p:nvPr/>
        </p:nvSpPr>
        <p:spPr>
          <a:xfrm>
            <a:off x="5065776" y="1783080"/>
            <a:ext cx="2057400" cy="1417320"/>
          </a:xfrm>
          <a:prstGeom prst="roundRect">
            <a:avLst>
              <a:gd name="adj" fmla="val 7742"/>
            </a:avLst>
          </a:prstGeom>
          <a:solidFill>
            <a:schemeClr val="accent1">
              <a:alpha val="30000"/>
            </a:schemeClr>
          </a:solidFill>
          <a:ln w="9525">
            <a:solidFill>
              <a:srgbClr val="C99BDB">
                <a:alpha val="80000"/>
              </a:srgbClr>
            </a:solidFill>
            <a:prstDash val="solid"/>
          </a:ln>
        </p:spPr>
      </p:sp>
      <p:sp>
        <p:nvSpPr>
          <p:cNvPr id="15" name="VGG title 3"/>
          <p:cNvSpPr txBox="1"/>
          <p:nvPr/>
        </p:nvSpPr>
        <p:spPr>
          <a:xfrm>
            <a:off x="5175504" y="1920240"/>
            <a:ext cx="1837944" cy="365760"/>
          </a:xfrm>
          <a:prstGeom prst="rect">
            <a:avLst/>
          </a:prstGeom>
          <a:noFill/>
          <a:ln/>
        </p:spPr>
        <p:txBody>
          <a:bodyPr wrap="square" lIns="0" tIns="0" rIns="0" bIns="0" rtlCol="0" anchor="t"/>
          <a:lstStyle/>
          <a:p>
            <a:pPr algn="ctr" indent="0" marL="0">
              <a:buNone/>
            </a:pPr>
            <a:r>
              <a:rPr lang="en-US" sz="1600" b="1" dirty="0">
                <a:solidFill>
                  <a:schemeClr val="tx1"/>
                </a:solidFill>
              </a:rPr>
              <a:t>Conv block 5</a:t>
            </a:r>
            <a:endParaRPr lang="en-US" sz="1600" dirty="0"/>
          </a:p>
        </p:txBody>
      </p:sp>
      <p:sp>
        <p:nvSpPr>
          <p:cNvPr id="16" name="VGG detail 3"/>
          <p:cNvSpPr txBox="1"/>
          <p:nvPr/>
        </p:nvSpPr>
        <p:spPr>
          <a:xfrm>
            <a:off x="5175504" y="2331720"/>
            <a:ext cx="1837944" cy="777240"/>
          </a:xfrm>
          <a:prstGeom prst="rect">
            <a:avLst/>
          </a:prstGeom>
          <a:noFill/>
          <a:ln/>
        </p:spPr>
        <p:txBody>
          <a:bodyPr wrap="square" lIns="0" tIns="0" rIns="0" bIns="0" rtlCol="0" anchor="t"/>
          <a:lstStyle/>
          <a:p>
            <a:pPr algn="ctr" indent="0" marL="0">
              <a:buNone/>
            </a:pPr>
            <a:r>
              <a:rPr lang="en-US" sz="1300" dirty="0">
                <a:solidFill>
                  <a:schemeClr val="tx2"/>
                </a:solidFill>
              </a:rPr>
              <a:t>Fine-tuned on MRI</a:t>
            </a:r>
            <a:endParaRPr lang="en-US" sz="1300" dirty="0"/>
          </a:p>
        </p:txBody>
      </p:sp>
      <p:sp>
        <p:nvSpPr>
          <p:cNvPr id="17" name="VGG arrow 3"/>
          <p:cNvSpPr txBox="1"/>
          <p:nvPr/>
        </p:nvSpPr>
        <p:spPr>
          <a:xfrm>
            <a:off x="7123176" y="2194560"/>
            <a:ext cx="201168" cy="457200"/>
          </a:xfrm>
          <a:prstGeom prst="rect">
            <a:avLst/>
          </a:prstGeom>
          <a:noFill/>
          <a:ln/>
        </p:spPr>
        <p:txBody>
          <a:bodyPr wrap="square" lIns="0" tIns="0" rIns="0" bIns="0" rtlCol="0" anchor="ctr"/>
          <a:lstStyle/>
          <a:p>
            <a:pPr algn="ctr" indent="0" marL="0">
              <a:buNone/>
            </a:pPr>
            <a:r>
              <a:rPr lang="en-US" sz="2200" dirty="0">
                <a:solidFill>
                  <a:schemeClr val="tx2"/>
                </a:solidFill>
              </a:rPr>
              <a:t>›</a:t>
            </a:r>
            <a:endParaRPr lang="en-US" sz="2200" dirty="0"/>
          </a:p>
        </p:txBody>
      </p:sp>
      <p:sp>
        <p:nvSpPr>
          <p:cNvPr id="18" name="VGG box 4"/>
          <p:cNvSpPr/>
          <p:nvPr/>
        </p:nvSpPr>
        <p:spPr>
          <a:xfrm>
            <a:off x="7324344" y="1783080"/>
            <a:ext cx="2057400" cy="1417320"/>
          </a:xfrm>
          <a:prstGeom prst="roundRect">
            <a:avLst>
              <a:gd name="adj" fmla="val 7742"/>
            </a:avLst>
          </a:prstGeom>
          <a:solidFill>
            <a:schemeClr val="accent1">
              <a:alpha val="12000"/>
            </a:schemeClr>
          </a:solidFill>
          <a:ln w="9525">
            <a:solidFill>
              <a:srgbClr val="C99BDB">
                <a:alpha val="55000"/>
              </a:srgbClr>
            </a:solidFill>
            <a:prstDash val="solid"/>
          </a:ln>
        </p:spPr>
      </p:sp>
      <p:sp>
        <p:nvSpPr>
          <p:cNvPr id="19" name="VGG title 4"/>
          <p:cNvSpPr txBox="1"/>
          <p:nvPr/>
        </p:nvSpPr>
        <p:spPr>
          <a:xfrm>
            <a:off x="7434072" y="1920240"/>
            <a:ext cx="1837944" cy="365760"/>
          </a:xfrm>
          <a:prstGeom prst="rect">
            <a:avLst/>
          </a:prstGeom>
          <a:noFill/>
          <a:ln/>
        </p:spPr>
        <p:txBody>
          <a:bodyPr wrap="square" lIns="0" tIns="0" rIns="0" bIns="0" rtlCol="0" anchor="t"/>
          <a:lstStyle/>
          <a:p>
            <a:pPr algn="ctr" indent="0" marL="0">
              <a:buNone/>
            </a:pPr>
            <a:r>
              <a:rPr lang="en-US" sz="1600" b="1" dirty="0">
                <a:solidFill>
                  <a:schemeClr val="tx1"/>
                </a:solidFill>
              </a:rPr>
              <a:t>New head</a:t>
            </a:r>
            <a:endParaRPr lang="en-US" sz="1600" dirty="0"/>
          </a:p>
        </p:txBody>
      </p:sp>
      <p:sp>
        <p:nvSpPr>
          <p:cNvPr id="20" name="VGG detail 4"/>
          <p:cNvSpPr txBox="1"/>
          <p:nvPr/>
        </p:nvSpPr>
        <p:spPr>
          <a:xfrm>
            <a:off x="7434072" y="2331720"/>
            <a:ext cx="1837944" cy="777240"/>
          </a:xfrm>
          <a:prstGeom prst="rect">
            <a:avLst/>
          </a:prstGeom>
          <a:noFill/>
          <a:ln/>
        </p:spPr>
        <p:txBody>
          <a:bodyPr wrap="square" lIns="0" tIns="0" rIns="0" bIns="0" rtlCol="0" anchor="t"/>
          <a:lstStyle/>
          <a:p>
            <a:pPr algn="ctr" indent="0" marL="0">
              <a:buNone/>
            </a:pPr>
            <a:r>
              <a:rPr lang="en-US" sz="1300" dirty="0">
                <a:solidFill>
                  <a:schemeClr val="tx2"/>
                </a:solidFill>
              </a:rPr>
              <a:t>25088 → 512 → 256 → 4 · dropout</a:t>
            </a:r>
            <a:endParaRPr lang="en-US" sz="1300" dirty="0"/>
          </a:p>
        </p:txBody>
      </p:sp>
      <p:sp>
        <p:nvSpPr>
          <p:cNvPr id="21" name="VGG arrow 4"/>
          <p:cNvSpPr txBox="1"/>
          <p:nvPr/>
        </p:nvSpPr>
        <p:spPr>
          <a:xfrm>
            <a:off x="9381744" y="2194560"/>
            <a:ext cx="201168" cy="457200"/>
          </a:xfrm>
          <a:prstGeom prst="rect">
            <a:avLst/>
          </a:prstGeom>
          <a:noFill/>
          <a:ln/>
        </p:spPr>
        <p:txBody>
          <a:bodyPr wrap="square" lIns="0" tIns="0" rIns="0" bIns="0" rtlCol="0" anchor="ctr"/>
          <a:lstStyle/>
          <a:p>
            <a:pPr algn="ctr" indent="0" marL="0">
              <a:buNone/>
            </a:pPr>
            <a:r>
              <a:rPr lang="en-US" sz="2200" dirty="0">
                <a:solidFill>
                  <a:schemeClr val="tx2"/>
                </a:solidFill>
              </a:rPr>
              <a:t>›</a:t>
            </a:r>
            <a:endParaRPr lang="en-US" sz="2200" dirty="0"/>
          </a:p>
        </p:txBody>
      </p:sp>
      <p:sp>
        <p:nvSpPr>
          <p:cNvPr id="22" name="VGG box 5"/>
          <p:cNvSpPr/>
          <p:nvPr/>
        </p:nvSpPr>
        <p:spPr>
          <a:xfrm>
            <a:off x="9582912" y="1783080"/>
            <a:ext cx="2057400" cy="1417320"/>
          </a:xfrm>
          <a:prstGeom prst="roundRect">
            <a:avLst>
              <a:gd name="adj" fmla="val 7742"/>
            </a:avLst>
          </a:prstGeom>
          <a:solidFill>
            <a:schemeClr val="bg2">
              <a:alpha val="88000"/>
            </a:schemeClr>
          </a:solidFill>
          <a:ln w="9525">
            <a:solidFill>
              <a:srgbClr val="FFFFFF">
                <a:alpha val="12000"/>
              </a:srgbClr>
            </a:solidFill>
            <a:prstDash val="solid"/>
          </a:ln>
        </p:spPr>
      </p:sp>
      <p:sp>
        <p:nvSpPr>
          <p:cNvPr id="23" name="VGG title 5"/>
          <p:cNvSpPr txBox="1"/>
          <p:nvPr/>
        </p:nvSpPr>
        <p:spPr>
          <a:xfrm>
            <a:off x="9692640" y="1920240"/>
            <a:ext cx="1837944" cy="365760"/>
          </a:xfrm>
          <a:prstGeom prst="rect">
            <a:avLst/>
          </a:prstGeom>
          <a:noFill/>
          <a:ln/>
        </p:spPr>
        <p:txBody>
          <a:bodyPr wrap="square" lIns="0" tIns="0" rIns="0" bIns="0" rtlCol="0" anchor="t"/>
          <a:lstStyle/>
          <a:p>
            <a:pPr algn="ctr" indent="0" marL="0">
              <a:buNone/>
            </a:pPr>
            <a:r>
              <a:rPr lang="en-US" sz="1600" b="1" dirty="0">
                <a:solidFill>
                  <a:schemeClr val="tx1"/>
                </a:solidFill>
              </a:rPr>
              <a:t>Output</a:t>
            </a:r>
            <a:endParaRPr lang="en-US" sz="1600" dirty="0"/>
          </a:p>
        </p:txBody>
      </p:sp>
      <p:sp>
        <p:nvSpPr>
          <p:cNvPr id="24" name="VGG detail 5"/>
          <p:cNvSpPr txBox="1"/>
          <p:nvPr/>
        </p:nvSpPr>
        <p:spPr>
          <a:xfrm>
            <a:off x="9692640" y="2331720"/>
            <a:ext cx="1837944" cy="777240"/>
          </a:xfrm>
          <a:prstGeom prst="rect">
            <a:avLst/>
          </a:prstGeom>
          <a:noFill/>
          <a:ln/>
        </p:spPr>
        <p:txBody>
          <a:bodyPr wrap="square" lIns="0" tIns="0" rIns="0" bIns="0" rtlCol="0" anchor="t"/>
          <a:lstStyle/>
          <a:p>
            <a:pPr algn="ctr" indent="0" marL="0">
              <a:buNone/>
            </a:pPr>
            <a:r>
              <a:rPr lang="en-US" sz="1300" dirty="0">
                <a:solidFill>
                  <a:schemeClr val="tx2"/>
                </a:solidFill>
              </a:rPr>
              <a:t>4 stage probabilities</a:t>
            </a:r>
            <a:endParaRPr lang="en-US" sz="1300" dirty="0"/>
          </a:p>
        </p:txBody>
      </p:sp>
      <p:sp>
        <p:nvSpPr>
          <p:cNvPr id="25" name="Stat total"/>
          <p:cNvSpPr/>
          <p:nvPr/>
        </p:nvSpPr>
        <p:spPr>
          <a:xfrm>
            <a:off x="548640" y="3520440"/>
            <a:ext cx="3566160" cy="1417320"/>
          </a:xfrm>
          <a:prstGeom prst="roundRect">
            <a:avLst>
              <a:gd name="adj" fmla="val 7742"/>
            </a:avLst>
          </a:prstGeom>
          <a:solidFill>
            <a:schemeClr val="bg2">
              <a:alpha val="88000"/>
            </a:schemeClr>
          </a:solidFill>
          <a:ln w="9525">
            <a:solidFill>
              <a:srgbClr val="FFFFFF">
                <a:alpha val="12000"/>
              </a:srgbClr>
            </a:solidFill>
            <a:prstDash val="solid"/>
          </a:ln>
        </p:spPr>
      </p:sp>
      <p:sp>
        <p:nvSpPr>
          <p:cNvPr id="26" name="Stat total value"/>
          <p:cNvSpPr txBox="1"/>
          <p:nvPr/>
        </p:nvSpPr>
        <p:spPr>
          <a:xfrm>
            <a:off x="777240" y="3630168"/>
            <a:ext cx="3108960" cy="737006"/>
          </a:xfrm>
          <a:prstGeom prst="rect">
            <a:avLst/>
          </a:prstGeom>
          <a:noFill/>
          <a:ln/>
        </p:spPr>
        <p:txBody>
          <a:bodyPr wrap="square" lIns="0" tIns="0" rIns="0" bIns="0" rtlCol="0" anchor="ctr"/>
          <a:lstStyle/>
          <a:p>
            <a:pPr indent="0" marL="0">
              <a:buNone/>
            </a:pPr>
            <a:r>
              <a:rPr lang="en-US" sz="4000" b="1" dirty="0">
                <a:solidFill>
                  <a:schemeClr val="accent1"/>
                </a:solidFill>
                <a:latin typeface="+mj-lt" pitchFamily="34" charset="0"/>
                <a:ea typeface="+mj-lt" pitchFamily="34" charset="-122"/>
                <a:cs typeface="+mj-lt" pitchFamily="34" charset="-120"/>
              </a:rPr>
              <a:t>33.0 M</a:t>
            </a:r>
            <a:endParaRPr lang="en-US" sz="4000" dirty="0"/>
          </a:p>
        </p:txBody>
      </p:sp>
      <p:sp>
        <p:nvSpPr>
          <p:cNvPr id="27" name="Stat total label"/>
          <p:cNvSpPr txBox="1"/>
          <p:nvPr/>
        </p:nvSpPr>
        <p:spPr>
          <a:xfrm>
            <a:off x="777240" y="4342486"/>
            <a:ext cx="3108960" cy="538582"/>
          </a:xfrm>
          <a:prstGeom prst="rect">
            <a:avLst/>
          </a:prstGeom>
          <a:noFill/>
          <a:ln/>
        </p:spPr>
        <p:txBody>
          <a:bodyPr wrap="square" lIns="0" tIns="0" rIns="0" bIns="0" rtlCol="0" anchor="t"/>
          <a:lstStyle/>
          <a:p>
            <a:pPr indent="0" marL="0">
              <a:buNone/>
            </a:pPr>
            <a:r>
              <a:rPr lang="en-US" sz="1300" dirty="0">
                <a:solidFill>
                  <a:schemeClr val="tx2"/>
                </a:solidFill>
              </a:rPr>
              <a:t>parameters in total</a:t>
            </a:r>
            <a:endParaRPr lang="en-US" sz="1300" dirty="0"/>
          </a:p>
        </p:txBody>
      </p:sp>
      <p:sp>
        <p:nvSpPr>
          <p:cNvPr id="28" name="Stat trainable"/>
          <p:cNvSpPr/>
          <p:nvPr/>
        </p:nvSpPr>
        <p:spPr>
          <a:xfrm>
            <a:off x="4315968" y="3520440"/>
            <a:ext cx="3566160" cy="1417320"/>
          </a:xfrm>
          <a:prstGeom prst="roundRect">
            <a:avLst>
              <a:gd name="adj" fmla="val 7742"/>
            </a:avLst>
          </a:prstGeom>
          <a:solidFill>
            <a:schemeClr val="bg2">
              <a:alpha val="88000"/>
            </a:schemeClr>
          </a:solidFill>
          <a:ln w="9525">
            <a:solidFill>
              <a:srgbClr val="FFFFFF">
                <a:alpha val="12000"/>
              </a:srgbClr>
            </a:solidFill>
            <a:prstDash val="solid"/>
          </a:ln>
        </p:spPr>
      </p:sp>
      <p:sp>
        <p:nvSpPr>
          <p:cNvPr id="29" name="Stat trainable value"/>
          <p:cNvSpPr txBox="1"/>
          <p:nvPr/>
        </p:nvSpPr>
        <p:spPr>
          <a:xfrm>
            <a:off x="4544568" y="3630168"/>
            <a:ext cx="3108960" cy="737006"/>
          </a:xfrm>
          <a:prstGeom prst="rect">
            <a:avLst/>
          </a:prstGeom>
          <a:noFill/>
          <a:ln/>
        </p:spPr>
        <p:txBody>
          <a:bodyPr wrap="square" lIns="0" tIns="0" rIns="0" bIns="0" rtlCol="0" anchor="ctr"/>
          <a:lstStyle/>
          <a:p>
            <a:pPr indent="0" marL="0">
              <a:buNone/>
            </a:pPr>
            <a:r>
              <a:rPr lang="en-US" sz="4000" b="1" dirty="0">
                <a:solidFill>
                  <a:schemeClr val="accent1"/>
                </a:solidFill>
                <a:latin typeface="+mj-lt" pitchFamily="34" charset="0"/>
                <a:ea typeface="+mj-lt" pitchFamily="34" charset="-122"/>
                <a:cs typeface="+mj-lt" pitchFamily="34" charset="-120"/>
              </a:rPr>
              <a:t>22.4 M</a:t>
            </a:r>
            <a:endParaRPr lang="en-US" sz="4000" dirty="0"/>
          </a:p>
        </p:txBody>
      </p:sp>
      <p:sp>
        <p:nvSpPr>
          <p:cNvPr id="30" name="Stat trainable label"/>
          <p:cNvSpPr txBox="1"/>
          <p:nvPr/>
        </p:nvSpPr>
        <p:spPr>
          <a:xfrm>
            <a:off x="4544568" y="4342486"/>
            <a:ext cx="3108960" cy="538582"/>
          </a:xfrm>
          <a:prstGeom prst="rect">
            <a:avLst/>
          </a:prstGeom>
          <a:noFill/>
          <a:ln/>
        </p:spPr>
        <p:txBody>
          <a:bodyPr wrap="square" lIns="0" tIns="0" rIns="0" bIns="0" rtlCol="0" anchor="t"/>
          <a:lstStyle/>
          <a:p>
            <a:pPr indent="0" marL="0">
              <a:buNone/>
            </a:pPr>
            <a:r>
              <a:rPr lang="en-US" sz="1300" dirty="0">
                <a:solidFill>
                  <a:schemeClr val="tx2"/>
                </a:solidFill>
              </a:rPr>
              <a:t>trainable: block 5 + new head</a:t>
            </a:r>
            <a:endParaRPr lang="en-US" sz="1300" dirty="0"/>
          </a:p>
        </p:txBody>
      </p:sp>
      <p:sp>
        <p:nvSpPr>
          <p:cNvPr id="31" name="Stat classes"/>
          <p:cNvSpPr/>
          <p:nvPr/>
        </p:nvSpPr>
        <p:spPr>
          <a:xfrm>
            <a:off x="8083296" y="3520440"/>
            <a:ext cx="3557016" cy="1417320"/>
          </a:xfrm>
          <a:prstGeom prst="roundRect">
            <a:avLst>
              <a:gd name="adj" fmla="val 7742"/>
            </a:avLst>
          </a:prstGeom>
          <a:solidFill>
            <a:schemeClr val="bg2">
              <a:alpha val="88000"/>
            </a:schemeClr>
          </a:solidFill>
          <a:ln w="9525">
            <a:solidFill>
              <a:srgbClr val="FFFFFF">
                <a:alpha val="12000"/>
              </a:srgbClr>
            </a:solidFill>
            <a:prstDash val="solid"/>
          </a:ln>
        </p:spPr>
      </p:sp>
      <p:sp>
        <p:nvSpPr>
          <p:cNvPr id="32" name="Stat classes value"/>
          <p:cNvSpPr txBox="1"/>
          <p:nvPr/>
        </p:nvSpPr>
        <p:spPr>
          <a:xfrm>
            <a:off x="8311896" y="3630168"/>
            <a:ext cx="3099816" cy="737006"/>
          </a:xfrm>
          <a:prstGeom prst="rect">
            <a:avLst/>
          </a:prstGeom>
          <a:noFill/>
          <a:ln/>
        </p:spPr>
        <p:txBody>
          <a:bodyPr wrap="square" lIns="0" tIns="0" rIns="0" bIns="0" rtlCol="0" anchor="ctr"/>
          <a:lstStyle/>
          <a:p>
            <a:pPr indent="0" marL="0">
              <a:buNone/>
            </a:pPr>
            <a:r>
              <a:rPr lang="en-US" sz="4000" b="1" dirty="0">
                <a:solidFill>
                  <a:schemeClr val="accent1"/>
                </a:solidFill>
                <a:latin typeface="+mj-lt" pitchFamily="34" charset="0"/>
                <a:ea typeface="+mj-lt" pitchFamily="34" charset="-122"/>
                <a:cs typeface="+mj-lt" pitchFamily="34" charset="-120"/>
              </a:rPr>
              <a:t>4</a:t>
            </a:r>
            <a:endParaRPr lang="en-US" sz="4000" dirty="0"/>
          </a:p>
        </p:txBody>
      </p:sp>
      <p:sp>
        <p:nvSpPr>
          <p:cNvPr id="33" name="Stat classes label"/>
          <p:cNvSpPr txBox="1"/>
          <p:nvPr/>
        </p:nvSpPr>
        <p:spPr>
          <a:xfrm>
            <a:off x="8311896" y="4342486"/>
            <a:ext cx="3099816" cy="538582"/>
          </a:xfrm>
          <a:prstGeom prst="rect">
            <a:avLst/>
          </a:prstGeom>
          <a:noFill/>
          <a:ln/>
        </p:spPr>
        <p:txBody>
          <a:bodyPr wrap="square" lIns="0" tIns="0" rIns="0" bIns="0" rtlCol="0" anchor="t"/>
          <a:lstStyle/>
          <a:p>
            <a:pPr indent="0" marL="0">
              <a:buNone/>
            </a:pPr>
            <a:r>
              <a:rPr lang="en-US" sz="1300" dirty="0">
                <a:solidFill>
                  <a:schemeClr val="tx2"/>
                </a:solidFill>
              </a:rPr>
              <a:t>ordered stages: NC &lt; EMCI &lt; LMCI &lt; AD</a:t>
            </a:r>
            <a:endParaRPr lang="en-US" sz="1300" dirty="0"/>
          </a:p>
        </p:txBody>
      </p:sp>
      <p:sp>
        <p:nvSpPr>
          <p:cNvPr id="34" name="ReLU note"/>
          <p:cNvSpPr/>
          <p:nvPr/>
        </p:nvSpPr>
        <p:spPr>
          <a:xfrm>
            <a:off x="548640" y="5166360"/>
            <a:ext cx="11091672" cy="1051560"/>
          </a:xfrm>
          <a:prstGeom prst="roundRect">
            <a:avLst>
              <a:gd name="adj" fmla="val 10435"/>
            </a:avLst>
          </a:prstGeom>
          <a:solidFill>
            <a:schemeClr val="bg2">
              <a:alpha val="88000"/>
            </a:schemeClr>
          </a:solidFill>
          <a:ln w="9525">
            <a:solidFill>
              <a:srgbClr val="FFFFFF">
                <a:alpha val="12000"/>
              </a:srgbClr>
            </a:solidFill>
            <a:prstDash val="solid"/>
          </a:ln>
        </p:spPr>
      </p:sp>
      <p:sp>
        <p:nvSpPr>
          <p:cNvPr id="35" name="ReLU note icon circle"/>
          <p:cNvSpPr/>
          <p:nvPr/>
        </p:nvSpPr>
        <p:spPr>
          <a:xfrm>
            <a:off x="822960" y="5458968"/>
            <a:ext cx="457200" cy="457200"/>
          </a:xfrm>
          <a:prstGeom prst="ellipse">
            <a:avLst/>
          </a:prstGeom>
          <a:solidFill>
            <a:schemeClr val="accent1"/>
          </a:solidFill>
          <a:ln w="12700">
            <a:solidFill>
              <a:schemeClr val="accent1"/>
            </a:solidFill>
            <a:prstDash val="solid"/>
          </a:ln>
        </p:spPr>
      </p:sp>
      <p:pic>
        <p:nvPicPr>
          <p:cNvPr id="36" name="ReLU note icon" descr="Layers icon">    </p:cNvPr>
          <p:cNvPicPr>
            <a:picLocks noChangeAspect="1"/>
          </p:cNvPicPr>
          <p:nvPr/>
        </p:nvPicPr>
        <p:blipFill>
          <a:blip r:embed="rId1"/>
          <a:stretch>
            <a:fillRect/>
          </a:stretch>
        </p:blipFill>
        <p:spPr>
          <a:xfrm>
            <a:off x="941832" y="5577840"/>
            <a:ext cx="219456" cy="219456"/>
          </a:xfrm>
          <a:prstGeom prst="rect">
            <a:avLst/>
          </a:prstGeom>
        </p:spPr>
      </p:pic>
      <p:sp>
        <p:nvSpPr>
          <p:cNvPr id="37" name="ReLU note text"/>
          <p:cNvSpPr txBox="1"/>
          <p:nvPr/>
        </p:nvSpPr>
        <p:spPr>
          <a:xfrm>
            <a:off x="1508760" y="5166360"/>
            <a:ext cx="9875520" cy="1051560"/>
          </a:xfrm>
          <a:prstGeom prst="rect">
            <a:avLst/>
          </a:prstGeom>
          <a:noFill/>
          <a:ln/>
        </p:spPr>
        <p:txBody>
          <a:bodyPr wrap="square" lIns="0" tIns="0" rIns="0" bIns="0" rtlCol="0" anchor="ctr"/>
          <a:lstStyle/>
          <a:p>
            <a:pPr indent="0" marL="0">
              <a:buNone/>
            </a:pPr>
            <a:r>
              <a:rPr lang="en-US" sz="1500" b="1" dirty="0">
                <a:solidFill>
                  <a:schemeClr val="tx1"/>
                </a:solidFill>
              </a:rPr>
              <a:t>A small detail that matters: </a:t>
            </a:r>
            <a:pPr indent="0" marL="0">
              <a:buNone/>
            </a:pPr>
            <a:r>
              <a:rPr lang="en-US" sz="1500" dirty="0">
                <a:solidFill>
                  <a:schemeClr val="tx1"/>
                </a:solidFill>
              </a:rPr>
              <a:t>in-place ReLUs are replaced with normal ones, because in-place layers overwrite the activations that Grad-CAM must read.</a:t>
            </a:r>
            <a:endParaRPr lang="en-US" sz="1500" dirty="0"/>
          </a:p>
        </p:txBody>
      </p:sp>
      <p:sp>
        <p:nvSpPr>
          <p:cNvPr id="25" name="Slide Number Placeholder 0"/>
          <p:cNvSpPr>
            <a:spLocks noGrp="1"/>
          </p:cNvSpPr>
          <p:nvPr>
            <p:ph type="sldNum" sz="quarter" idx="4294967295"/>
          </p:nvPr>
        </p:nvSpPr>
        <p:spPr>
          <a:xfrm>
            <a:off x="11064240" y="6419088"/>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E7F9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Presenter badge"/>
          <p:cNvSpPr/>
          <p:nvPr/>
        </p:nvSpPr>
        <p:spPr>
          <a:xfrm>
            <a:off x="548640" y="384048"/>
            <a:ext cx="365760" cy="365760"/>
          </a:xfrm>
          <a:prstGeom prst="ellipse">
            <a:avLst/>
          </a:prstGeom>
          <a:solidFill>
            <a:schemeClr val="accent1"/>
          </a:solidFill>
          <a:ln w="12700">
            <a:solidFill>
              <a:schemeClr val="accent1"/>
            </a:solidFill>
            <a:prstDash val="solid"/>
          </a:ln>
        </p:spPr>
      </p:sp>
      <p:sp>
        <p:nvSpPr>
          <p:cNvPr id="3" name="Presenter initials"/>
          <p:cNvSpPr txBox="1"/>
          <p:nvPr/>
        </p:nvSpPr>
        <p:spPr>
          <a:xfrm>
            <a:off x="548640" y="384048"/>
            <a:ext cx="365760" cy="365760"/>
          </a:xfrm>
          <a:prstGeom prst="rect">
            <a:avLst/>
          </a:prstGeom>
          <a:noFill/>
          <a:ln/>
        </p:spPr>
        <p:txBody>
          <a:bodyPr wrap="square" lIns="0" tIns="0" rIns="0" bIns="0" rtlCol="0" anchor="ctr"/>
          <a:lstStyle/>
          <a:p>
            <a:pPr algn="ctr" indent="0" marL="0">
              <a:buNone/>
            </a:pPr>
            <a:r>
              <a:rPr lang="en-US" sz="1100" b="1" dirty="0">
                <a:solidFill>
                  <a:schemeClr val="bg1"/>
                </a:solidFill>
              </a:rPr>
              <a:t>HR</a:t>
            </a:r>
            <a:endParaRPr lang="en-US" sz="1100" dirty="0"/>
          </a:p>
        </p:txBody>
      </p:sp>
      <p:sp>
        <p:nvSpPr>
          <p:cNvPr id="4" name="Presenter line"/>
          <p:cNvSpPr txBox="1"/>
          <p:nvPr/>
        </p:nvSpPr>
        <p:spPr>
          <a:xfrm>
            <a:off x="1051560" y="384048"/>
            <a:ext cx="9601200" cy="365760"/>
          </a:xfrm>
          <a:prstGeom prst="rect">
            <a:avLst/>
          </a:prstGeom>
          <a:noFill/>
          <a:ln/>
        </p:spPr>
        <p:txBody>
          <a:bodyPr wrap="square" lIns="0" tIns="0" rIns="0" bIns="0" rtlCol="0" anchor="ctr"/>
          <a:lstStyle/>
          <a:p>
            <a:pPr indent="0" marL="0">
              <a:buNone/>
            </a:pPr>
            <a:r>
              <a:rPr lang="en-US" sz="1200" b="1" spc="200" kern="0" dirty="0">
                <a:solidFill>
                  <a:schemeClr val="accent1"/>
                </a:solidFill>
              </a:rPr>
              <a:t>HARIT RAVAL</a:t>
            </a:r>
            <a:pPr indent="0" marL="0">
              <a:buNone/>
            </a:pPr>
            <a:r>
              <a:rPr lang="en-US" sz="1200" dirty="0">
                <a:solidFill>
                  <a:schemeClr val="tx2"/>
                </a:solidFill>
              </a:rPr>
              <a:t>   ·   The MRI model</a:t>
            </a:r>
            <a:endParaRPr lang="en-US" sz="1200" dirty="0"/>
          </a:p>
        </p:txBody>
      </p:sp>
      <p:sp>
        <p:nvSpPr>
          <p:cNvPr id="5" name="Text 0"/>
          <p:cNvSpPr/>
          <p:nvPr>
            <p:ph idx="100" type="title" hasCustomPrompt="1"/>
          </p:nvPr>
        </p:nvSpPr>
        <p:spPr>
          <a:xfrm>
            <a:off x="548640" y="868680"/>
            <a:ext cx="11091672" cy="731520"/>
          </a:xfrm>
          <a:prstGeom prst="rect">
            <a:avLst/>
          </a:prstGeom>
          <a:noFill/>
          <a:ln/>
        </p:spPr>
        <p:txBody>
          <a:bodyPr wrap="square" lIns="0" tIns="0" rIns="0" bIns="0" rtlCol="0" anchor="ctr"/>
          <a:lstStyle/>
          <a:p>
            <a:pPr algn="l" indent="0" marL="0">
              <a:buNone/>
            </a:pPr>
            <a:r>
              <a:rPr lang="en-US" sz="3400" b="1" dirty="0">
                <a:solidFill>
                  <a:schemeClr val="tx1"/>
                </a:solidFill>
              </a:rPr>
              <a:t>How it was trained, and what we evaluated</a:t>
            </a:r>
            <a:endParaRPr lang="en-US" sz="3400" dirty="0"/>
          </a:p>
        </p:txBody>
      </p:sp>
      <p:sp>
        <p:nvSpPr>
          <p:cNvPr id="6" name="Recipe card"/>
          <p:cNvSpPr/>
          <p:nvPr/>
        </p:nvSpPr>
        <p:spPr>
          <a:xfrm>
            <a:off x="548640" y="1783080"/>
            <a:ext cx="6035040" cy="4434840"/>
          </a:xfrm>
          <a:prstGeom prst="roundRect">
            <a:avLst>
              <a:gd name="adj" fmla="val 2474"/>
            </a:avLst>
          </a:prstGeom>
          <a:solidFill>
            <a:schemeClr val="bg2">
              <a:alpha val="88000"/>
            </a:schemeClr>
          </a:solidFill>
          <a:ln w="9525">
            <a:solidFill>
              <a:srgbClr val="FFFFFF">
                <a:alpha val="12000"/>
              </a:srgbClr>
            </a:solidFill>
            <a:prstDash val="solid"/>
          </a:ln>
        </p:spPr>
      </p:sp>
      <p:sp>
        <p:nvSpPr>
          <p:cNvPr id="7" name="Recipe label"/>
          <p:cNvSpPr txBox="1"/>
          <p:nvPr/>
        </p:nvSpPr>
        <p:spPr>
          <a:xfrm>
            <a:off x="822960" y="1965960"/>
            <a:ext cx="4572000" cy="274320"/>
          </a:xfrm>
          <a:prstGeom prst="rect">
            <a:avLst/>
          </a:prstGeom>
          <a:noFill/>
          <a:ln/>
        </p:spPr>
        <p:txBody>
          <a:bodyPr wrap="square" lIns="0" tIns="0" rIns="0" bIns="0" rtlCol="0" anchor="t"/>
          <a:lstStyle/>
          <a:p>
            <a:pPr indent="0" marL="0">
              <a:buNone/>
            </a:pPr>
            <a:r>
              <a:rPr lang="en-US" sz="1200" b="1" spc="300" kern="0" dirty="0">
                <a:solidFill>
                  <a:schemeClr val="accent1"/>
                </a:solidFill>
              </a:rPr>
              <a:t>TRAINING RECIPE</a:t>
            </a:r>
            <a:endParaRPr lang="en-US" sz="1200" dirty="0"/>
          </a:p>
        </p:txBody>
      </p:sp>
      <p:sp>
        <p:nvSpPr>
          <p:cNvPr id="8" name="Recipe list"/>
          <p:cNvSpPr txBox="1"/>
          <p:nvPr/>
        </p:nvSpPr>
        <p:spPr>
          <a:xfrm>
            <a:off x="822960" y="2423160"/>
            <a:ext cx="5486400" cy="3657600"/>
          </a:xfrm>
          <a:prstGeom prst="rect">
            <a:avLst/>
          </a:prstGeom>
          <a:noFill/>
          <a:ln/>
        </p:spPr>
        <p:txBody>
          <a:bodyPr wrap="square" lIns="0" tIns="0" rIns="0" bIns="0" rtlCol="0" anchor="t"/>
          <a:lstStyle/>
          <a:p>
            <a:pPr marL="342900" indent="-342900">
              <a:spcAft>
                <a:spcPts val="2200"/>
              </a:spcAft>
              <a:buSzPct val="100000"/>
              <a:buChar char="•"/>
            </a:pPr>
            <a:r>
              <a:rPr lang="en-US" sz="1700" dirty="0">
                <a:solidFill>
                  <a:schemeClr val="tx1"/>
                </a:solidFill>
              </a:rPr>
              <a:t>AdamW: backbone 1e-4, new head ten times higher</a:t>
            </a:r>
            <a:endParaRPr lang="en-US" sz="1700" dirty="0"/>
          </a:p>
          <a:p>
            <a:pPr marL="342900" indent="-342900">
              <a:spcAft>
                <a:spcPts val="2200"/>
              </a:spcAft>
              <a:buSzPct val="100000"/>
              <a:buChar char="•"/>
            </a:pPr>
            <a:r>
              <a:rPr lang="en-US" sz="1700" dirty="0">
                <a:solidFill>
                  <a:schemeClr val="tx1"/>
                </a:solidFill>
              </a:rPr>
              <a:t>Label smoothing 0.05, inverse-frequency class weights</a:t>
            </a:r>
            <a:endParaRPr lang="en-US" sz="1700" dirty="0"/>
          </a:p>
          <a:p>
            <a:pPr marL="342900" indent="-342900">
              <a:spcAft>
                <a:spcPts val="2200"/>
              </a:spcAft>
              <a:buSzPct val="100000"/>
              <a:buChar char="•"/>
            </a:pPr>
            <a:r>
              <a:rPr lang="en-US" sz="1700" dirty="0">
                <a:solidFill>
                  <a:schemeClr val="tx1"/>
                </a:solidFill>
              </a:rPr>
              <a:t>Cosine decay, up to 25 epochs, early stopping (patience 6)</a:t>
            </a:r>
            <a:endParaRPr lang="en-US" sz="1700" dirty="0"/>
          </a:p>
          <a:p>
            <a:pPr marL="342900" indent="-342900">
              <a:spcAft>
                <a:spcPts val="2200"/>
              </a:spcAft>
              <a:buSzPct val="100000"/>
              <a:buChar char="•"/>
            </a:pPr>
            <a:r>
              <a:rPr lang="en-US" sz="1700" dirty="0">
                <a:solidFill>
                  <a:schemeClr val="tx1"/>
                </a:solidFill>
              </a:rPr>
              <a:t>Checkpoint chosen by validation macro F1, not accuracy</a:t>
            </a:r>
            <a:endParaRPr lang="en-US" sz="1700" dirty="0"/>
          </a:p>
          <a:p>
            <a:pPr marL="342900" indent="-342900">
              <a:spcAft>
                <a:spcPts val="2200"/>
              </a:spcAft>
              <a:buSzPct val="100000"/>
              <a:buChar char="•"/>
            </a:pPr>
            <a:r>
              <a:rPr lang="en-US" sz="1700" dirty="0">
                <a:solidFill>
                  <a:schemeClr val="tx1"/>
                </a:solidFill>
              </a:rPr>
              <a:t>Mild augmentation: flip, 7° rotation, 3% shift, 10% jitter</a:t>
            </a:r>
            <a:endParaRPr lang="en-US" sz="1700" dirty="0"/>
          </a:p>
        </p:txBody>
      </p:sp>
      <p:sp>
        <p:nvSpPr>
          <p:cNvPr id="9" name="Stat epoch"/>
          <p:cNvSpPr/>
          <p:nvPr/>
        </p:nvSpPr>
        <p:spPr>
          <a:xfrm>
            <a:off x="6766560" y="1783080"/>
            <a:ext cx="2395728" cy="1371600"/>
          </a:xfrm>
          <a:prstGeom prst="roundRect">
            <a:avLst>
              <a:gd name="adj" fmla="val 8000"/>
            </a:avLst>
          </a:prstGeom>
          <a:solidFill>
            <a:schemeClr val="bg2">
              <a:alpha val="88000"/>
            </a:schemeClr>
          </a:solidFill>
          <a:ln w="9525">
            <a:solidFill>
              <a:srgbClr val="FFFFFF">
                <a:alpha val="12000"/>
              </a:srgbClr>
            </a:solidFill>
            <a:prstDash val="solid"/>
          </a:ln>
        </p:spPr>
      </p:sp>
      <p:sp>
        <p:nvSpPr>
          <p:cNvPr id="10" name="Stat epoch value"/>
          <p:cNvSpPr txBox="1"/>
          <p:nvPr/>
        </p:nvSpPr>
        <p:spPr>
          <a:xfrm>
            <a:off x="6995160" y="1892808"/>
            <a:ext cx="1938528" cy="713232"/>
          </a:xfrm>
          <a:prstGeom prst="rect">
            <a:avLst/>
          </a:prstGeom>
          <a:noFill/>
          <a:ln/>
        </p:spPr>
        <p:txBody>
          <a:bodyPr wrap="square" lIns="0" tIns="0" rIns="0" bIns="0" rtlCol="0" anchor="ctr"/>
          <a:lstStyle/>
          <a:p>
            <a:pPr indent="0" marL="0">
              <a:buNone/>
            </a:pPr>
            <a:r>
              <a:rPr lang="en-US" sz="3200" b="1" dirty="0">
                <a:solidFill>
                  <a:schemeClr val="accent1"/>
                </a:solidFill>
                <a:latin typeface="+mj-lt" pitchFamily="34" charset="0"/>
                <a:ea typeface="+mj-lt" pitchFamily="34" charset="-122"/>
                <a:cs typeface="+mj-lt" pitchFamily="34" charset="-120"/>
              </a:rPr>
              <a:t>Epoch 1</a:t>
            </a:r>
            <a:endParaRPr lang="en-US" sz="3200" dirty="0"/>
          </a:p>
        </p:txBody>
      </p:sp>
      <p:sp>
        <p:nvSpPr>
          <p:cNvPr id="11" name="Stat epoch label"/>
          <p:cNvSpPr txBox="1"/>
          <p:nvPr/>
        </p:nvSpPr>
        <p:spPr>
          <a:xfrm>
            <a:off x="6995160" y="2578608"/>
            <a:ext cx="1938528" cy="521208"/>
          </a:xfrm>
          <a:prstGeom prst="rect">
            <a:avLst/>
          </a:prstGeom>
          <a:noFill/>
          <a:ln/>
        </p:spPr>
        <p:txBody>
          <a:bodyPr wrap="square" lIns="0" tIns="0" rIns="0" bIns="0" rtlCol="0" anchor="t"/>
          <a:lstStyle/>
          <a:p>
            <a:pPr indent="0" marL="0">
              <a:buNone/>
            </a:pPr>
            <a:r>
              <a:rPr lang="en-US" sz="1300" dirty="0">
                <a:solidFill>
                  <a:schemeClr val="tx2"/>
                </a:solidFill>
              </a:rPr>
              <a:t>selected checkpoint</a:t>
            </a:r>
            <a:endParaRPr lang="en-US" sz="1300" dirty="0"/>
          </a:p>
        </p:txBody>
      </p:sp>
      <p:sp>
        <p:nvSpPr>
          <p:cNvPr id="12" name="Stat val F1"/>
          <p:cNvSpPr/>
          <p:nvPr/>
        </p:nvSpPr>
        <p:spPr>
          <a:xfrm>
            <a:off x="9253728" y="1783080"/>
            <a:ext cx="2386584" cy="1371600"/>
          </a:xfrm>
          <a:prstGeom prst="roundRect">
            <a:avLst>
              <a:gd name="adj" fmla="val 8000"/>
            </a:avLst>
          </a:prstGeom>
          <a:solidFill>
            <a:schemeClr val="bg2">
              <a:alpha val="88000"/>
            </a:schemeClr>
          </a:solidFill>
          <a:ln w="9525">
            <a:solidFill>
              <a:srgbClr val="FFFFFF">
                <a:alpha val="12000"/>
              </a:srgbClr>
            </a:solidFill>
            <a:prstDash val="solid"/>
          </a:ln>
        </p:spPr>
      </p:sp>
      <p:sp>
        <p:nvSpPr>
          <p:cNvPr id="13" name="Stat val F1 value"/>
          <p:cNvSpPr txBox="1"/>
          <p:nvPr/>
        </p:nvSpPr>
        <p:spPr>
          <a:xfrm>
            <a:off x="9482328" y="1892808"/>
            <a:ext cx="1929384" cy="713232"/>
          </a:xfrm>
          <a:prstGeom prst="rect">
            <a:avLst/>
          </a:prstGeom>
          <a:noFill/>
          <a:ln/>
        </p:spPr>
        <p:txBody>
          <a:bodyPr wrap="square" lIns="0" tIns="0" rIns="0" bIns="0" rtlCol="0" anchor="ctr"/>
          <a:lstStyle/>
          <a:p>
            <a:pPr indent="0" marL="0">
              <a:buNone/>
            </a:pPr>
            <a:r>
              <a:rPr lang="en-US" sz="3200" b="1" dirty="0">
                <a:solidFill>
                  <a:schemeClr val="accent1"/>
                </a:solidFill>
                <a:latin typeface="+mj-lt" pitchFamily="34" charset="0"/>
                <a:ea typeface="+mj-lt" pitchFamily="34" charset="-122"/>
                <a:cs typeface="+mj-lt" pitchFamily="34" charset="-120"/>
              </a:rPr>
              <a:t>1.000</a:t>
            </a:r>
            <a:endParaRPr lang="en-US" sz="3200" dirty="0"/>
          </a:p>
        </p:txBody>
      </p:sp>
      <p:sp>
        <p:nvSpPr>
          <p:cNvPr id="14" name="Stat val F1 label"/>
          <p:cNvSpPr txBox="1"/>
          <p:nvPr/>
        </p:nvSpPr>
        <p:spPr>
          <a:xfrm>
            <a:off x="9482328" y="2578608"/>
            <a:ext cx="1929384" cy="521208"/>
          </a:xfrm>
          <a:prstGeom prst="rect">
            <a:avLst/>
          </a:prstGeom>
          <a:noFill/>
          <a:ln/>
        </p:spPr>
        <p:txBody>
          <a:bodyPr wrap="square" lIns="0" tIns="0" rIns="0" bIns="0" rtlCol="0" anchor="t"/>
          <a:lstStyle/>
          <a:p>
            <a:pPr indent="0" marL="0">
              <a:buNone/>
            </a:pPr>
            <a:r>
              <a:rPr lang="en-US" sz="1300" dirty="0">
                <a:solidFill>
                  <a:schemeClr val="tx2"/>
                </a:solidFill>
              </a:rPr>
              <a:t>validation macro F1</a:t>
            </a:r>
            <a:endParaRPr lang="en-US" sz="1300" dirty="0"/>
          </a:p>
        </p:txBody>
      </p:sp>
      <p:sp>
        <p:nvSpPr>
          <p:cNvPr id="15" name="Saturated note"/>
          <p:cNvSpPr/>
          <p:nvPr/>
        </p:nvSpPr>
        <p:spPr>
          <a:xfrm>
            <a:off x="6766560" y="3337560"/>
            <a:ext cx="4873752" cy="1600200"/>
          </a:xfrm>
          <a:prstGeom prst="roundRect">
            <a:avLst>
              <a:gd name="adj" fmla="val 6857"/>
            </a:avLst>
          </a:prstGeom>
          <a:solidFill>
            <a:schemeClr val="accent4">
              <a:alpha val="12000"/>
            </a:schemeClr>
          </a:solidFill>
          <a:ln w="9525">
            <a:solidFill>
              <a:srgbClr val="FBBF24">
                <a:alpha val="45000"/>
              </a:srgbClr>
            </a:solidFill>
            <a:prstDash val="solid"/>
          </a:ln>
        </p:spPr>
      </p:sp>
      <p:pic>
        <p:nvPicPr>
          <p:cNvPr id="16" name="Saturated warning icon" descr="Warning icon">    </p:cNvPr>
          <p:cNvPicPr>
            <a:picLocks noChangeAspect="1"/>
          </p:cNvPicPr>
          <p:nvPr/>
        </p:nvPicPr>
        <p:blipFill>
          <a:blip r:embed="rId1"/>
          <a:stretch>
            <a:fillRect/>
          </a:stretch>
        </p:blipFill>
        <p:spPr>
          <a:xfrm>
            <a:off x="6995160" y="3566160"/>
            <a:ext cx="310896" cy="310896"/>
          </a:xfrm>
          <a:prstGeom prst="rect">
            <a:avLst/>
          </a:prstGeom>
        </p:spPr>
      </p:pic>
      <p:sp>
        <p:nvSpPr>
          <p:cNvPr id="17" name="Saturated text"/>
          <p:cNvSpPr txBox="1"/>
          <p:nvPr/>
        </p:nvSpPr>
        <p:spPr>
          <a:xfrm>
            <a:off x="7498080" y="3429000"/>
            <a:ext cx="3977640" cy="1417320"/>
          </a:xfrm>
          <a:prstGeom prst="rect">
            <a:avLst/>
          </a:prstGeom>
          <a:noFill/>
          <a:ln/>
        </p:spPr>
        <p:txBody>
          <a:bodyPr wrap="square" lIns="0" tIns="0" rIns="0" bIns="0" rtlCol="0" anchor="ctr"/>
          <a:lstStyle/>
          <a:p>
            <a:pPr indent="0" marL="0">
              <a:buNone/>
            </a:pPr>
            <a:r>
              <a:rPr lang="en-US" sz="1500" b="1" dirty="0">
                <a:solidFill>
                  <a:schemeClr val="tx1"/>
                </a:solidFill>
              </a:rPr>
              <a:t>Validation is saturated. </a:t>
            </a:r>
            <a:pPr indent="0" marL="0">
              <a:buNone/>
            </a:pPr>
            <a:r>
              <a:rPr lang="en-US" sz="1500" dirty="0">
                <a:solidFill>
                  <a:schemeClr val="tx1"/>
                </a:solidFill>
              </a:rPr>
              <a:t>A perfect score at epoch 1 on 43 slices means model selection carried almost no information.</a:t>
            </a:r>
            <a:endParaRPr lang="en-US" sz="1500" dirty="0"/>
          </a:p>
        </p:txBody>
      </p:sp>
      <p:sp>
        <p:nvSpPr>
          <p:cNvPr id="18" name="Not retrained note"/>
          <p:cNvSpPr/>
          <p:nvPr/>
        </p:nvSpPr>
        <p:spPr>
          <a:xfrm>
            <a:off x="6766560" y="5120640"/>
            <a:ext cx="4873752" cy="1097280"/>
          </a:xfrm>
          <a:prstGeom prst="roundRect">
            <a:avLst>
              <a:gd name="adj" fmla="val 10000"/>
            </a:avLst>
          </a:prstGeom>
          <a:solidFill>
            <a:schemeClr val="bg2">
              <a:alpha val="88000"/>
            </a:schemeClr>
          </a:solidFill>
          <a:ln w="9525">
            <a:solidFill>
              <a:srgbClr val="FFFFFF">
                <a:alpha val="12000"/>
              </a:srgbClr>
            </a:solidFill>
            <a:prstDash val="solid"/>
          </a:ln>
        </p:spPr>
      </p:sp>
      <p:sp>
        <p:nvSpPr>
          <p:cNvPr id="19" name="Not retrained text"/>
          <p:cNvSpPr txBox="1"/>
          <p:nvPr/>
        </p:nvSpPr>
        <p:spPr>
          <a:xfrm>
            <a:off x="7040880" y="5120640"/>
            <a:ext cx="4389120" cy="1097280"/>
          </a:xfrm>
          <a:prstGeom prst="rect">
            <a:avLst/>
          </a:prstGeom>
          <a:noFill/>
          <a:ln/>
        </p:spPr>
        <p:txBody>
          <a:bodyPr wrap="square" lIns="0" tIns="0" rIns="0" bIns="0" rtlCol="0" anchor="ctr"/>
          <a:lstStyle/>
          <a:p>
            <a:pPr indent="0" marL="0">
              <a:buNone/>
            </a:pPr>
            <a:r>
              <a:rPr lang="en-US" sz="1500" b="1" dirty="0">
                <a:solidFill>
                  <a:schemeClr val="accent1"/>
                </a:solidFill>
              </a:rPr>
              <a:t>We did not retrain. </a:t>
            </a:r>
            <a:pPr indent="0" marL="0">
              <a:buNone/>
            </a:pPr>
            <a:r>
              <a:rPr lang="en-US" sz="1500" dirty="0">
                <a:solidFill>
                  <a:schemeClr val="tx1"/>
                </a:solidFill>
              </a:rPr>
              <a:t>Every result that follows comes from running the released checkpoint.</a:t>
            </a:r>
            <a:endParaRPr lang="en-US" sz="1500" dirty="0"/>
          </a:p>
        </p:txBody>
      </p:sp>
      <p:sp>
        <p:nvSpPr>
          <p:cNvPr id="25" name="Slide Number Placeholder 0"/>
          <p:cNvSpPr>
            <a:spLocks noGrp="1"/>
          </p:cNvSpPr>
          <p:nvPr>
            <p:ph type="sldNum" sz="quarter" idx="4294967295"/>
          </p:nvPr>
        </p:nvSpPr>
        <p:spPr>
          <a:xfrm>
            <a:off x="11064240" y="6419088"/>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E7F9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Presenter badge"/>
          <p:cNvSpPr/>
          <p:nvPr/>
        </p:nvSpPr>
        <p:spPr>
          <a:xfrm>
            <a:off x="548640" y="384048"/>
            <a:ext cx="365760" cy="365760"/>
          </a:xfrm>
          <a:prstGeom prst="ellipse">
            <a:avLst/>
          </a:prstGeom>
          <a:solidFill>
            <a:schemeClr val="accent1"/>
          </a:solidFill>
          <a:ln w="12700">
            <a:solidFill>
              <a:schemeClr val="accent1"/>
            </a:solidFill>
            <a:prstDash val="solid"/>
          </a:ln>
        </p:spPr>
      </p:sp>
      <p:sp>
        <p:nvSpPr>
          <p:cNvPr id="3" name="Presenter initials"/>
          <p:cNvSpPr txBox="1"/>
          <p:nvPr/>
        </p:nvSpPr>
        <p:spPr>
          <a:xfrm>
            <a:off x="548640" y="384048"/>
            <a:ext cx="365760" cy="365760"/>
          </a:xfrm>
          <a:prstGeom prst="rect">
            <a:avLst/>
          </a:prstGeom>
          <a:noFill/>
          <a:ln/>
        </p:spPr>
        <p:txBody>
          <a:bodyPr wrap="square" lIns="0" tIns="0" rIns="0" bIns="0" rtlCol="0" anchor="ctr"/>
          <a:lstStyle/>
          <a:p>
            <a:pPr algn="ctr" indent="0" marL="0">
              <a:buNone/>
            </a:pPr>
            <a:r>
              <a:rPr lang="en-US" sz="1100" b="1" dirty="0">
                <a:solidFill>
                  <a:schemeClr val="bg1"/>
                </a:solidFill>
              </a:rPr>
              <a:t>SJ</a:t>
            </a:r>
            <a:endParaRPr lang="en-US" sz="1100" dirty="0"/>
          </a:p>
        </p:txBody>
      </p:sp>
      <p:sp>
        <p:nvSpPr>
          <p:cNvPr id="4" name="Presenter line"/>
          <p:cNvSpPr txBox="1"/>
          <p:nvPr/>
        </p:nvSpPr>
        <p:spPr>
          <a:xfrm>
            <a:off x="1051560" y="384048"/>
            <a:ext cx="9601200" cy="365760"/>
          </a:xfrm>
          <a:prstGeom prst="rect">
            <a:avLst/>
          </a:prstGeom>
          <a:noFill/>
          <a:ln/>
        </p:spPr>
        <p:txBody>
          <a:bodyPr wrap="square" lIns="0" tIns="0" rIns="0" bIns="0" rtlCol="0" anchor="ctr"/>
          <a:lstStyle/>
          <a:p>
            <a:pPr indent="0" marL="0">
              <a:buNone/>
            </a:pPr>
            <a:r>
              <a:rPr lang="en-US" sz="1200" b="1" spc="200" kern="0" dirty="0">
                <a:solidFill>
                  <a:schemeClr val="accent1"/>
                </a:solidFill>
              </a:rPr>
              <a:t>SHREYA JAIN</a:t>
            </a:r>
            <a:pPr indent="0" marL="0">
              <a:buNone/>
            </a:pPr>
            <a:r>
              <a:rPr lang="en-US" sz="1200" dirty="0">
                <a:solidFill>
                  <a:schemeClr val="tx2"/>
                </a:solidFill>
              </a:rPr>
              <a:t>   ·   MRI results and benchmarks</a:t>
            </a:r>
            <a:endParaRPr lang="en-US" sz="1200" dirty="0"/>
          </a:p>
        </p:txBody>
      </p:sp>
      <p:sp>
        <p:nvSpPr>
          <p:cNvPr id="5" name="Text 0"/>
          <p:cNvSpPr/>
          <p:nvPr>
            <p:ph idx="100" type="title" hasCustomPrompt="1"/>
          </p:nvPr>
        </p:nvSpPr>
        <p:spPr>
          <a:xfrm>
            <a:off x="548640" y="868680"/>
            <a:ext cx="11091672" cy="731520"/>
          </a:xfrm>
          <a:prstGeom prst="rect">
            <a:avLst/>
          </a:prstGeom>
          <a:noFill/>
          <a:ln/>
        </p:spPr>
        <p:txBody>
          <a:bodyPr wrap="square" lIns="0" tIns="0" rIns="0" bIns="0" rtlCol="0" anchor="ctr"/>
          <a:lstStyle/>
          <a:p>
            <a:pPr algn="l" indent="0" marL="0">
              <a:buNone/>
            </a:pPr>
            <a:r>
              <a:rPr lang="en-US" sz="3400" b="1" dirty="0">
                <a:solidFill>
                  <a:schemeClr val="tx1"/>
                </a:solidFill>
              </a:rPr>
              <a:t>Reproduced exactly, then tested on fresh data</a:t>
            </a:r>
            <a:endParaRPr lang="en-US" sz="3400" dirty="0"/>
          </a:p>
        </p:txBody>
      </p:sp>
      <p:sp>
        <p:nvSpPr>
          <p:cNvPr id="6" name="Reproduction card"/>
          <p:cNvSpPr/>
          <p:nvPr/>
        </p:nvSpPr>
        <p:spPr>
          <a:xfrm>
            <a:off x="548640" y="1783080"/>
            <a:ext cx="5029200" cy="2148840"/>
          </a:xfrm>
          <a:prstGeom prst="roundRect">
            <a:avLst>
              <a:gd name="adj" fmla="val 5106"/>
            </a:avLst>
          </a:prstGeom>
          <a:solidFill>
            <a:schemeClr val="bg2">
              <a:alpha val="88000"/>
            </a:schemeClr>
          </a:solidFill>
          <a:ln w="9525">
            <a:solidFill>
              <a:srgbClr val="FFFFFF">
                <a:alpha val="12000"/>
              </a:srgbClr>
            </a:solidFill>
            <a:prstDash val="solid"/>
          </a:ln>
        </p:spPr>
      </p:sp>
      <p:sp>
        <p:nvSpPr>
          <p:cNvPr id="7" name="Repro label"/>
          <p:cNvSpPr txBox="1"/>
          <p:nvPr/>
        </p:nvSpPr>
        <p:spPr>
          <a:xfrm>
            <a:off x="822960" y="1920240"/>
            <a:ext cx="2743200" cy="274320"/>
          </a:xfrm>
          <a:prstGeom prst="rect">
            <a:avLst/>
          </a:prstGeom>
          <a:noFill/>
          <a:ln/>
        </p:spPr>
        <p:txBody>
          <a:bodyPr wrap="square" lIns="0" tIns="0" rIns="0" bIns="0" rtlCol="0" anchor="t"/>
          <a:lstStyle/>
          <a:p>
            <a:pPr indent="0" marL="0">
              <a:buNone/>
            </a:pPr>
            <a:r>
              <a:rPr lang="en-US" sz="1200" b="1" spc="300" kern="0" dirty="0">
                <a:solidFill>
                  <a:schemeClr val="accent1"/>
                </a:solidFill>
              </a:rPr>
              <a:t>REPRODUCED</a:t>
            </a:r>
            <a:endParaRPr lang="en-US" sz="1200" dirty="0"/>
          </a:p>
        </p:txBody>
      </p:sp>
      <p:sp>
        <p:nvSpPr>
          <p:cNvPr id="8" name="Repro value"/>
          <p:cNvSpPr txBox="1"/>
          <p:nvPr/>
        </p:nvSpPr>
        <p:spPr>
          <a:xfrm>
            <a:off x="822960" y="2194560"/>
            <a:ext cx="4480560" cy="822960"/>
          </a:xfrm>
          <a:prstGeom prst="rect">
            <a:avLst/>
          </a:prstGeom>
          <a:noFill/>
          <a:ln/>
        </p:spPr>
        <p:txBody>
          <a:bodyPr wrap="square" lIns="0" tIns="0" rIns="0" bIns="0" rtlCol="0" anchor="ctr"/>
          <a:lstStyle/>
          <a:p>
            <a:pPr indent="0" marL="0">
              <a:buNone/>
            </a:pPr>
            <a:r>
              <a:rPr lang="en-US" sz="4800" b="1" dirty="0">
                <a:solidFill>
                  <a:schemeClr val="accent1"/>
                </a:solidFill>
                <a:latin typeface="+mj-lt" pitchFamily="34" charset="0"/>
                <a:ea typeface="+mj-lt" pitchFamily="34" charset="-122"/>
                <a:cs typeface="+mj-lt" pitchFamily="34" charset="-120"/>
              </a:rPr>
              <a:t>95.35%</a:t>
            </a:r>
            <a:endParaRPr lang="en-US" sz="4800" dirty="0"/>
          </a:p>
        </p:txBody>
      </p:sp>
      <p:sp>
        <p:nvSpPr>
          <p:cNvPr id="9" name="Repro detail"/>
          <p:cNvSpPr txBox="1"/>
          <p:nvPr/>
        </p:nvSpPr>
        <p:spPr>
          <a:xfrm>
            <a:off x="822960" y="3063240"/>
            <a:ext cx="4480560" cy="777240"/>
          </a:xfrm>
          <a:prstGeom prst="rect">
            <a:avLst/>
          </a:prstGeom>
          <a:noFill/>
          <a:ln/>
        </p:spPr>
        <p:txBody>
          <a:bodyPr wrap="square" lIns="0" tIns="0" rIns="0" bIns="0" rtlCol="0" anchor="t"/>
          <a:lstStyle/>
          <a:p>
            <a:pPr indent="0" marL="0">
              <a:buNone/>
            </a:pPr>
            <a:r>
              <a:rPr lang="en-US" sz="1300" dirty="0">
                <a:solidFill>
                  <a:schemeClr val="tx2"/>
                </a:solidFill>
              </a:rPr>
              <a:t>43-slice test split · macro F1 0.9653 · kappa 0.9783 · confusion matrix identical to the documentation</a:t>
            </a:r>
            <a:endParaRPr lang="en-US" sz="1300" dirty="0"/>
          </a:p>
        </p:txBody>
      </p:sp>
      <p:sp>
        <p:nvSpPr>
          <p:cNvPr id="10" name="Fresh cohorts card"/>
          <p:cNvSpPr/>
          <p:nvPr/>
        </p:nvSpPr>
        <p:spPr>
          <a:xfrm>
            <a:off x="548640" y="4114800"/>
            <a:ext cx="5029200" cy="2103120"/>
          </a:xfrm>
          <a:prstGeom prst="roundRect">
            <a:avLst>
              <a:gd name="adj" fmla="val 5217"/>
            </a:avLst>
          </a:prstGeom>
          <a:solidFill>
            <a:schemeClr val="bg2">
              <a:alpha val="88000"/>
            </a:schemeClr>
          </a:solidFill>
          <a:ln w="9525">
            <a:solidFill>
              <a:srgbClr val="FFFFFF">
                <a:alpha val="12000"/>
              </a:srgbClr>
            </a:solidFill>
            <a:prstDash val="solid"/>
          </a:ln>
        </p:spPr>
      </p:sp>
      <p:sp>
        <p:nvSpPr>
          <p:cNvPr id="11" name="Fresh label"/>
          <p:cNvSpPr txBox="1"/>
          <p:nvPr/>
        </p:nvSpPr>
        <p:spPr>
          <a:xfrm>
            <a:off x="822960" y="4251960"/>
            <a:ext cx="4114800" cy="274320"/>
          </a:xfrm>
          <a:prstGeom prst="rect">
            <a:avLst/>
          </a:prstGeom>
          <a:noFill/>
          <a:ln/>
        </p:spPr>
        <p:txBody>
          <a:bodyPr wrap="square" lIns="0" tIns="0" rIns="0" bIns="0" rtlCol="0" anchor="t"/>
          <a:lstStyle/>
          <a:p>
            <a:pPr indent="0" marL="0">
              <a:buNone/>
            </a:pPr>
            <a:r>
              <a:rPr lang="en-US" sz="1200" b="1" spc="300" kern="0" dirty="0">
                <a:solidFill>
                  <a:schemeClr val="accent1"/>
                </a:solidFill>
              </a:rPr>
              <a:t>FRESH, UNSEEN COHORTS</a:t>
            </a:r>
            <a:endParaRPr lang="en-US" sz="1200" dirty="0"/>
          </a:p>
        </p:txBody>
      </p:sp>
      <p:sp>
        <p:nvSpPr>
          <p:cNvPr id="12" name="Fresh value"/>
          <p:cNvSpPr txBox="1"/>
          <p:nvPr/>
        </p:nvSpPr>
        <p:spPr>
          <a:xfrm>
            <a:off x="822960" y="4526280"/>
            <a:ext cx="4480560" cy="822960"/>
          </a:xfrm>
          <a:prstGeom prst="rect">
            <a:avLst/>
          </a:prstGeom>
          <a:noFill/>
          <a:ln/>
        </p:spPr>
        <p:txBody>
          <a:bodyPr wrap="square" lIns="0" tIns="0" rIns="0" bIns="0" rtlCol="0" anchor="ctr"/>
          <a:lstStyle/>
          <a:p>
            <a:pPr indent="0" marL="0">
              <a:buNone/>
            </a:pPr>
            <a:r>
              <a:rPr lang="en-US" sz="4800" b="1" dirty="0">
                <a:solidFill>
                  <a:schemeClr val="accent1"/>
                </a:solidFill>
                <a:latin typeface="+mj-lt" pitchFamily="34" charset="0"/>
                <a:ea typeface="+mj-lt" pitchFamily="34" charset="-122"/>
                <a:cs typeface="+mj-lt" pitchFamily="34" charset="-120"/>
              </a:rPr>
              <a:t>97.8%</a:t>
            </a:r>
            <a:endParaRPr lang="en-US" sz="4800" dirty="0"/>
          </a:p>
        </p:txBody>
      </p:sp>
      <p:sp>
        <p:nvSpPr>
          <p:cNvPr id="13" name="Fresh detail"/>
          <p:cNvSpPr txBox="1"/>
          <p:nvPr/>
        </p:nvSpPr>
        <p:spPr>
          <a:xfrm>
            <a:off x="822960" y="5394960"/>
            <a:ext cx="4480560" cy="731520"/>
          </a:xfrm>
          <a:prstGeom prst="rect">
            <a:avLst/>
          </a:prstGeom>
          <a:noFill/>
          <a:ln/>
        </p:spPr>
        <p:txBody>
          <a:bodyPr wrap="square" lIns="0" tIns="0" rIns="0" bIns="0" rtlCol="0" anchor="t"/>
          <a:lstStyle/>
          <a:p>
            <a:pPr indent="0" marL="0">
              <a:buNone/>
            </a:pPr>
            <a:r>
              <a:rPr lang="en-US" sz="1300" dirty="0">
                <a:solidFill>
                  <a:schemeClr val="tx2"/>
                </a:solidFill>
              </a:rPr>
              <a:t>1,065 slices from 3 new seeds · macro F1 0.978 (95% CI 0.968–0.986)</a:t>
            </a:r>
            <a:endParaRPr lang="en-US" sz="1300" dirty="0"/>
          </a:p>
        </p:txBody>
      </p:sp>
      <p:sp>
        <p:nvSpPr>
          <p:cNvPr id="14" name="Accuracy chart card"/>
          <p:cNvSpPr/>
          <p:nvPr/>
        </p:nvSpPr>
        <p:spPr>
          <a:xfrm>
            <a:off x="5806440" y="1783080"/>
            <a:ext cx="5833872" cy="4434840"/>
          </a:xfrm>
          <a:prstGeom prst="roundRect">
            <a:avLst>
              <a:gd name="adj" fmla="val 2474"/>
            </a:avLst>
          </a:prstGeom>
          <a:solidFill>
            <a:schemeClr val="bg2">
              <a:alpha val="88000"/>
            </a:schemeClr>
          </a:solidFill>
          <a:ln w="9525">
            <a:solidFill>
              <a:srgbClr val="FFFFFF">
                <a:alpha val="12000"/>
              </a:srgbClr>
            </a:solidFill>
            <a:prstDash val="solid"/>
          </a:ln>
        </p:spPr>
      </p:sp>
      <p:graphicFrame>
        <p:nvGraphicFramePr>
          <p:cNvPr id="15" name="Chart 0" descr=""/>
          <p:cNvGraphicFramePr/>
          <p:nvPr/>
        </p:nvGraphicFramePr>
        <p:xfrm>
          <a:off x="5943600" y="1874520"/>
          <a:ext cx="5559552" cy="425196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064240" y="6419088"/>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E7F9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Presenter badge"/>
          <p:cNvSpPr/>
          <p:nvPr/>
        </p:nvSpPr>
        <p:spPr>
          <a:xfrm>
            <a:off x="548640" y="384048"/>
            <a:ext cx="365760" cy="365760"/>
          </a:xfrm>
          <a:prstGeom prst="ellipse">
            <a:avLst/>
          </a:prstGeom>
          <a:solidFill>
            <a:schemeClr val="accent1"/>
          </a:solidFill>
          <a:ln w="12700">
            <a:solidFill>
              <a:schemeClr val="accent1"/>
            </a:solidFill>
            <a:prstDash val="solid"/>
          </a:ln>
        </p:spPr>
      </p:sp>
      <p:sp>
        <p:nvSpPr>
          <p:cNvPr id="3" name="Presenter initials"/>
          <p:cNvSpPr txBox="1"/>
          <p:nvPr/>
        </p:nvSpPr>
        <p:spPr>
          <a:xfrm>
            <a:off x="548640" y="384048"/>
            <a:ext cx="365760" cy="365760"/>
          </a:xfrm>
          <a:prstGeom prst="rect">
            <a:avLst/>
          </a:prstGeom>
          <a:noFill/>
          <a:ln/>
        </p:spPr>
        <p:txBody>
          <a:bodyPr wrap="square" lIns="0" tIns="0" rIns="0" bIns="0" rtlCol="0" anchor="ctr"/>
          <a:lstStyle/>
          <a:p>
            <a:pPr algn="ctr" indent="0" marL="0">
              <a:buNone/>
            </a:pPr>
            <a:r>
              <a:rPr lang="en-US" sz="1100" b="1" dirty="0">
                <a:solidFill>
                  <a:schemeClr val="bg1"/>
                </a:solidFill>
              </a:rPr>
              <a:t>SJ</a:t>
            </a:r>
            <a:endParaRPr lang="en-US" sz="1100" dirty="0"/>
          </a:p>
        </p:txBody>
      </p:sp>
      <p:sp>
        <p:nvSpPr>
          <p:cNvPr id="4" name="Presenter line"/>
          <p:cNvSpPr txBox="1"/>
          <p:nvPr/>
        </p:nvSpPr>
        <p:spPr>
          <a:xfrm>
            <a:off x="1051560" y="384048"/>
            <a:ext cx="9601200" cy="365760"/>
          </a:xfrm>
          <a:prstGeom prst="rect">
            <a:avLst/>
          </a:prstGeom>
          <a:noFill/>
          <a:ln/>
        </p:spPr>
        <p:txBody>
          <a:bodyPr wrap="square" lIns="0" tIns="0" rIns="0" bIns="0" rtlCol="0" anchor="ctr"/>
          <a:lstStyle/>
          <a:p>
            <a:pPr indent="0" marL="0">
              <a:buNone/>
            </a:pPr>
            <a:r>
              <a:rPr lang="en-US" sz="1200" b="1" spc="200" kern="0" dirty="0">
                <a:solidFill>
                  <a:schemeClr val="accent1"/>
                </a:solidFill>
              </a:rPr>
              <a:t>SHREYA JAIN</a:t>
            </a:r>
            <a:pPr indent="0" marL="0">
              <a:buNone/>
            </a:pPr>
            <a:r>
              <a:rPr lang="en-US" sz="1200" dirty="0">
                <a:solidFill>
                  <a:schemeClr val="tx2"/>
                </a:solidFill>
              </a:rPr>
              <a:t>   ·   MRI results and benchmarks</a:t>
            </a:r>
            <a:endParaRPr lang="en-US" sz="1200" dirty="0"/>
          </a:p>
        </p:txBody>
      </p:sp>
      <p:sp>
        <p:nvSpPr>
          <p:cNvPr id="5" name="Text 0"/>
          <p:cNvSpPr/>
          <p:nvPr>
            <p:ph idx="100" type="title" hasCustomPrompt="1"/>
          </p:nvPr>
        </p:nvSpPr>
        <p:spPr>
          <a:xfrm>
            <a:off x="548640" y="868680"/>
            <a:ext cx="11091672" cy="731520"/>
          </a:xfrm>
          <a:prstGeom prst="rect">
            <a:avLst/>
          </a:prstGeom>
          <a:noFill/>
          <a:ln/>
        </p:spPr>
        <p:txBody>
          <a:bodyPr wrap="square" lIns="0" tIns="0" rIns="0" bIns="0" rtlCol="0" anchor="ctr"/>
          <a:lstStyle/>
          <a:p>
            <a:pPr algn="l" indent="0" marL="0">
              <a:buNone/>
            </a:pPr>
            <a:r>
              <a:rPr lang="en-US" sz="3400" b="1" dirty="0">
                <a:solidFill>
                  <a:schemeClr val="tx1"/>
                </a:solidFill>
              </a:rPr>
              <a:t>Every error is between neighbouring stages</a:t>
            </a:r>
            <a:endParaRPr lang="en-US" sz="3400" dirty="0"/>
          </a:p>
        </p:txBody>
      </p:sp>
      <p:sp>
        <p:nvSpPr>
          <p:cNvPr id="6" name="Matrix card"/>
          <p:cNvSpPr/>
          <p:nvPr/>
        </p:nvSpPr>
        <p:spPr>
          <a:xfrm>
            <a:off x="548640" y="1783080"/>
            <a:ext cx="5943600" cy="4434840"/>
          </a:xfrm>
          <a:prstGeom prst="roundRect">
            <a:avLst>
              <a:gd name="adj" fmla="val 2474"/>
            </a:avLst>
          </a:prstGeom>
          <a:solidFill>
            <a:schemeClr val="bg2">
              <a:alpha val="88000"/>
            </a:schemeClr>
          </a:solidFill>
          <a:ln w="9525">
            <a:solidFill>
              <a:srgbClr val="FFFFFF">
                <a:alpha val="12000"/>
              </a:srgbClr>
            </a:solidFill>
            <a:prstDash val="solid"/>
          </a:ln>
        </p:spPr>
      </p:sp>
      <p:sp>
        <p:nvSpPr>
          <p:cNvPr id="7" name="Matrix heading"/>
          <p:cNvSpPr txBox="1"/>
          <p:nvPr/>
        </p:nvSpPr>
        <p:spPr>
          <a:xfrm>
            <a:off x="822960" y="1920240"/>
            <a:ext cx="5394960" cy="274320"/>
          </a:xfrm>
          <a:prstGeom prst="rect">
            <a:avLst/>
          </a:prstGeom>
          <a:noFill/>
          <a:ln/>
        </p:spPr>
        <p:txBody>
          <a:bodyPr wrap="square" lIns="0" tIns="0" rIns="0" bIns="0" rtlCol="0" anchor="t"/>
          <a:lstStyle/>
          <a:p>
            <a:pPr indent="0" marL="0">
              <a:buNone/>
            </a:pPr>
            <a:r>
              <a:rPr lang="en-US" sz="1400" b="1" dirty="0">
                <a:solidFill>
                  <a:schemeClr val="tx1"/>
                </a:solidFill>
              </a:rPr>
              <a:t>Pooled confusion matrix · rows are the true stage</a:t>
            </a:r>
            <a:endParaRPr lang="en-US" sz="1400" dirty="0"/>
          </a:p>
        </p:txBody>
      </p:sp>
      <p:graphicFrame>
        <p:nvGraphicFramePr>
          <p:cNvPr id="10" name="Confusion matrix"/>
          <p:cNvGraphicFramePr>
            <a:graphicFrameLocks noGrp="1"/>
          </p:cNvGraphicFramePr>
          <p:nvPr>
            <p:extLst>
              <p:ext uri="{D42A27DB-BD31-4B8C-83A1-F6EECF244321}">
                <p14:modId xmlns:p14="http://schemas.microsoft.com/office/powerpoint/2010/main" val="1579011935"/>
              </p:ext>
            </p:extLst>
          </p:nvPr>
        </p:nvGraphicFramePr>
        <p:xfrm>
          <a:off x="822960" y="2377440"/>
          <a:ext cx="5394960" cy="914400"/>
        </p:xfrm>
        <a:graphic>
          <a:graphicData uri="http://schemas.openxmlformats.org/drawingml/2006/table">
            <a:tbl>
              <a:tblPr/>
              <a:tblGrid>
                <a:gridCol w="1371600"/>
                <a:gridCol w="1005840"/>
                <a:gridCol w="1005840"/>
                <a:gridCol w="1005840"/>
                <a:gridCol w="1005840"/>
              </a:tblGrid>
              <a:tr h="566928">
                <a:tc>
                  <a:txBody>
                    <a:bodyPr/>
                    <a:lstStyle/>
                    <a:p>
                      <a:pPr algn="ctr" indent="0" marL="0">
                        <a:buNone/>
                      </a:pPr>
                      <a:r>
                        <a:rPr lang="en-US" sz="1200" dirty="0">
                          <a:solidFill>
                            <a:srgbClr val="B3A9B4"/>
                          </a:solidFill>
                        </a:rPr>
                        <a:t>True \ Pred</a:t>
                      </a:r>
                      <a:endParaRPr lang="en-US" sz="1200" dirty="0"/>
                    </a:p>
                  </a:txBody>
                  <a:tcPr marL="91440" marR="91440" marT="45720" marB="45720" anchor="ctr">
                    <a:lnL w="25400" cap="flat" cmpd="sng" algn="ctr">
                      <a:solidFill>
                        <a:srgbClr val="0E0A0F"/>
                      </a:solidFill>
                      <a:prstDash val="solid"/>
                      <a:round/>
                      <a:headEnd type="none" w="med" len="med"/>
                      <a:tailEnd type="none" w="med" len="med"/>
                    </a:lnL>
                    <a:lnR w="25400" cap="flat" cmpd="sng" algn="ctr">
                      <a:solidFill>
                        <a:srgbClr val="0E0A0F"/>
                      </a:solidFill>
                      <a:prstDash val="solid"/>
                      <a:round/>
                      <a:headEnd type="none" w="med" len="med"/>
                      <a:tailEnd type="none" w="med" len="med"/>
                    </a:lnR>
                    <a:lnT w="25400" cap="flat" cmpd="sng" algn="ctr">
                      <a:solidFill>
                        <a:srgbClr val="0E0A0F"/>
                      </a:solidFill>
                      <a:prstDash val="solid"/>
                      <a:round/>
                      <a:headEnd type="none" w="med" len="med"/>
                      <a:tailEnd type="none" w="med" len="med"/>
                    </a:lnT>
                    <a:lnB w="25400" cap="flat" cmpd="sng" algn="ctr">
                      <a:solidFill>
                        <a:srgbClr val="0E0A0F"/>
                      </a:solidFill>
                      <a:prstDash val="solid"/>
                      <a:round/>
                      <a:headEnd type="none" w="med" len="med"/>
                      <a:tailEnd type="none" w="med" len="med"/>
                    </a:lnB>
                  </a:tcPr>
                </a:tc>
                <a:tc>
                  <a:txBody>
                    <a:bodyPr/>
                    <a:lstStyle/>
                    <a:p>
                      <a:pPr algn="ctr" indent="0" marL="0">
                        <a:buNone/>
                      </a:pPr>
                      <a:r>
                        <a:rPr lang="en-US" sz="1500" b="1" dirty="0">
                          <a:solidFill>
                            <a:srgbClr val="34D399"/>
                          </a:solidFill>
                        </a:rPr>
                        <a:t>NC</a:t>
                      </a:r>
                      <a:endParaRPr lang="en-US" sz="1500" dirty="0"/>
                    </a:p>
                  </a:txBody>
                  <a:tcPr marL="91440" marR="91440" marT="45720" marB="45720" anchor="ctr">
                    <a:lnL w="25400" cap="flat" cmpd="sng" algn="ctr">
                      <a:solidFill>
                        <a:srgbClr val="0E0A0F"/>
                      </a:solidFill>
                      <a:prstDash val="solid"/>
                      <a:round/>
                      <a:headEnd type="none" w="med" len="med"/>
                      <a:tailEnd type="none" w="med" len="med"/>
                    </a:lnL>
                    <a:lnR w="25400" cap="flat" cmpd="sng" algn="ctr">
                      <a:solidFill>
                        <a:srgbClr val="0E0A0F"/>
                      </a:solidFill>
                      <a:prstDash val="solid"/>
                      <a:round/>
                      <a:headEnd type="none" w="med" len="med"/>
                      <a:tailEnd type="none" w="med" len="med"/>
                    </a:lnR>
                    <a:lnT w="25400" cap="flat" cmpd="sng" algn="ctr">
                      <a:solidFill>
                        <a:srgbClr val="0E0A0F"/>
                      </a:solidFill>
                      <a:prstDash val="solid"/>
                      <a:round/>
                      <a:headEnd type="none" w="med" len="med"/>
                      <a:tailEnd type="none" w="med" len="med"/>
                    </a:lnT>
                    <a:lnB w="25400" cap="flat" cmpd="sng" algn="ctr">
                      <a:solidFill>
                        <a:srgbClr val="0E0A0F"/>
                      </a:solidFill>
                      <a:prstDash val="solid"/>
                      <a:round/>
                      <a:headEnd type="none" w="med" len="med"/>
                      <a:tailEnd type="none" w="med" len="med"/>
                    </a:lnB>
                  </a:tcPr>
                </a:tc>
                <a:tc>
                  <a:txBody>
                    <a:bodyPr/>
                    <a:lstStyle/>
                    <a:p>
                      <a:pPr algn="ctr" indent="0" marL="0">
                        <a:buNone/>
                      </a:pPr>
                      <a:r>
                        <a:rPr lang="en-US" sz="1500" b="1" dirty="0">
                          <a:solidFill>
                            <a:srgbClr val="FBBF24"/>
                          </a:solidFill>
                        </a:rPr>
                        <a:t>EMCI</a:t>
                      </a:r>
                      <a:endParaRPr lang="en-US" sz="1500" dirty="0"/>
                    </a:p>
                  </a:txBody>
                  <a:tcPr marL="91440" marR="91440" marT="45720" marB="45720" anchor="ctr">
                    <a:lnL w="25400" cap="flat" cmpd="sng" algn="ctr">
                      <a:solidFill>
                        <a:srgbClr val="0E0A0F"/>
                      </a:solidFill>
                      <a:prstDash val="solid"/>
                      <a:round/>
                      <a:headEnd type="none" w="med" len="med"/>
                      <a:tailEnd type="none" w="med" len="med"/>
                    </a:lnL>
                    <a:lnR w="25400" cap="flat" cmpd="sng" algn="ctr">
                      <a:solidFill>
                        <a:srgbClr val="0E0A0F"/>
                      </a:solidFill>
                      <a:prstDash val="solid"/>
                      <a:round/>
                      <a:headEnd type="none" w="med" len="med"/>
                      <a:tailEnd type="none" w="med" len="med"/>
                    </a:lnR>
                    <a:lnT w="25400" cap="flat" cmpd="sng" algn="ctr">
                      <a:solidFill>
                        <a:srgbClr val="0E0A0F"/>
                      </a:solidFill>
                      <a:prstDash val="solid"/>
                      <a:round/>
                      <a:headEnd type="none" w="med" len="med"/>
                      <a:tailEnd type="none" w="med" len="med"/>
                    </a:lnT>
                    <a:lnB w="25400" cap="flat" cmpd="sng" algn="ctr">
                      <a:solidFill>
                        <a:srgbClr val="0E0A0F"/>
                      </a:solidFill>
                      <a:prstDash val="solid"/>
                      <a:round/>
                      <a:headEnd type="none" w="med" len="med"/>
                      <a:tailEnd type="none" w="med" len="med"/>
                    </a:lnB>
                  </a:tcPr>
                </a:tc>
                <a:tc>
                  <a:txBody>
                    <a:bodyPr/>
                    <a:lstStyle/>
                    <a:p>
                      <a:pPr algn="ctr" indent="0" marL="0">
                        <a:buNone/>
                      </a:pPr>
                      <a:r>
                        <a:rPr lang="en-US" sz="1500" b="1" dirty="0">
                          <a:solidFill>
                            <a:srgbClr val="FB923C"/>
                          </a:solidFill>
                        </a:rPr>
                        <a:t>LMCI</a:t>
                      </a:r>
                      <a:endParaRPr lang="en-US" sz="1500" dirty="0"/>
                    </a:p>
                  </a:txBody>
                  <a:tcPr marL="91440" marR="91440" marT="45720" marB="45720" anchor="ctr">
                    <a:lnL w="25400" cap="flat" cmpd="sng" algn="ctr">
                      <a:solidFill>
                        <a:srgbClr val="0E0A0F"/>
                      </a:solidFill>
                      <a:prstDash val="solid"/>
                      <a:round/>
                      <a:headEnd type="none" w="med" len="med"/>
                      <a:tailEnd type="none" w="med" len="med"/>
                    </a:lnL>
                    <a:lnR w="25400" cap="flat" cmpd="sng" algn="ctr">
                      <a:solidFill>
                        <a:srgbClr val="0E0A0F"/>
                      </a:solidFill>
                      <a:prstDash val="solid"/>
                      <a:round/>
                      <a:headEnd type="none" w="med" len="med"/>
                      <a:tailEnd type="none" w="med" len="med"/>
                    </a:lnR>
                    <a:lnT w="25400" cap="flat" cmpd="sng" algn="ctr">
                      <a:solidFill>
                        <a:srgbClr val="0E0A0F"/>
                      </a:solidFill>
                      <a:prstDash val="solid"/>
                      <a:round/>
                      <a:headEnd type="none" w="med" len="med"/>
                      <a:tailEnd type="none" w="med" len="med"/>
                    </a:lnT>
                    <a:lnB w="25400" cap="flat" cmpd="sng" algn="ctr">
                      <a:solidFill>
                        <a:srgbClr val="0E0A0F"/>
                      </a:solidFill>
                      <a:prstDash val="solid"/>
                      <a:round/>
                      <a:headEnd type="none" w="med" len="med"/>
                      <a:tailEnd type="none" w="med" len="med"/>
                    </a:lnB>
                  </a:tcPr>
                </a:tc>
                <a:tc>
                  <a:txBody>
                    <a:bodyPr/>
                    <a:lstStyle/>
                    <a:p>
                      <a:pPr algn="ctr" indent="0" marL="0">
                        <a:buNone/>
                      </a:pPr>
                      <a:r>
                        <a:rPr lang="en-US" sz="1500" b="1" dirty="0">
                          <a:solidFill>
                            <a:srgbClr val="F43F5E"/>
                          </a:solidFill>
                        </a:rPr>
                        <a:t>AD</a:t>
                      </a:r>
                      <a:endParaRPr lang="en-US" sz="1500" dirty="0"/>
                    </a:p>
                  </a:txBody>
                  <a:tcPr marL="91440" marR="91440" marT="45720" marB="45720" anchor="ctr">
                    <a:lnL w="25400" cap="flat" cmpd="sng" algn="ctr">
                      <a:solidFill>
                        <a:srgbClr val="0E0A0F"/>
                      </a:solidFill>
                      <a:prstDash val="solid"/>
                      <a:round/>
                      <a:headEnd type="none" w="med" len="med"/>
                      <a:tailEnd type="none" w="med" len="med"/>
                    </a:lnL>
                    <a:lnR w="25400" cap="flat" cmpd="sng" algn="ctr">
                      <a:solidFill>
                        <a:srgbClr val="0E0A0F"/>
                      </a:solidFill>
                      <a:prstDash val="solid"/>
                      <a:round/>
                      <a:headEnd type="none" w="med" len="med"/>
                      <a:tailEnd type="none" w="med" len="med"/>
                    </a:lnR>
                    <a:lnT w="25400" cap="flat" cmpd="sng" algn="ctr">
                      <a:solidFill>
                        <a:srgbClr val="0E0A0F"/>
                      </a:solidFill>
                      <a:prstDash val="solid"/>
                      <a:round/>
                      <a:headEnd type="none" w="med" len="med"/>
                      <a:tailEnd type="none" w="med" len="med"/>
                    </a:lnT>
                    <a:lnB w="25400" cap="flat" cmpd="sng" algn="ctr">
                      <a:solidFill>
                        <a:srgbClr val="0E0A0F"/>
                      </a:solidFill>
                      <a:prstDash val="solid"/>
                      <a:round/>
                      <a:headEnd type="none" w="med" len="med"/>
                      <a:tailEnd type="none" w="med" len="med"/>
                    </a:lnB>
                  </a:tcPr>
                </a:tc>
              </a:tr>
              <a:tr h="566928">
                <a:tc>
                  <a:txBody>
                    <a:bodyPr/>
                    <a:lstStyle/>
                    <a:p>
                      <a:pPr algn="ctr" indent="0" marL="0">
                        <a:buNone/>
                      </a:pPr>
                      <a:r>
                        <a:rPr lang="en-US" sz="1500" b="1" dirty="0">
                          <a:solidFill>
                            <a:srgbClr val="34D399"/>
                          </a:solidFill>
                        </a:rPr>
                        <a:t>NC</a:t>
                      </a:r>
                      <a:endParaRPr lang="en-US" sz="1500" dirty="0"/>
                    </a:p>
                  </a:txBody>
                  <a:tcPr marL="91440" marR="91440" marT="45720" marB="45720" anchor="ctr">
                    <a:lnL w="25400" cap="flat" cmpd="sng" algn="ctr">
                      <a:solidFill>
                        <a:srgbClr val="0E0A0F"/>
                      </a:solidFill>
                      <a:prstDash val="solid"/>
                      <a:round/>
                      <a:headEnd type="none" w="med" len="med"/>
                      <a:tailEnd type="none" w="med" len="med"/>
                    </a:lnL>
                    <a:lnR w="25400" cap="flat" cmpd="sng" algn="ctr">
                      <a:solidFill>
                        <a:srgbClr val="0E0A0F"/>
                      </a:solidFill>
                      <a:prstDash val="solid"/>
                      <a:round/>
                      <a:headEnd type="none" w="med" len="med"/>
                      <a:tailEnd type="none" w="med" len="med"/>
                    </a:lnR>
                    <a:lnT w="25400" cap="flat" cmpd="sng" algn="ctr">
                      <a:solidFill>
                        <a:srgbClr val="0E0A0F"/>
                      </a:solidFill>
                      <a:prstDash val="solid"/>
                      <a:round/>
                      <a:headEnd type="none" w="med" len="med"/>
                      <a:tailEnd type="none" w="med" len="med"/>
                    </a:lnT>
                    <a:lnB w="25400" cap="flat" cmpd="sng" algn="ctr">
                      <a:solidFill>
                        <a:srgbClr val="0E0A0F"/>
                      </a:solidFill>
                      <a:prstDash val="solid"/>
                      <a:round/>
                      <a:headEnd type="none" w="med" len="med"/>
                      <a:tailEnd type="none" w="med" len="med"/>
                    </a:lnB>
                  </a:tcPr>
                </a:tc>
                <a:tc>
                  <a:txBody>
                    <a:bodyPr/>
                    <a:lstStyle/>
                    <a:p>
                      <a:pPr algn="ctr" indent="0" marL="0">
                        <a:buNone/>
                      </a:pPr>
                      <a:r>
                        <a:rPr lang="en-US" sz="1800" dirty="0">
                          <a:solidFill>
                            <a:srgbClr val="F4F1F4"/>
                          </a:solidFill>
                        </a:rPr>
                        <a:t>447</a:t>
                      </a:r>
                      <a:endParaRPr lang="en-US" sz="1800" dirty="0"/>
                    </a:p>
                  </a:txBody>
                  <a:tcPr marL="91440" marR="91440" marT="45720" marB="45720" anchor="ctr">
                    <a:lnL w="25400" cap="flat" cmpd="sng" algn="ctr">
                      <a:solidFill>
                        <a:srgbClr val="0E0A0F"/>
                      </a:solidFill>
                      <a:prstDash val="solid"/>
                      <a:round/>
                      <a:headEnd type="none" w="med" len="med"/>
                      <a:tailEnd type="none" w="med" len="med"/>
                    </a:lnL>
                    <a:lnR w="25400" cap="flat" cmpd="sng" algn="ctr">
                      <a:solidFill>
                        <a:srgbClr val="0E0A0F"/>
                      </a:solidFill>
                      <a:prstDash val="solid"/>
                      <a:round/>
                      <a:headEnd type="none" w="med" len="med"/>
                      <a:tailEnd type="none" w="med" len="med"/>
                    </a:lnR>
                    <a:lnT w="25400" cap="flat" cmpd="sng" algn="ctr">
                      <a:solidFill>
                        <a:srgbClr val="0E0A0F"/>
                      </a:solidFill>
                      <a:prstDash val="solid"/>
                      <a:round/>
                      <a:headEnd type="none" w="med" len="med"/>
                      <a:tailEnd type="none" w="med" len="med"/>
                    </a:lnT>
                    <a:lnB w="25400" cap="flat" cmpd="sng" algn="ctr">
                      <a:solidFill>
                        <a:srgbClr val="0E0A0F"/>
                      </a:solidFill>
                      <a:prstDash val="solid"/>
                      <a:round/>
                      <a:headEnd type="none" w="med" len="med"/>
                      <a:tailEnd type="none" w="med" len="med"/>
                    </a:lnB>
                    <a:solidFill>
                      <a:srgbClr val="6F4E80"/>
                    </a:solidFill>
                  </a:tcPr>
                </a:tc>
                <a:tc>
                  <a:txBody>
                    <a:bodyPr/>
                    <a:lstStyle/>
                    <a:p>
                      <a:pPr algn="ctr" indent="0" marL="0">
                        <a:buNone/>
                      </a:pPr>
                      <a:r>
                        <a:rPr lang="en-US" sz="1800" b="1" dirty="0">
                          <a:solidFill>
                            <a:srgbClr val="F4F1F4"/>
                          </a:solidFill>
                        </a:rPr>
                        <a:t>3</a:t>
                      </a:r>
                      <a:endParaRPr lang="en-US" sz="1800" dirty="0"/>
                    </a:p>
                  </a:txBody>
                  <a:tcPr marL="91440" marR="91440" marT="45720" marB="45720" anchor="ctr">
                    <a:lnL w="25400" cap="flat" cmpd="sng" algn="ctr">
                      <a:solidFill>
                        <a:srgbClr val="0E0A0F"/>
                      </a:solidFill>
                      <a:prstDash val="solid"/>
                      <a:round/>
                      <a:headEnd type="none" w="med" len="med"/>
                      <a:tailEnd type="none" w="med" len="med"/>
                    </a:lnL>
                    <a:lnR w="25400" cap="flat" cmpd="sng" algn="ctr">
                      <a:solidFill>
                        <a:srgbClr val="0E0A0F"/>
                      </a:solidFill>
                      <a:prstDash val="solid"/>
                      <a:round/>
                      <a:headEnd type="none" w="med" len="med"/>
                      <a:tailEnd type="none" w="med" len="med"/>
                    </a:lnR>
                    <a:lnT w="25400" cap="flat" cmpd="sng" algn="ctr">
                      <a:solidFill>
                        <a:srgbClr val="0E0A0F"/>
                      </a:solidFill>
                      <a:prstDash val="solid"/>
                      <a:round/>
                      <a:headEnd type="none" w="med" len="med"/>
                      <a:tailEnd type="none" w="med" len="med"/>
                    </a:lnT>
                    <a:lnB w="25400" cap="flat" cmpd="sng" algn="ctr">
                      <a:solidFill>
                        <a:srgbClr val="0E0A0F"/>
                      </a:solidFill>
                      <a:prstDash val="solid"/>
                      <a:round/>
                      <a:headEnd type="none" w="med" len="med"/>
                      <a:tailEnd type="none" w="med" len="med"/>
                    </a:lnB>
                    <a:solidFill>
                      <a:srgbClr val="8A3A52"/>
                    </a:solidFill>
                  </a:tcPr>
                </a:tc>
                <a:tc>
                  <a:txBody>
                    <a:bodyPr/>
                    <a:lstStyle/>
                    <a:p>
                      <a:pPr algn="ctr" indent="0" marL="0">
                        <a:buNone/>
                      </a:pPr>
                      <a:r>
                        <a:rPr lang="en-US" sz="1800" dirty="0">
                          <a:solidFill>
                            <a:srgbClr val="F4F1F4"/>
                          </a:solidFill>
                        </a:rPr>
                        <a:t>0</a:t>
                      </a:r>
                      <a:endParaRPr lang="en-US" sz="1800" dirty="0"/>
                    </a:p>
                  </a:txBody>
                  <a:tcPr marL="91440" marR="91440" marT="45720" marB="45720" anchor="ctr">
                    <a:lnL w="25400" cap="flat" cmpd="sng" algn="ctr">
                      <a:solidFill>
                        <a:srgbClr val="0E0A0F"/>
                      </a:solidFill>
                      <a:prstDash val="solid"/>
                      <a:round/>
                      <a:headEnd type="none" w="med" len="med"/>
                      <a:tailEnd type="none" w="med" len="med"/>
                    </a:lnL>
                    <a:lnR w="25400" cap="flat" cmpd="sng" algn="ctr">
                      <a:solidFill>
                        <a:srgbClr val="0E0A0F"/>
                      </a:solidFill>
                      <a:prstDash val="solid"/>
                      <a:round/>
                      <a:headEnd type="none" w="med" len="med"/>
                      <a:tailEnd type="none" w="med" len="med"/>
                    </a:lnR>
                    <a:lnT w="25400" cap="flat" cmpd="sng" algn="ctr">
                      <a:solidFill>
                        <a:srgbClr val="0E0A0F"/>
                      </a:solidFill>
                      <a:prstDash val="solid"/>
                      <a:round/>
                      <a:headEnd type="none" w="med" len="med"/>
                      <a:tailEnd type="none" w="med" len="med"/>
                    </a:lnT>
                    <a:lnB w="25400" cap="flat" cmpd="sng" algn="ctr">
                      <a:solidFill>
                        <a:srgbClr val="0E0A0F"/>
                      </a:solidFill>
                      <a:prstDash val="solid"/>
                      <a:round/>
                      <a:headEnd type="none" w="med" len="med"/>
                      <a:tailEnd type="none" w="med" len="med"/>
                    </a:lnB>
                    <a:solidFill>
                      <a:srgbClr val="241B26"/>
                    </a:solidFill>
                  </a:tcPr>
                </a:tc>
                <a:tc>
                  <a:txBody>
                    <a:bodyPr/>
                    <a:lstStyle/>
                    <a:p>
                      <a:pPr algn="ctr" indent="0" marL="0">
                        <a:buNone/>
                      </a:pPr>
                      <a:r>
                        <a:rPr lang="en-US" sz="1800" dirty="0">
                          <a:solidFill>
                            <a:srgbClr val="F4F1F4"/>
                          </a:solidFill>
                        </a:rPr>
                        <a:t>0</a:t>
                      </a:r>
                      <a:endParaRPr lang="en-US" sz="1800" dirty="0"/>
                    </a:p>
                  </a:txBody>
                  <a:tcPr marL="91440" marR="91440" marT="45720" marB="45720" anchor="ctr">
                    <a:lnL w="25400" cap="flat" cmpd="sng" algn="ctr">
                      <a:solidFill>
                        <a:srgbClr val="0E0A0F"/>
                      </a:solidFill>
                      <a:prstDash val="solid"/>
                      <a:round/>
                      <a:headEnd type="none" w="med" len="med"/>
                      <a:tailEnd type="none" w="med" len="med"/>
                    </a:lnL>
                    <a:lnR w="25400" cap="flat" cmpd="sng" algn="ctr">
                      <a:solidFill>
                        <a:srgbClr val="0E0A0F"/>
                      </a:solidFill>
                      <a:prstDash val="solid"/>
                      <a:round/>
                      <a:headEnd type="none" w="med" len="med"/>
                      <a:tailEnd type="none" w="med" len="med"/>
                    </a:lnR>
                    <a:lnT w="25400" cap="flat" cmpd="sng" algn="ctr">
                      <a:solidFill>
                        <a:srgbClr val="0E0A0F"/>
                      </a:solidFill>
                      <a:prstDash val="solid"/>
                      <a:round/>
                      <a:headEnd type="none" w="med" len="med"/>
                      <a:tailEnd type="none" w="med" len="med"/>
                    </a:lnT>
                    <a:lnB w="25400" cap="flat" cmpd="sng" algn="ctr">
                      <a:solidFill>
                        <a:srgbClr val="0E0A0F"/>
                      </a:solidFill>
                      <a:prstDash val="solid"/>
                      <a:round/>
                      <a:headEnd type="none" w="med" len="med"/>
                      <a:tailEnd type="none" w="med" len="med"/>
                    </a:lnB>
                    <a:solidFill>
                      <a:srgbClr val="241B26"/>
                    </a:solidFill>
                  </a:tcPr>
                </a:tc>
              </a:tr>
              <a:tr h="566928">
                <a:tc>
                  <a:txBody>
                    <a:bodyPr/>
                    <a:lstStyle/>
                    <a:p>
                      <a:pPr algn="ctr" indent="0" marL="0">
                        <a:buNone/>
                      </a:pPr>
                      <a:r>
                        <a:rPr lang="en-US" sz="1500" b="1" dirty="0">
                          <a:solidFill>
                            <a:srgbClr val="FBBF24"/>
                          </a:solidFill>
                        </a:rPr>
                        <a:t>EMCI</a:t>
                      </a:r>
                      <a:endParaRPr lang="en-US" sz="1500" dirty="0"/>
                    </a:p>
                  </a:txBody>
                  <a:tcPr marL="91440" marR="91440" marT="45720" marB="45720" anchor="ctr">
                    <a:lnL w="25400" cap="flat" cmpd="sng" algn="ctr">
                      <a:solidFill>
                        <a:srgbClr val="0E0A0F"/>
                      </a:solidFill>
                      <a:prstDash val="solid"/>
                      <a:round/>
                      <a:headEnd type="none" w="med" len="med"/>
                      <a:tailEnd type="none" w="med" len="med"/>
                    </a:lnL>
                    <a:lnR w="25400" cap="flat" cmpd="sng" algn="ctr">
                      <a:solidFill>
                        <a:srgbClr val="0E0A0F"/>
                      </a:solidFill>
                      <a:prstDash val="solid"/>
                      <a:round/>
                      <a:headEnd type="none" w="med" len="med"/>
                      <a:tailEnd type="none" w="med" len="med"/>
                    </a:lnR>
                    <a:lnT w="25400" cap="flat" cmpd="sng" algn="ctr">
                      <a:solidFill>
                        <a:srgbClr val="0E0A0F"/>
                      </a:solidFill>
                      <a:prstDash val="solid"/>
                      <a:round/>
                      <a:headEnd type="none" w="med" len="med"/>
                      <a:tailEnd type="none" w="med" len="med"/>
                    </a:lnT>
                    <a:lnB w="25400" cap="flat" cmpd="sng" algn="ctr">
                      <a:solidFill>
                        <a:srgbClr val="0E0A0F"/>
                      </a:solidFill>
                      <a:prstDash val="solid"/>
                      <a:round/>
                      <a:headEnd type="none" w="med" len="med"/>
                      <a:tailEnd type="none" w="med" len="med"/>
                    </a:lnB>
                  </a:tcPr>
                </a:tc>
                <a:tc>
                  <a:txBody>
                    <a:bodyPr/>
                    <a:lstStyle/>
                    <a:p>
                      <a:pPr algn="ctr" indent="0" marL="0">
                        <a:buNone/>
                      </a:pPr>
                      <a:r>
                        <a:rPr lang="en-US" sz="1800" b="1" dirty="0">
                          <a:solidFill>
                            <a:srgbClr val="F4F1F4"/>
                          </a:solidFill>
                        </a:rPr>
                        <a:t>5</a:t>
                      </a:r>
                      <a:endParaRPr lang="en-US" sz="1800" dirty="0"/>
                    </a:p>
                  </a:txBody>
                  <a:tcPr marL="91440" marR="91440" marT="45720" marB="45720" anchor="ctr">
                    <a:lnL w="25400" cap="flat" cmpd="sng" algn="ctr">
                      <a:solidFill>
                        <a:srgbClr val="0E0A0F"/>
                      </a:solidFill>
                      <a:prstDash val="solid"/>
                      <a:round/>
                      <a:headEnd type="none" w="med" len="med"/>
                      <a:tailEnd type="none" w="med" len="med"/>
                    </a:lnL>
                    <a:lnR w="25400" cap="flat" cmpd="sng" algn="ctr">
                      <a:solidFill>
                        <a:srgbClr val="0E0A0F"/>
                      </a:solidFill>
                      <a:prstDash val="solid"/>
                      <a:round/>
                      <a:headEnd type="none" w="med" len="med"/>
                      <a:tailEnd type="none" w="med" len="med"/>
                    </a:lnR>
                    <a:lnT w="25400" cap="flat" cmpd="sng" algn="ctr">
                      <a:solidFill>
                        <a:srgbClr val="0E0A0F"/>
                      </a:solidFill>
                      <a:prstDash val="solid"/>
                      <a:round/>
                      <a:headEnd type="none" w="med" len="med"/>
                      <a:tailEnd type="none" w="med" len="med"/>
                    </a:lnT>
                    <a:lnB w="25400" cap="flat" cmpd="sng" algn="ctr">
                      <a:solidFill>
                        <a:srgbClr val="0E0A0F"/>
                      </a:solidFill>
                      <a:prstDash val="solid"/>
                      <a:round/>
                      <a:headEnd type="none" w="med" len="med"/>
                      <a:tailEnd type="none" w="med" len="med"/>
                    </a:lnB>
                    <a:solidFill>
                      <a:srgbClr val="8A3A52"/>
                    </a:solidFill>
                  </a:tcPr>
                </a:tc>
                <a:tc>
                  <a:txBody>
                    <a:bodyPr/>
                    <a:lstStyle/>
                    <a:p>
                      <a:pPr algn="ctr" indent="0" marL="0">
                        <a:buNone/>
                      </a:pPr>
                      <a:r>
                        <a:rPr lang="en-US" sz="1800" dirty="0">
                          <a:solidFill>
                            <a:srgbClr val="F4F1F4"/>
                          </a:solidFill>
                        </a:rPr>
                        <a:t>257</a:t>
                      </a:r>
                      <a:endParaRPr lang="en-US" sz="1800" dirty="0"/>
                    </a:p>
                  </a:txBody>
                  <a:tcPr marL="91440" marR="91440" marT="45720" marB="45720" anchor="ctr">
                    <a:lnL w="25400" cap="flat" cmpd="sng" algn="ctr">
                      <a:solidFill>
                        <a:srgbClr val="0E0A0F"/>
                      </a:solidFill>
                      <a:prstDash val="solid"/>
                      <a:round/>
                      <a:headEnd type="none" w="med" len="med"/>
                      <a:tailEnd type="none" w="med" len="med"/>
                    </a:lnL>
                    <a:lnR w="25400" cap="flat" cmpd="sng" algn="ctr">
                      <a:solidFill>
                        <a:srgbClr val="0E0A0F"/>
                      </a:solidFill>
                      <a:prstDash val="solid"/>
                      <a:round/>
                      <a:headEnd type="none" w="med" len="med"/>
                      <a:tailEnd type="none" w="med" len="med"/>
                    </a:lnR>
                    <a:lnT w="25400" cap="flat" cmpd="sng" algn="ctr">
                      <a:solidFill>
                        <a:srgbClr val="0E0A0F"/>
                      </a:solidFill>
                      <a:prstDash val="solid"/>
                      <a:round/>
                      <a:headEnd type="none" w="med" len="med"/>
                      <a:tailEnd type="none" w="med" len="med"/>
                    </a:lnT>
                    <a:lnB w="25400" cap="flat" cmpd="sng" algn="ctr">
                      <a:solidFill>
                        <a:srgbClr val="0E0A0F"/>
                      </a:solidFill>
                      <a:prstDash val="solid"/>
                      <a:round/>
                      <a:headEnd type="none" w="med" len="med"/>
                      <a:tailEnd type="none" w="med" len="med"/>
                    </a:lnB>
                    <a:solidFill>
                      <a:srgbClr val="6F4E80"/>
                    </a:solidFill>
                  </a:tcPr>
                </a:tc>
                <a:tc>
                  <a:txBody>
                    <a:bodyPr/>
                    <a:lstStyle/>
                    <a:p>
                      <a:pPr algn="ctr" indent="0" marL="0">
                        <a:buNone/>
                      </a:pPr>
                      <a:r>
                        <a:rPr lang="en-US" sz="1800" b="1" dirty="0">
                          <a:solidFill>
                            <a:srgbClr val="F4F1F4"/>
                          </a:solidFill>
                        </a:rPr>
                        <a:t>14</a:t>
                      </a:r>
                      <a:endParaRPr lang="en-US" sz="1800" dirty="0"/>
                    </a:p>
                  </a:txBody>
                  <a:tcPr marL="91440" marR="91440" marT="45720" marB="45720" anchor="ctr">
                    <a:lnL w="25400" cap="flat" cmpd="sng" algn="ctr">
                      <a:solidFill>
                        <a:srgbClr val="0E0A0F"/>
                      </a:solidFill>
                      <a:prstDash val="solid"/>
                      <a:round/>
                      <a:headEnd type="none" w="med" len="med"/>
                      <a:tailEnd type="none" w="med" len="med"/>
                    </a:lnL>
                    <a:lnR w="25400" cap="flat" cmpd="sng" algn="ctr">
                      <a:solidFill>
                        <a:srgbClr val="0E0A0F"/>
                      </a:solidFill>
                      <a:prstDash val="solid"/>
                      <a:round/>
                      <a:headEnd type="none" w="med" len="med"/>
                      <a:tailEnd type="none" w="med" len="med"/>
                    </a:lnR>
                    <a:lnT w="25400" cap="flat" cmpd="sng" algn="ctr">
                      <a:solidFill>
                        <a:srgbClr val="0E0A0F"/>
                      </a:solidFill>
                      <a:prstDash val="solid"/>
                      <a:round/>
                      <a:headEnd type="none" w="med" len="med"/>
                      <a:tailEnd type="none" w="med" len="med"/>
                    </a:lnT>
                    <a:lnB w="25400" cap="flat" cmpd="sng" algn="ctr">
                      <a:solidFill>
                        <a:srgbClr val="0E0A0F"/>
                      </a:solidFill>
                      <a:prstDash val="solid"/>
                      <a:round/>
                      <a:headEnd type="none" w="med" len="med"/>
                      <a:tailEnd type="none" w="med" len="med"/>
                    </a:lnB>
                    <a:solidFill>
                      <a:srgbClr val="8A3A52"/>
                    </a:solidFill>
                  </a:tcPr>
                </a:tc>
                <a:tc>
                  <a:txBody>
                    <a:bodyPr/>
                    <a:lstStyle/>
                    <a:p>
                      <a:pPr algn="ctr" indent="0" marL="0">
                        <a:buNone/>
                      </a:pPr>
                      <a:r>
                        <a:rPr lang="en-US" sz="1800" dirty="0">
                          <a:solidFill>
                            <a:srgbClr val="F4F1F4"/>
                          </a:solidFill>
                        </a:rPr>
                        <a:t>0</a:t>
                      </a:r>
                      <a:endParaRPr lang="en-US" sz="1800" dirty="0"/>
                    </a:p>
                  </a:txBody>
                  <a:tcPr marL="91440" marR="91440" marT="45720" marB="45720" anchor="ctr">
                    <a:lnL w="25400" cap="flat" cmpd="sng" algn="ctr">
                      <a:solidFill>
                        <a:srgbClr val="0E0A0F"/>
                      </a:solidFill>
                      <a:prstDash val="solid"/>
                      <a:round/>
                      <a:headEnd type="none" w="med" len="med"/>
                      <a:tailEnd type="none" w="med" len="med"/>
                    </a:lnL>
                    <a:lnR w="25400" cap="flat" cmpd="sng" algn="ctr">
                      <a:solidFill>
                        <a:srgbClr val="0E0A0F"/>
                      </a:solidFill>
                      <a:prstDash val="solid"/>
                      <a:round/>
                      <a:headEnd type="none" w="med" len="med"/>
                      <a:tailEnd type="none" w="med" len="med"/>
                    </a:lnR>
                    <a:lnT w="25400" cap="flat" cmpd="sng" algn="ctr">
                      <a:solidFill>
                        <a:srgbClr val="0E0A0F"/>
                      </a:solidFill>
                      <a:prstDash val="solid"/>
                      <a:round/>
                      <a:headEnd type="none" w="med" len="med"/>
                      <a:tailEnd type="none" w="med" len="med"/>
                    </a:lnT>
                    <a:lnB w="25400" cap="flat" cmpd="sng" algn="ctr">
                      <a:solidFill>
                        <a:srgbClr val="0E0A0F"/>
                      </a:solidFill>
                      <a:prstDash val="solid"/>
                      <a:round/>
                      <a:headEnd type="none" w="med" len="med"/>
                      <a:tailEnd type="none" w="med" len="med"/>
                    </a:lnB>
                    <a:solidFill>
                      <a:srgbClr val="241B26"/>
                    </a:solidFill>
                  </a:tcPr>
                </a:tc>
              </a:tr>
              <a:tr h="566928">
                <a:tc>
                  <a:txBody>
                    <a:bodyPr/>
                    <a:lstStyle/>
                    <a:p>
                      <a:pPr algn="ctr" indent="0" marL="0">
                        <a:buNone/>
                      </a:pPr>
                      <a:r>
                        <a:rPr lang="en-US" sz="1500" b="1" dirty="0">
                          <a:solidFill>
                            <a:srgbClr val="FB923C"/>
                          </a:solidFill>
                        </a:rPr>
                        <a:t>LMCI</a:t>
                      </a:r>
                      <a:endParaRPr lang="en-US" sz="1500" dirty="0"/>
                    </a:p>
                  </a:txBody>
                  <a:tcPr marL="91440" marR="91440" marT="45720" marB="45720" anchor="ctr">
                    <a:lnL w="25400" cap="flat" cmpd="sng" algn="ctr">
                      <a:solidFill>
                        <a:srgbClr val="0E0A0F"/>
                      </a:solidFill>
                      <a:prstDash val="solid"/>
                      <a:round/>
                      <a:headEnd type="none" w="med" len="med"/>
                      <a:tailEnd type="none" w="med" len="med"/>
                    </a:lnL>
                    <a:lnR w="25400" cap="flat" cmpd="sng" algn="ctr">
                      <a:solidFill>
                        <a:srgbClr val="0E0A0F"/>
                      </a:solidFill>
                      <a:prstDash val="solid"/>
                      <a:round/>
                      <a:headEnd type="none" w="med" len="med"/>
                      <a:tailEnd type="none" w="med" len="med"/>
                    </a:lnR>
                    <a:lnT w="25400" cap="flat" cmpd="sng" algn="ctr">
                      <a:solidFill>
                        <a:srgbClr val="0E0A0F"/>
                      </a:solidFill>
                      <a:prstDash val="solid"/>
                      <a:round/>
                      <a:headEnd type="none" w="med" len="med"/>
                      <a:tailEnd type="none" w="med" len="med"/>
                    </a:lnT>
                    <a:lnB w="25400" cap="flat" cmpd="sng" algn="ctr">
                      <a:solidFill>
                        <a:srgbClr val="0E0A0F"/>
                      </a:solidFill>
                      <a:prstDash val="solid"/>
                      <a:round/>
                      <a:headEnd type="none" w="med" len="med"/>
                      <a:tailEnd type="none" w="med" len="med"/>
                    </a:lnB>
                  </a:tcPr>
                </a:tc>
                <a:tc>
                  <a:txBody>
                    <a:bodyPr/>
                    <a:lstStyle/>
                    <a:p>
                      <a:pPr algn="ctr" indent="0" marL="0">
                        <a:buNone/>
                      </a:pPr>
                      <a:r>
                        <a:rPr lang="en-US" sz="1800" dirty="0">
                          <a:solidFill>
                            <a:srgbClr val="F4F1F4"/>
                          </a:solidFill>
                        </a:rPr>
                        <a:t>0</a:t>
                      </a:r>
                      <a:endParaRPr lang="en-US" sz="1800" dirty="0"/>
                    </a:p>
                  </a:txBody>
                  <a:tcPr marL="91440" marR="91440" marT="45720" marB="45720" anchor="ctr">
                    <a:lnL w="25400" cap="flat" cmpd="sng" algn="ctr">
                      <a:solidFill>
                        <a:srgbClr val="0E0A0F"/>
                      </a:solidFill>
                      <a:prstDash val="solid"/>
                      <a:round/>
                      <a:headEnd type="none" w="med" len="med"/>
                      <a:tailEnd type="none" w="med" len="med"/>
                    </a:lnL>
                    <a:lnR w="25400" cap="flat" cmpd="sng" algn="ctr">
                      <a:solidFill>
                        <a:srgbClr val="0E0A0F"/>
                      </a:solidFill>
                      <a:prstDash val="solid"/>
                      <a:round/>
                      <a:headEnd type="none" w="med" len="med"/>
                      <a:tailEnd type="none" w="med" len="med"/>
                    </a:lnR>
                    <a:lnT w="25400" cap="flat" cmpd="sng" algn="ctr">
                      <a:solidFill>
                        <a:srgbClr val="0E0A0F"/>
                      </a:solidFill>
                      <a:prstDash val="solid"/>
                      <a:round/>
                      <a:headEnd type="none" w="med" len="med"/>
                      <a:tailEnd type="none" w="med" len="med"/>
                    </a:lnT>
                    <a:lnB w="25400" cap="flat" cmpd="sng" algn="ctr">
                      <a:solidFill>
                        <a:srgbClr val="0E0A0F"/>
                      </a:solidFill>
                      <a:prstDash val="solid"/>
                      <a:round/>
                      <a:headEnd type="none" w="med" len="med"/>
                      <a:tailEnd type="none" w="med" len="med"/>
                    </a:lnB>
                    <a:solidFill>
                      <a:srgbClr val="241B26"/>
                    </a:solidFill>
                  </a:tcPr>
                </a:tc>
                <a:tc>
                  <a:txBody>
                    <a:bodyPr/>
                    <a:lstStyle/>
                    <a:p>
                      <a:pPr algn="ctr" indent="0" marL="0">
                        <a:buNone/>
                      </a:pPr>
                      <a:r>
                        <a:rPr lang="en-US" sz="1800" dirty="0">
                          <a:solidFill>
                            <a:srgbClr val="F4F1F4"/>
                          </a:solidFill>
                        </a:rPr>
                        <a:t>0</a:t>
                      </a:r>
                      <a:endParaRPr lang="en-US" sz="1800" dirty="0"/>
                    </a:p>
                  </a:txBody>
                  <a:tcPr marL="91440" marR="91440" marT="45720" marB="45720" anchor="ctr">
                    <a:lnL w="25400" cap="flat" cmpd="sng" algn="ctr">
                      <a:solidFill>
                        <a:srgbClr val="0E0A0F"/>
                      </a:solidFill>
                      <a:prstDash val="solid"/>
                      <a:round/>
                      <a:headEnd type="none" w="med" len="med"/>
                      <a:tailEnd type="none" w="med" len="med"/>
                    </a:lnL>
                    <a:lnR w="25400" cap="flat" cmpd="sng" algn="ctr">
                      <a:solidFill>
                        <a:srgbClr val="0E0A0F"/>
                      </a:solidFill>
                      <a:prstDash val="solid"/>
                      <a:round/>
                      <a:headEnd type="none" w="med" len="med"/>
                      <a:tailEnd type="none" w="med" len="med"/>
                    </a:lnR>
                    <a:lnT w="25400" cap="flat" cmpd="sng" algn="ctr">
                      <a:solidFill>
                        <a:srgbClr val="0E0A0F"/>
                      </a:solidFill>
                      <a:prstDash val="solid"/>
                      <a:round/>
                      <a:headEnd type="none" w="med" len="med"/>
                      <a:tailEnd type="none" w="med" len="med"/>
                    </a:lnT>
                    <a:lnB w="25400" cap="flat" cmpd="sng" algn="ctr">
                      <a:solidFill>
                        <a:srgbClr val="0E0A0F"/>
                      </a:solidFill>
                      <a:prstDash val="solid"/>
                      <a:round/>
                      <a:headEnd type="none" w="med" len="med"/>
                      <a:tailEnd type="none" w="med" len="med"/>
                    </a:lnB>
                    <a:solidFill>
                      <a:srgbClr val="241B26"/>
                    </a:solidFill>
                  </a:tcPr>
                </a:tc>
                <a:tc>
                  <a:txBody>
                    <a:bodyPr/>
                    <a:lstStyle/>
                    <a:p>
                      <a:pPr algn="ctr" indent="0" marL="0">
                        <a:buNone/>
                      </a:pPr>
                      <a:r>
                        <a:rPr lang="en-US" sz="1800" dirty="0">
                          <a:solidFill>
                            <a:srgbClr val="F4F1F4"/>
                          </a:solidFill>
                        </a:rPr>
                        <a:t>201</a:t>
                      </a:r>
                      <a:endParaRPr lang="en-US" sz="1800" dirty="0"/>
                    </a:p>
                  </a:txBody>
                  <a:tcPr marL="91440" marR="91440" marT="45720" marB="45720" anchor="ctr">
                    <a:lnL w="25400" cap="flat" cmpd="sng" algn="ctr">
                      <a:solidFill>
                        <a:srgbClr val="0E0A0F"/>
                      </a:solidFill>
                      <a:prstDash val="solid"/>
                      <a:round/>
                      <a:headEnd type="none" w="med" len="med"/>
                      <a:tailEnd type="none" w="med" len="med"/>
                    </a:lnL>
                    <a:lnR w="25400" cap="flat" cmpd="sng" algn="ctr">
                      <a:solidFill>
                        <a:srgbClr val="0E0A0F"/>
                      </a:solidFill>
                      <a:prstDash val="solid"/>
                      <a:round/>
                      <a:headEnd type="none" w="med" len="med"/>
                      <a:tailEnd type="none" w="med" len="med"/>
                    </a:lnR>
                    <a:lnT w="25400" cap="flat" cmpd="sng" algn="ctr">
                      <a:solidFill>
                        <a:srgbClr val="0E0A0F"/>
                      </a:solidFill>
                      <a:prstDash val="solid"/>
                      <a:round/>
                      <a:headEnd type="none" w="med" len="med"/>
                      <a:tailEnd type="none" w="med" len="med"/>
                    </a:lnT>
                    <a:lnB w="25400" cap="flat" cmpd="sng" algn="ctr">
                      <a:solidFill>
                        <a:srgbClr val="0E0A0F"/>
                      </a:solidFill>
                      <a:prstDash val="solid"/>
                      <a:round/>
                      <a:headEnd type="none" w="med" len="med"/>
                      <a:tailEnd type="none" w="med" len="med"/>
                    </a:lnB>
                    <a:solidFill>
                      <a:srgbClr val="6F4E80"/>
                    </a:solidFill>
                  </a:tcPr>
                </a:tc>
                <a:tc>
                  <a:txBody>
                    <a:bodyPr/>
                    <a:lstStyle/>
                    <a:p>
                      <a:pPr algn="ctr" indent="0" marL="0">
                        <a:buNone/>
                      </a:pPr>
                      <a:r>
                        <a:rPr lang="en-US" sz="1800" dirty="0">
                          <a:solidFill>
                            <a:srgbClr val="F4F1F4"/>
                          </a:solidFill>
                        </a:rPr>
                        <a:t>0</a:t>
                      </a:r>
                      <a:endParaRPr lang="en-US" sz="1800" dirty="0"/>
                    </a:p>
                  </a:txBody>
                  <a:tcPr marL="91440" marR="91440" marT="45720" marB="45720" anchor="ctr">
                    <a:lnL w="25400" cap="flat" cmpd="sng" algn="ctr">
                      <a:solidFill>
                        <a:srgbClr val="0E0A0F"/>
                      </a:solidFill>
                      <a:prstDash val="solid"/>
                      <a:round/>
                      <a:headEnd type="none" w="med" len="med"/>
                      <a:tailEnd type="none" w="med" len="med"/>
                    </a:lnL>
                    <a:lnR w="25400" cap="flat" cmpd="sng" algn="ctr">
                      <a:solidFill>
                        <a:srgbClr val="0E0A0F"/>
                      </a:solidFill>
                      <a:prstDash val="solid"/>
                      <a:round/>
                      <a:headEnd type="none" w="med" len="med"/>
                      <a:tailEnd type="none" w="med" len="med"/>
                    </a:lnR>
                    <a:lnT w="25400" cap="flat" cmpd="sng" algn="ctr">
                      <a:solidFill>
                        <a:srgbClr val="0E0A0F"/>
                      </a:solidFill>
                      <a:prstDash val="solid"/>
                      <a:round/>
                      <a:headEnd type="none" w="med" len="med"/>
                      <a:tailEnd type="none" w="med" len="med"/>
                    </a:lnT>
                    <a:lnB w="25400" cap="flat" cmpd="sng" algn="ctr">
                      <a:solidFill>
                        <a:srgbClr val="0E0A0F"/>
                      </a:solidFill>
                      <a:prstDash val="solid"/>
                      <a:round/>
                      <a:headEnd type="none" w="med" len="med"/>
                      <a:tailEnd type="none" w="med" len="med"/>
                    </a:lnB>
                    <a:solidFill>
                      <a:srgbClr val="241B26"/>
                    </a:solidFill>
                  </a:tcPr>
                </a:tc>
              </a:tr>
              <a:tr h="566928">
                <a:tc>
                  <a:txBody>
                    <a:bodyPr/>
                    <a:lstStyle/>
                    <a:p>
                      <a:pPr algn="ctr" indent="0" marL="0">
                        <a:buNone/>
                      </a:pPr>
                      <a:r>
                        <a:rPr lang="en-US" sz="1500" b="1" dirty="0">
                          <a:solidFill>
                            <a:srgbClr val="F43F5E"/>
                          </a:solidFill>
                        </a:rPr>
                        <a:t>AD</a:t>
                      </a:r>
                      <a:endParaRPr lang="en-US" sz="1500" dirty="0"/>
                    </a:p>
                  </a:txBody>
                  <a:tcPr marL="91440" marR="91440" marT="45720" marB="45720" anchor="ctr">
                    <a:lnL w="25400" cap="flat" cmpd="sng" algn="ctr">
                      <a:solidFill>
                        <a:srgbClr val="0E0A0F"/>
                      </a:solidFill>
                      <a:prstDash val="solid"/>
                      <a:round/>
                      <a:headEnd type="none" w="med" len="med"/>
                      <a:tailEnd type="none" w="med" len="med"/>
                    </a:lnL>
                    <a:lnR w="25400" cap="flat" cmpd="sng" algn="ctr">
                      <a:solidFill>
                        <a:srgbClr val="0E0A0F"/>
                      </a:solidFill>
                      <a:prstDash val="solid"/>
                      <a:round/>
                      <a:headEnd type="none" w="med" len="med"/>
                      <a:tailEnd type="none" w="med" len="med"/>
                    </a:lnR>
                    <a:lnT w="25400" cap="flat" cmpd="sng" algn="ctr">
                      <a:solidFill>
                        <a:srgbClr val="0E0A0F"/>
                      </a:solidFill>
                      <a:prstDash val="solid"/>
                      <a:round/>
                      <a:headEnd type="none" w="med" len="med"/>
                      <a:tailEnd type="none" w="med" len="med"/>
                    </a:lnT>
                    <a:lnB w="25400" cap="flat" cmpd="sng" algn="ctr">
                      <a:solidFill>
                        <a:srgbClr val="0E0A0F"/>
                      </a:solidFill>
                      <a:prstDash val="solid"/>
                      <a:round/>
                      <a:headEnd type="none" w="med" len="med"/>
                      <a:tailEnd type="none" w="med" len="med"/>
                    </a:lnB>
                  </a:tcPr>
                </a:tc>
                <a:tc>
                  <a:txBody>
                    <a:bodyPr/>
                    <a:lstStyle/>
                    <a:p>
                      <a:pPr algn="ctr" indent="0" marL="0">
                        <a:buNone/>
                      </a:pPr>
                      <a:r>
                        <a:rPr lang="en-US" sz="1800" dirty="0">
                          <a:solidFill>
                            <a:srgbClr val="F4F1F4"/>
                          </a:solidFill>
                        </a:rPr>
                        <a:t>0</a:t>
                      </a:r>
                      <a:endParaRPr lang="en-US" sz="1800" dirty="0"/>
                    </a:p>
                  </a:txBody>
                  <a:tcPr marL="91440" marR="91440" marT="45720" marB="45720" anchor="ctr">
                    <a:lnL w="25400" cap="flat" cmpd="sng" algn="ctr">
                      <a:solidFill>
                        <a:srgbClr val="0E0A0F"/>
                      </a:solidFill>
                      <a:prstDash val="solid"/>
                      <a:round/>
                      <a:headEnd type="none" w="med" len="med"/>
                      <a:tailEnd type="none" w="med" len="med"/>
                    </a:lnL>
                    <a:lnR w="25400" cap="flat" cmpd="sng" algn="ctr">
                      <a:solidFill>
                        <a:srgbClr val="0E0A0F"/>
                      </a:solidFill>
                      <a:prstDash val="solid"/>
                      <a:round/>
                      <a:headEnd type="none" w="med" len="med"/>
                      <a:tailEnd type="none" w="med" len="med"/>
                    </a:lnR>
                    <a:lnT w="25400" cap="flat" cmpd="sng" algn="ctr">
                      <a:solidFill>
                        <a:srgbClr val="0E0A0F"/>
                      </a:solidFill>
                      <a:prstDash val="solid"/>
                      <a:round/>
                      <a:headEnd type="none" w="med" len="med"/>
                      <a:tailEnd type="none" w="med" len="med"/>
                    </a:lnT>
                    <a:lnB w="25400" cap="flat" cmpd="sng" algn="ctr">
                      <a:solidFill>
                        <a:srgbClr val="0E0A0F"/>
                      </a:solidFill>
                      <a:prstDash val="solid"/>
                      <a:round/>
                      <a:headEnd type="none" w="med" len="med"/>
                      <a:tailEnd type="none" w="med" len="med"/>
                    </a:lnB>
                    <a:solidFill>
                      <a:srgbClr val="241B26"/>
                    </a:solidFill>
                  </a:tcPr>
                </a:tc>
                <a:tc>
                  <a:txBody>
                    <a:bodyPr/>
                    <a:lstStyle/>
                    <a:p>
                      <a:pPr algn="ctr" indent="0" marL="0">
                        <a:buNone/>
                      </a:pPr>
                      <a:r>
                        <a:rPr lang="en-US" sz="1800" dirty="0">
                          <a:solidFill>
                            <a:srgbClr val="F4F1F4"/>
                          </a:solidFill>
                        </a:rPr>
                        <a:t>0</a:t>
                      </a:r>
                      <a:endParaRPr lang="en-US" sz="1800" dirty="0"/>
                    </a:p>
                  </a:txBody>
                  <a:tcPr marL="91440" marR="91440" marT="45720" marB="45720" anchor="ctr">
                    <a:lnL w="25400" cap="flat" cmpd="sng" algn="ctr">
                      <a:solidFill>
                        <a:srgbClr val="0E0A0F"/>
                      </a:solidFill>
                      <a:prstDash val="solid"/>
                      <a:round/>
                      <a:headEnd type="none" w="med" len="med"/>
                      <a:tailEnd type="none" w="med" len="med"/>
                    </a:lnL>
                    <a:lnR w="25400" cap="flat" cmpd="sng" algn="ctr">
                      <a:solidFill>
                        <a:srgbClr val="0E0A0F"/>
                      </a:solidFill>
                      <a:prstDash val="solid"/>
                      <a:round/>
                      <a:headEnd type="none" w="med" len="med"/>
                      <a:tailEnd type="none" w="med" len="med"/>
                    </a:lnR>
                    <a:lnT w="25400" cap="flat" cmpd="sng" algn="ctr">
                      <a:solidFill>
                        <a:srgbClr val="0E0A0F"/>
                      </a:solidFill>
                      <a:prstDash val="solid"/>
                      <a:round/>
                      <a:headEnd type="none" w="med" len="med"/>
                      <a:tailEnd type="none" w="med" len="med"/>
                    </a:lnT>
                    <a:lnB w="25400" cap="flat" cmpd="sng" algn="ctr">
                      <a:solidFill>
                        <a:srgbClr val="0E0A0F"/>
                      </a:solidFill>
                      <a:prstDash val="solid"/>
                      <a:round/>
                      <a:headEnd type="none" w="med" len="med"/>
                      <a:tailEnd type="none" w="med" len="med"/>
                    </a:lnB>
                    <a:solidFill>
                      <a:srgbClr val="241B26"/>
                    </a:solidFill>
                  </a:tcPr>
                </a:tc>
                <a:tc>
                  <a:txBody>
                    <a:bodyPr/>
                    <a:lstStyle/>
                    <a:p>
                      <a:pPr algn="ctr" indent="0" marL="0">
                        <a:buNone/>
                      </a:pPr>
                      <a:r>
                        <a:rPr lang="en-US" sz="1800" b="1" dirty="0">
                          <a:solidFill>
                            <a:srgbClr val="F4F1F4"/>
                          </a:solidFill>
                        </a:rPr>
                        <a:t>1</a:t>
                      </a:r>
                      <a:endParaRPr lang="en-US" sz="1800" dirty="0"/>
                    </a:p>
                  </a:txBody>
                  <a:tcPr marL="91440" marR="91440" marT="45720" marB="45720" anchor="ctr">
                    <a:lnL w="25400" cap="flat" cmpd="sng" algn="ctr">
                      <a:solidFill>
                        <a:srgbClr val="0E0A0F"/>
                      </a:solidFill>
                      <a:prstDash val="solid"/>
                      <a:round/>
                      <a:headEnd type="none" w="med" len="med"/>
                      <a:tailEnd type="none" w="med" len="med"/>
                    </a:lnL>
                    <a:lnR w="25400" cap="flat" cmpd="sng" algn="ctr">
                      <a:solidFill>
                        <a:srgbClr val="0E0A0F"/>
                      </a:solidFill>
                      <a:prstDash val="solid"/>
                      <a:round/>
                      <a:headEnd type="none" w="med" len="med"/>
                      <a:tailEnd type="none" w="med" len="med"/>
                    </a:lnR>
                    <a:lnT w="25400" cap="flat" cmpd="sng" algn="ctr">
                      <a:solidFill>
                        <a:srgbClr val="0E0A0F"/>
                      </a:solidFill>
                      <a:prstDash val="solid"/>
                      <a:round/>
                      <a:headEnd type="none" w="med" len="med"/>
                      <a:tailEnd type="none" w="med" len="med"/>
                    </a:lnT>
                    <a:lnB w="25400" cap="flat" cmpd="sng" algn="ctr">
                      <a:solidFill>
                        <a:srgbClr val="0E0A0F"/>
                      </a:solidFill>
                      <a:prstDash val="solid"/>
                      <a:round/>
                      <a:headEnd type="none" w="med" len="med"/>
                      <a:tailEnd type="none" w="med" len="med"/>
                    </a:lnB>
                    <a:solidFill>
                      <a:srgbClr val="8A3A52"/>
                    </a:solidFill>
                  </a:tcPr>
                </a:tc>
                <a:tc>
                  <a:txBody>
                    <a:bodyPr/>
                    <a:lstStyle/>
                    <a:p>
                      <a:pPr algn="ctr" indent="0" marL="0">
                        <a:buNone/>
                      </a:pPr>
                      <a:r>
                        <a:rPr lang="en-US" sz="1800" dirty="0">
                          <a:solidFill>
                            <a:srgbClr val="F4F1F4"/>
                          </a:solidFill>
                        </a:rPr>
                        <a:t>137</a:t>
                      </a:r>
                      <a:endParaRPr lang="en-US" sz="1800" dirty="0"/>
                    </a:p>
                  </a:txBody>
                  <a:tcPr marL="91440" marR="91440" marT="45720" marB="45720" anchor="ctr">
                    <a:lnL w="25400" cap="flat" cmpd="sng" algn="ctr">
                      <a:solidFill>
                        <a:srgbClr val="0E0A0F"/>
                      </a:solidFill>
                      <a:prstDash val="solid"/>
                      <a:round/>
                      <a:headEnd type="none" w="med" len="med"/>
                      <a:tailEnd type="none" w="med" len="med"/>
                    </a:lnL>
                    <a:lnR w="25400" cap="flat" cmpd="sng" algn="ctr">
                      <a:solidFill>
                        <a:srgbClr val="0E0A0F"/>
                      </a:solidFill>
                      <a:prstDash val="solid"/>
                      <a:round/>
                      <a:headEnd type="none" w="med" len="med"/>
                      <a:tailEnd type="none" w="med" len="med"/>
                    </a:lnR>
                    <a:lnT w="25400" cap="flat" cmpd="sng" algn="ctr">
                      <a:solidFill>
                        <a:srgbClr val="0E0A0F"/>
                      </a:solidFill>
                      <a:prstDash val="solid"/>
                      <a:round/>
                      <a:headEnd type="none" w="med" len="med"/>
                      <a:tailEnd type="none" w="med" len="med"/>
                    </a:lnT>
                    <a:lnB w="25400" cap="flat" cmpd="sng" algn="ctr">
                      <a:solidFill>
                        <a:srgbClr val="0E0A0F"/>
                      </a:solidFill>
                      <a:prstDash val="solid"/>
                      <a:round/>
                      <a:headEnd type="none" w="med" len="med"/>
                      <a:tailEnd type="none" w="med" len="med"/>
                    </a:lnB>
                    <a:solidFill>
                      <a:srgbClr val="6F4E80"/>
                    </a:solidFill>
                  </a:tcPr>
                </a:tc>
              </a:tr>
            </a:tbl>
          </a:graphicData>
        </a:graphic>
      </p:graphicFrame>
      <p:sp>
        <p:nvSpPr>
          <p:cNvPr id="9" name="Matrix note"/>
          <p:cNvSpPr txBox="1"/>
          <p:nvPr/>
        </p:nvSpPr>
        <p:spPr>
          <a:xfrm>
            <a:off x="822960" y="5349240"/>
            <a:ext cx="5394960" cy="777240"/>
          </a:xfrm>
          <a:prstGeom prst="rect">
            <a:avLst/>
          </a:prstGeom>
          <a:noFill/>
          <a:ln/>
        </p:spPr>
        <p:txBody>
          <a:bodyPr wrap="square" lIns="0" tIns="0" rIns="0" bIns="0" rtlCol="0" anchor="t"/>
          <a:lstStyle/>
          <a:p>
            <a:pPr indent="0" marL="0">
              <a:buNone/>
            </a:pPr>
            <a:r>
              <a:rPr lang="en-US" sz="1300" dirty="0">
                <a:solidFill>
                  <a:schemeClr val="tx2"/>
                </a:solidFill>
              </a:rPr>
              <a:t>14 early-MCI slices read as late MCI · 5 as normal · 3 normal as early MCI · 1 AD as late MCI</a:t>
            </a:r>
            <a:endParaRPr lang="en-US" sz="1300" dirty="0"/>
          </a:p>
        </p:txBody>
      </p:sp>
      <p:sp>
        <p:nvSpPr>
          <p:cNvPr id="10" name="Recall chart card"/>
          <p:cNvSpPr/>
          <p:nvPr/>
        </p:nvSpPr>
        <p:spPr>
          <a:xfrm>
            <a:off x="6675120" y="1783080"/>
            <a:ext cx="4965192" cy="2331720"/>
          </a:xfrm>
          <a:prstGeom prst="roundRect">
            <a:avLst>
              <a:gd name="adj" fmla="val 4706"/>
            </a:avLst>
          </a:prstGeom>
          <a:solidFill>
            <a:schemeClr val="bg2">
              <a:alpha val="88000"/>
            </a:schemeClr>
          </a:solidFill>
          <a:ln w="9525">
            <a:solidFill>
              <a:srgbClr val="FFFFFF">
                <a:alpha val="12000"/>
              </a:srgbClr>
            </a:solidFill>
            <a:prstDash val="solid"/>
          </a:ln>
        </p:spPr>
      </p:sp>
      <p:graphicFrame>
        <p:nvGraphicFramePr>
          <p:cNvPr id="11" name="Chart 0" descr=""/>
          <p:cNvGraphicFramePr/>
          <p:nvPr/>
        </p:nvGraphicFramePr>
        <p:xfrm>
          <a:off x="6766560" y="1828800"/>
          <a:ext cx="4782312" cy="2240280"/>
        </p:xfrm>
        <a:graphic xmlns:a="http://schemas.openxmlformats.org/drawingml/2006/main">
          <a:graphicData uri="http://schemas.openxmlformats.org/drawingml/2006/chart">
            <c:chart xmlns:c="http://schemas.openxmlformats.org/drawingml/2006/chart" r:id="rId1"/>
          </a:graphicData>
        </a:graphic>
      </p:graphicFrame>
      <p:sp>
        <p:nvSpPr>
          <p:cNvPr id="12" name="Stat early recall"/>
          <p:cNvSpPr/>
          <p:nvPr/>
        </p:nvSpPr>
        <p:spPr>
          <a:xfrm>
            <a:off x="6675120" y="4297680"/>
            <a:ext cx="1572768" cy="1920240"/>
          </a:xfrm>
          <a:prstGeom prst="roundRect">
            <a:avLst>
              <a:gd name="adj" fmla="val 6977"/>
            </a:avLst>
          </a:prstGeom>
          <a:solidFill>
            <a:schemeClr val="bg2">
              <a:alpha val="88000"/>
            </a:schemeClr>
          </a:solidFill>
          <a:ln w="9525">
            <a:solidFill>
              <a:srgbClr val="FFFFFF">
                <a:alpha val="12000"/>
              </a:srgbClr>
            </a:solidFill>
            <a:prstDash val="solid"/>
          </a:ln>
        </p:spPr>
      </p:sp>
      <p:sp>
        <p:nvSpPr>
          <p:cNvPr id="13" name="Stat early recall value"/>
          <p:cNvSpPr txBox="1"/>
          <p:nvPr/>
        </p:nvSpPr>
        <p:spPr>
          <a:xfrm>
            <a:off x="6903720" y="4407408"/>
            <a:ext cx="1115568" cy="998525"/>
          </a:xfrm>
          <a:prstGeom prst="rect">
            <a:avLst/>
          </a:prstGeom>
          <a:noFill/>
          <a:ln/>
        </p:spPr>
        <p:txBody>
          <a:bodyPr wrap="square" lIns="0" tIns="0" rIns="0" bIns="0" rtlCol="0" anchor="ctr"/>
          <a:lstStyle/>
          <a:p>
            <a:pPr indent="0" marL="0">
              <a:buNone/>
            </a:pPr>
            <a:r>
              <a:rPr lang="en-US" sz="2600" b="1" dirty="0">
                <a:solidFill>
                  <a:schemeClr val="accent1"/>
                </a:solidFill>
                <a:latin typeface="+mj-lt" pitchFamily="34" charset="0"/>
                <a:ea typeface="+mj-lt" pitchFamily="34" charset="-122"/>
                <a:cs typeface="+mj-lt" pitchFamily="34" charset="-120"/>
              </a:rPr>
              <a:t>0.992</a:t>
            </a:r>
            <a:endParaRPr lang="en-US" sz="2600" dirty="0"/>
          </a:p>
        </p:txBody>
      </p:sp>
      <p:sp>
        <p:nvSpPr>
          <p:cNvPr id="14" name="Stat early recall label"/>
          <p:cNvSpPr txBox="1"/>
          <p:nvPr/>
        </p:nvSpPr>
        <p:spPr>
          <a:xfrm>
            <a:off x="6903720" y="5411419"/>
            <a:ext cx="1115568" cy="729691"/>
          </a:xfrm>
          <a:prstGeom prst="rect">
            <a:avLst/>
          </a:prstGeom>
          <a:noFill/>
          <a:ln/>
        </p:spPr>
        <p:txBody>
          <a:bodyPr wrap="square" lIns="0" tIns="0" rIns="0" bIns="0" rtlCol="0" anchor="t"/>
          <a:lstStyle/>
          <a:p>
            <a:pPr indent="0" marL="0">
              <a:buNone/>
            </a:pPr>
            <a:r>
              <a:rPr lang="en-US" sz="1300" dirty="0">
                <a:solidFill>
                  <a:schemeClr val="tx2"/>
                </a:solidFill>
              </a:rPr>
              <a:t>early-detection recall</a:t>
            </a:r>
            <a:endParaRPr lang="en-US" sz="1300" dirty="0"/>
          </a:p>
        </p:txBody>
      </p:sp>
      <p:sp>
        <p:nvSpPr>
          <p:cNvPr id="15" name="Stat errors"/>
          <p:cNvSpPr/>
          <p:nvPr/>
        </p:nvSpPr>
        <p:spPr>
          <a:xfrm>
            <a:off x="8330184" y="4297680"/>
            <a:ext cx="1572768" cy="1920240"/>
          </a:xfrm>
          <a:prstGeom prst="roundRect">
            <a:avLst>
              <a:gd name="adj" fmla="val 6977"/>
            </a:avLst>
          </a:prstGeom>
          <a:solidFill>
            <a:schemeClr val="bg2">
              <a:alpha val="88000"/>
            </a:schemeClr>
          </a:solidFill>
          <a:ln w="9525">
            <a:solidFill>
              <a:srgbClr val="FFFFFF">
                <a:alpha val="12000"/>
              </a:srgbClr>
            </a:solidFill>
            <a:prstDash val="solid"/>
          </a:ln>
        </p:spPr>
      </p:sp>
      <p:sp>
        <p:nvSpPr>
          <p:cNvPr id="16" name="Stat errors value"/>
          <p:cNvSpPr txBox="1"/>
          <p:nvPr/>
        </p:nvSpPr>
        <p:spPr>
          <a:xfrm>
            <a:off x="8558784" y="4407408"/>
            <a:ext cx="1115568" cy="998525"/>
          </a:xfrm>
          <a:prstGeom prst="rect">
            <a:avLst/>
          </a:prstGeom>
          <a:noFill/>
          <a:ln/>
        </p:spPr>
        <p:txBody>
          <a:bodyPr wrap="square" lIns="0" tIns="0" rIns="0" bIns="0" rtlCol="0" anchor="ctr"/>
          <a:lstStyle/>
          <a:p>
            <a:pPr indent="0" marL="0">
              <a:buNone/>
            </a:pPr>
            <a:r>
              <a:rPr lang="en-US" sz="2600" b="1" dirty="0">
                <a:solidFill>
                  <a:schemeClr val="accent1"/>
                </a:solidFill>
                <a:latin typeface="+mj-lt" pitchFamily="34" charset="0"/>
                <a:ea typeface="+mj-lt" pitchFamily="34" charset="-122"/>
                <a:cs typeface="+mj-lt" pitchFamily="34" charset="-120"/>
              </a:rPr>
              <a:t>23</a:t>
            </a:r>
            <a:endParaRPr lang="en-US" sz="2600" dirty="0"/>
          </a:p>
        </p:txBody>
      </p:sp>
      <p:sp>
        <p:nvSpPr>
          <p:cNvPr id="17" name="Stat errors label"/>
          <p:cNvSpPr txBox="1"/>
          <p:nvPr/>
        </p:nvSpPr>
        <p:spPr>
          <a:xfrm>
            <a:off x="8558784" y="5411419"/>
            <a:ext cx="1115568" cy="729691"/>
          </a:xfrm>
          <a:prstGeom prst="rect">
            <a:avLst/>
          </a:prstGeom>
          <a:noFill/>
          <a:ln/>
        </p:spPr>
        <p:txBody>
          <a:bodyPr wrap="square" lIns="0" tIns="0" rIns="0" bIns="0" rtlCol="0" anchor="t"/>
          <a:lstStyle/>
          <a:p>
            <a:pPr indent="0" marL="0">
              <a:buNone/>
            </a:pPr>
            <a:r>
              <a:rPr lang="en-US" sz="1300" dirty="0">
                <a:solidFill>
                  <a:schemeClr val="tx2"/>
                </a:solidFill>
              </a:rPr>
              <a:t>errors, all adjacent</a:t>
            </a:r>
            <a:endParaRPr lang="en-US" sz="1300" dirty="0"/>
          </a:p>
        </p:txBody>
      </p:sp>
      <p:sp>
        <p:nvSpPr>
          <p:cNvPr id="18" name="Stat calibration"/>
          <p:cNvSpPr/>
          <p:nvPr/>
        </p:nvSpPr>
        <p:spPr>
          <a:xfrm>
            <a:off x="9985248" y="4297680"/>
            <a:ext cx="1655064" cy="1920240"/>
          </a:xfrm>
          <a:prstGeom prst="roundRect">
            <a:avLst>
              <a:gd name="adj" fmla="val 6630"/>
            </a:avLst>
          </a:prstGeom>
          <a:solidFill>
            <a:schemeClr val="bg2">
              <a:alpha val="88000"/>
            </a:schemeClr>
          </a:solidFill>
          <a:ln w="9525">
            <a:solidFill>
              <a:srgbClr val="FFFFFF">
                <a:alpha val="12000"/>
              </a:srgbClr>
            </a:solidFill>
            <a:prstDash val="solid"/>
          </a:ln>
        </p:spPr>
      </p:sp>
      <p:sp>
        <p:nvSpPr>
          <p:cNvPr id="19" name="Stat calibration value"/>
          <p:cNvSpPr txBox="1"/>
          <p:nvPr/>
        </p:nvSpPr>
        <p:spPr>
          <a:xfrm>
            <a:off x="10213848" y="4407408"/>
            <a:ext cx="1197864" cy="998525"/>
          </a:xfrm>
          <a:prstGeom prst="rect">
            <a:avLst/>
          </a:prstGeom>
          <a:noFill/>
          <a:ln/>
        </p:spPr>
        <p:txBody>
          <a:bodyPr wrap="square" lIns="0" tIns="0" rIns="0" bIns="0" rtlCol="0" anchor="ctr"/>
          <a:lstStyle/>
          <a:p>
            <a:pPr indent="0" marL="0">
              <a:buNone/>
            </a:pPr>
            <a:r>
              <a:rPr lang="en-US" sz="2000" b="1" dirty="0">
                <a:solidFill>
                  <a:schemeClr val="accent1"/>
                </a:solidFill>
                <a:latin typeface="+mj-lt" pitchFamily="34" charset="0"/>
                <a:ea typeface="+mj-lt" pitchFamily="34" charset="-122"/>
                <a:cs typeface="+mj-lt" pitchFamily="34" charset="-120"/>
              </a:rPr>
              <a:t>98.6 vs 91.8</a:t>
            </a:r>
            <a:endParaRPr lang="en-US" sz="2000" dirty="0"/>
          </a:p>
        </p:txBody>
      </p:sp>
      <p:sp>
        <p:nvSpPr>
          <p:cNvPr id="20" name="Stat calibration label"/>
          <p:cNvSpPr txBox="1"/>
          <p:nvPr/>
        </p:nvSpPr>
        <p:spPr>
          <a:xfrm>
            <a:off x="10213848" y="5411419"/>
            <a:ext cx="1197864" cy="729691"/>
          </a:xfrm>
          <a:prstGeom prst="rect">
            <a:avLst/>
          </a:prstGeom>
          <a:noFill/>
          <a:ln/>
        </p:spPr>
        <p:txBody>
          <a:bodyPr wrap="square" lIns="0" tIns="0" rIns="0" bIns="0" rtlCol="0" anchor="t"/>
          <a:lstStyle/>
          <a:p>
            <a:pPr indent="0" marL="0">
              <a:buNone/>
            </a:pPr>
            <a:r>
              <a:rPr lang="en-US" sz="1300" dirty="0">
                <a:solidFill>
                  <a:schemeClr val="tx2"/>
                </a:solidFill>
              </a:rPr>
              <a:t>accuracy vs mean confidence (%)</a:t>
            </a:r>
            <a:endParaRPr lang="en-US" sz="1300" dirty="0"/>
          </a:p>
        </p:txBody>
      </p:sp>
      <p:sp>
        <p:nvSpPr>
          <p:cNvPr id="25" name="Slide Number Placeholder 0"/>
          <p:cNvSpPr>
            <a:spLocks noGrp="1"/>
          </p:cNvSpPr>
          <p:nvPr>
            <p:ph type="sldNum" sz="quarter" idx="4294967295"/>
          </p:nvPr>
        </p:nvSpPr>
        <p:spPr>
          <a:xfrm>
            <a:off x="11064240" y="6419088"/>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E7F9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Presenter badge"/>
          <p:cNvSpPr/>
          <p:nvPr/>
        </p:nvSpPr>
        <p:spPr>
          <a:xfrm>
            <a:off x="548640" y="384048"/>
            <a:ext cx="365760" cy="365760"/>
          </a:xfrm>
          <a:prstGeom prst="ellipse">
            <a:avLst/>
          </a:prstGeom>
          <a:solidFill>
            <a:schemeClr val="accent1"/>
          </a:solidFill>
          <a:ln w="12700">
            <a:solidFill>
              <a:schemeClr val="accent1"/>
            </a:solidFill>
            <a:prstDash val="solid"/>
          </a:ln>
        </p:spPr>
      </p:sp>
      <p:sp>
        <p:nvSpPr>
          <p:cNvPr id="3" name="Presenter initials"/>
          <p:cNvSpPr txBox="1"/>
          <p:nvPr/>
        </p:nvSpPr>
        <p:spPr>
          <a:xfrm>
            <a:off x="548640" y="384048"/>
            <a:ext cx="365760" cy="365760"/>
          </a:xfrm>
          <a:prstGeom prst="rect">
            <a:avLst/>
          </a:prstGeom>
          <a:noFill/>
          <a:ln/>
        </p:spPr>
        <p:txBody>
          <a:bodyPr wrap="square" lIns="0" tIns="0" rIns="0" bIns="0" rtlCol="0" anchor="ctr"/>
          <a:lstStyle/>
          <a:p>
            <a:pPr algn="ctr" indent="0" marL="0">
              <a:buNone/>
            </a:pPr>
            <a:r>
              <a:rPr lang="en-US" sz="1100" b="1" dirty="0">
                <a:solidFill>
                  <a:schemeClr val="bg1"/>
                </a:solidFill>
              </a:rPr>
              <a:t>TP</a:t>
            </a:r>
            <a:endParaRPr lang="en-US" sz="1100" dirty="0"/>
          </a:p>
        </p:txBody>
      </p:sp>
      <p:sp>
        <p:nvSpPr>
          <p:cNvPr id="4" name="Presenter line"/>
          <p:cNvSpPr txBox="1"/>
          <p:nvPr/>
        </p:nvSpPr>
        <p:spPr>
          <a:xfrm>
            <a:off x="1051560" y="384048"/>
            <a:ext cx="9601200" cy="365760"/>
          </a:xfrm>
          <a:prstGeom prst="rect">
            <a:avLst/>
          </a:prstGeom>
          <a:noFill/>
          <a:ln/>
        </p:spPr>
        <p:txBody>
          <a:bodyPr wrap="square" lIns="0" tIns="0" rIns="0" bIns="0" rtlCol="0" anchor="ctr"/>
          <a:lstStyle/>
          <a:p>
            <a:pPr indent="0" marL="0">
              <a:buNone/>
            </a:pPr>
            <a:r>
              <a:rPr lang="en-US" sz="1200" b="1" spc="200" kern="0" dirty="0">
                <a:solidFill>
                  <a:schemeClr val="accent1"/>
                </a:solidFill>
              </a:rPr>
              <a:t>TANEESHA RAJIV PRASAD</a:t>
            </a:r>
            <a:pPr indent="0" marL="0">
              <a:buNone/>
            </a:pPr>
            <a:r>
              <a:rPr lang="en-US" sz="1200" dirty="0">
                <a:solidFill>
                  <a:schemeClr val="tx2"/>
                </a:solidFill>
              </a:rPr>
              <a:t>   ·   Explainability and robustness</a:t>
            </a:r>
            <a:endParaRPr lang="en-US" sz="1200" dirty="0"/>
          </a:p>
        </p:txBody>
      </p:sp>
      <p:sp>
        <p:nvSpPr>
          <p:cNvPr id="5" name="Text 0"/>
          <p:cNvSpPr/>
          <p:nvPr>
            <p:ph idx="100" type="title" hasCustomPrompt="1"/>
          </p:nvPr>
        </p:nvSpPr>
        <p:spPr>
          <a:xfrm>
            <a:off x="548640" y="868680"/>
            <a:ext cx="11091672" cy="731520"/>
          </a:xfrm>
          <a:prstGeom prst="rect">
            <a:avLst/>
          </a:prstGeom>
          <a:noFill/>
          <a:ln/>
        </p:spPr>
        <p:txBody>
          <a:bodyPr wrap="square" lIns="0" tIns="0" rIns="0" bIns="0" rtlCol="0" anchor="ctr"/>
          <a:lstStyle/>
          <a:p>
            <a:pPr algn="l" indent="0" marL="0">
              <a:buNone/>
            </a:pPr>
            <a:r>
              <a:rPr lang="en-US" sz="3400" b="1" dirty="0">
                <a:solidFill>
                  <a:schemeClr val="tx1"/>
                </a:solidFill>
              </a:rPr>
              <a:t>Explanations you can check, not just trust</a:t>
            </a:r>
            <a:endParaRPr lang="en-US" sz="3400" dirty="0"/>
          </a:p>
        </p:txBody>
      </p:sp>
      <p:sp>
        <p:nvSpPr>
          <p:cNvPr id="6" name="Attribution screenshot frame"/>
          <p:cNvSpPr/>
          <p:nvPr/>
        </p:nvSpPr>
        <p:spPr>
          <a:xfrm>
            <a:off x="548640" y="1783080"/>
            <a:ext cx="3345240" cy="3941064"/>
          </a:xfrm>
          <a:prstGeom prst="roundRect">
            <a:avLst>
              <a:gd name="adj" fmla="val 3280"/>
            </a:avLst>
          </a:prstGeom>
          <a:solidFill>
            <a:schemeClr val="bg2"/>
          </a:solidFill>
          <a:ln w="9525">
            <a:solidFill>
              <a:srgbClr val="FFFFFF">
                <a:alpha val="20000"/>
              </a:srgbClr>
            </a:solidFill>
            <a:prstDash val="solid"/>
          </a:ln>
        </p:spPr>
      </p:sp>
      <p:pic>
        <p:nvPicPr>
          <p:cNvPr id="7" name="Attribution screenshot" descr="Screenshot: scan beside its Grad-CAM attribution map with a draggable divider">    </p:cNvPr>
          <p:cNvPicPr>
            <a:picLocks noChangeAspect="1"/>
          </p:cNvPicPr>
          <p:nvPr/>
        </p:nvPicPr>
        <p:blipFill>
          <a:blip r:embed="rId1"/>
          <a:stretch>
            <a:fillRect/>
          </a:stretch>
        </p:blipFill>
        <p:spPr>
          <a:xfrm>
            <a:off x="621792" y="1856232"/>
            <a:ext cx="3198936" cy="3794760"/>
          </a:xfrm>
          <a:prstGeom prst="rect">
            <a:avLst/>
          </a:prstGeom>
        </p:spPr>
      </p:pic>
      <p:sp>
        <p:nvSpPr>
          <p:cNvPr id="8" name="Counterfactual screenshot frame"/>
          <p:cNvSpPr/>
          <p:nvPr/>
        </p:nvSpPr>
        <p:spPr>
          <a:xfrm>
            <a:off x="4067616" y="1783080"/>
            <a:ext cx="3345240" cy="3941064"/>
          </a:xfrm>
          <a:prstGeom prst="roundRect">
            <a:avLst>
              <a:gd name="adj" fmla="val 3280"/>
            </a:avLst>
          </a:prstGeom>
          <a:solidFill>
            <a:schemeClr val="bg2"/>
          </a:solidFill>
          <a:ln w="9525">
            <a:solidFill>
              <a:srgbClr val="FFFFFF">
                <a:alpha val="20000"/>
              </a:srgbClr>
            </a:solidFill>
            <a:prstDash val="solid"/>
          </a:ln>
        </p:spPr>
      </p:sp>
      <p:pic>
        <p:nvPicPr>
          <p:cNvPr id="9" name="Counterfactual screenshot" descr="Screenshot: Grad-CAM map for the class AD on a healthy scan, almost entirely cold">    </p:cNvPr>
          <p:cNvPicPr>
            <a:picLocks noChangeAspect="1"/>
          </p:cNvPicPr>
          <p:nvPr/>
        </p:nvPicPr>
        <p:blipFill>
          <a:blip r:embed="rId2"/>
          <a:stretch>
            <a:fillRect/>
          </a:stretch>
        </p:blipFill>
        <p:spPr>
          <a:xfrm>
            <a:off x="4140768" y="1856232"/>
            <a:ext cx="3198936" cy="3794760"/>
          </a:xfrm>
          <a:prstGeom prst="rect">
            <a:avLst/>
          </a:prstGeom>
        </p:spPr>
      </p:pic>
      <p:sp>
        <p:nvSpPr>
          <p:cNvPr id="10" name="Caption 1"/>
          <p:cNvSpPr txBox="1"/>
          <p:nvPr/>
        </p:nvSpPr>
        <p:spPr>
          <a:xfrm>
            <a:off x="621792" y="5760720"/>
            <a:ext cx="3198936" cy="411480"/>
          </a:xfrm>
          <a:prstGeom prst="rect">
            <a:avLst/>
          </a:prstGeom>
          <a:noFill/>
          <a:ln/>
        </p:spPr>
        <p:txBody>
          <a:bodyPr wrap="square" lIns="0" tIns="0" rIns="0" bIns="0" rtlCol="0" anchor="t"/>
          <a:lstStyle/>
          <a:p>
            <a:pPr indent="0" marL="0">
              <a:buNone/>
            </a:pPr>
            <a:r>
              <a:rPr lang="en-US" sz="1200" dirty="0">
                <a:solidFill>
                  <a:schemeClr val="tx2"/>
                </a:solidFill>
              </a:rPr>
              <a:t>Drag to compare: scan vs map</a:t>
            </a:r>
            <a:endParaRPr lang="en-US" sz="1200" dirty="0"/>
          </a:p>
        </p:txBody>
      </p:sp>
      <p:sp>
        <p:nvSpPr>
          <p:cNvPr id="11" name="Caption 2"/>
          <p:cNvSpPr txBox="1"/>
          <p:nvPr/>
        </p:nvSpPr>
        <p:spPr>
          <a:xfrm>
            <a:off x="4140768" y="5760720"/>
            <a:ext cx="3198936" cy="411480"/>
          </a:xfrm>
          <a:prstGeom prst="rect">
            <a:avLst/>
          </a:prstGeom>
          <a:noFill/>
          <a:ln/>
        </p:spPr>
        <p:txBody>
          <a:bodyPr wrap="square" lIns="0" tIns="0" rIns="0" bIns="0" rtlCol="0" anchor="t"/>
          <a:lstStyle/>
          <a:p>
            <a:pPr indent="0" marL="0">
              <a:buNone/>
            </a:pPr>
            <a:r>
              <a:rPr lang="en-US" sz="1200" dirty="0">
                <a:solidFill>
                  <a:schemeClr val="tx2"/>
                </a:solidFill>
              </a:rPr>
              <a:t>Counterfactual: “what would make this AD?”</a:t>
            </a:r>
            <a:endParaRPr lang="en-US" sz="1200" dirty="0"/>
          </a:p>
        </p:txBody>
      </p:sp>
      <p:sp>
        <p:nvSpPr>
          <p:cNvPr id="12" name="Step card 1"/>
          <p:cNvSpPr/>
          <p:nvPr/>
        </p:nvSpPr>
        <p:spPr>
          <a:xfrm>
            <a:off x="7589520" y="1783080"/>
            <a:ext cx="4050792" cy="1097280"/>
          </a:xfrm>
          <a:prstGeom prst="roundRect">
            <a:avLst>
              <a:gd name="adj" fmla="val 10000"/>
            </a:avLst>
          </a:prstGeom>
          <a:solidFill>
            <a:schemeClr val="bg2">
              <a:alpha val="88000"/>
            </a:schemeClr>
          </a:solidFill>
          <a:ln w="9525">
            <a:solidFill>
              <a:srgbClr val="FFFFFF">
                <a:alpha val="12000"/>
              </a:srgbClr>
            </a:solidFill>
            <a:prstDash val="solid"/>
          </a:ln>
        </p:spPr>
      </p:sp>
      <p:sp>
        <p:nvSpPr>
          <p:cNvPr id="13" name="Step dot 1"/>
          <p:cNvSpPr/>
          <p:nvPr/>
        </p:nvSpPr>
        <p:spPr>
          <a:xfrm>
            <a:off x="7772400" y="2112264"/>
            <a:ext cx="438912" cy="438912"/>
          </a:xfrm>
          <a:prstGeom prst="ellipse">
            <a:avLst/>
          </a:prstGeom>
          <a:solidFill>
            <a:schemeClr val="accent1"/>
          </a:solidFill>
          <a:ln w="12700">
            <a:solidFill>
              <a:schemeClr val="accent1"/>
            </a:solidFill>
            <a:prstDash val="solid"/>
          </a:ln>
        </p:spPr>
      </p:sp>
      <p:sp>
        <p:nvSpPr>
          <p:cNvPr id="14" name="Step number 1"/>
          <p:cNvSpPr txBox="1"/>
          <p:nvPr/>
        </p:nvSpPr>
        <p:spPr>
          <a:xfrm>
            <a:off x="7772400" y="2112264"/>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15" name="Step text 1"/>
          <p:cNvSpPr txBox="1"/>
          <p:nvPr/>
        </p:nvSpPr>
        <p:spPr>
          <a:xfrm>
            <a:off x="8366760" y="1783080"/>
            <a:ext cx="3090672" cy="1097280"/>
          </a:xfrm>
          <a:prstGeom prst="rect">
            <a:avLst/>
          </a:prstGeom>
          <a:noFill/>
          <a:ln/>
        </p:spPr>
        <p:txBody>
          <a:bodyPr wrap="square" lIns="0" tIns="0" rIns="0" bIns="0" rtlCol="0" anchor="ctr"/>
          <a:lstStyle/>
          <a:p>
            <a:pPr indent="0" marL="0">
              <a:buNone/>
            </a:pPr>
            <a:r>
              <a:rPr lang="en-US" sz="1400" b="1" dirty="0">
                <a:solidFill>
                  <a:schemeClr val="accent1"/>
                </a:solidFill>
              </a:rPr>
              <a:t>Weight  </a:t>
            </a:r>
            <a:pPr indent="0" marL="0">
              <a:buNone/>
            </a:pPr>
            <a:r>
              <a:rPr lang="en-US" sz="1400" dirty="0">
                <a:solidFill>
                  <a:schemeClr val="tx1"/>
                </a:solidFill>
              </a:rPr>
              <a:t>Gradient of the stage score weights the last conv feature maps</a:t>
            </a:r>
            <a:endParaRPr lang="en-US" sz="1400" dirty="0"/>
          </a:p>
        </p:txBody>
      </p:sp>
      <p:sp>
        <p:nvSpPr>
          <p:cNvPr id="16" name="Step card 2"/>
          <p:cNvSpPr/>
          <p:nvPr/>
        </p:nvSpPr>
        <p:spPr>
          <a:xfrm>
            <a:off x="7589520" y="3008376"/>
            <a:ext cx="4050792" cy="1097280"/>
          </a:xfrm>
          <a:prstGeom prst="roundRect">
            <a:avLst>
              <a:gd name="adj" fmla="val 10000"/>
            </a:avLst>
          </a:prstGeom>
          <a:solidFill>
            <a:schemeClr val="bg2">
              <a:alpha val="88000"/>
            </a:schemeClr>
          </a:solidFill>
          <a:ln w="9525">
            <a:solidFill>
              <a:srgbClr val="FFFFFF">
                <a:alpha val="12000"/>
              </a:srgbClr>
            </a:solidFill>
            <a:prstDash val="solid"/>
          </a:ln>
        </p:spPr>
      </p:sp>
      <p:sp>
        <p:nvSpPr>
          <p:cNvPr id="17" name="Step dot 2"/>
          <p:cNvSpPr/>
          <p:nvPr/>
        </p:nvSpPr>
        <p:spPr>
          <a:xfrm>
            <a:off x="7772400" y="3337560"/>
            <a:ext cx="438912" cy="438912"/>
          </a:xfrm>
          <a:prstGeom prst="ellipse">
            <a:avLst/>
          </a:prstGeom>
          <a:solidFill>
            <a:schemeClr val="accent1"/>
          </a:solidFill>
          <a:ln w="12700">
            <a:solidFill>
              <a:schemeClr val="accent1"/>
            </a:solidFill>
            <a:prstDash val="solid"/>
          </a:ln>
        </p:spPr>
      </p:sp>
      <p:sp>
        <p:nvSpPr>
          <p:cNvPr id="18" name="Step number 2"/>
          <p:cNvSpPr txBox="1"/>
          <p:nvPr/>
        </p:nvSpPr>
        <p:spPr>
          <a:xfrm>
            <a:off x="7772400" y="3337560"/>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9" name="Step text 2"/>
          <p:cNvSpPr txBox="1"/>
          <p:nvPr/>
        </p:nvSpPr>
        <p:spPr>
          <a:xfrm>
            <a:off x="8366760" y="3008376"/>
            <a:ext cx="3090672" cy="1097280"/>
          </a:xfrm>
          <a:prstGeom prst="rect">
            <a:avLst/>
          </a:prstGeom>
          <a:noFill/>
          <a:ln/>
        </p:spPr>
        <p:txBody>
          <a:bodyPr wrap="square" lIns="0" tIns="0" rIns="0" bIns="0" rtlCol="0" anchor="ctr"/>
          <a:lstStyle/>
          <a:p>
            <a:pPr indent="0" marL="0">
              <a:buNone/>
            </a:pPr>
            <a:r>
              <a:rPr lang="en-US" sz="1400" b="1" dirty="0">
                <a:solidFill>
                  <a:schemeClr val="accent1"/>
                </a:solidFill>
              </a:rPr>
              <a:t>Map  </a:t>
            </a:r>
            <a:pPr indent="0" marL="0">
              <a:buNone/>
            </a:pPr>
            <a:r>
              <a:rPr lang="en-US" sz="1400" dirty="0">
                <a:solidFill>
                  <a:schemeClr val="tx1"/>
                </a:solidFill>
              </a:rPr>
              <a:t>Weighted sum + ReLU: warm regions pushed the score up</a:t>
            </a:r>
            <a:endParaRPr lang="en-US" sz="1400" dirty="0"/>
          </a:p>
        </p:txBody>
      </p:sp>
      <p:sp>
        <p:nvSpPr>
          <p:cNvPr id="20" name="Step card 3"/>
          <p:cNvSpPr/>
          <p:nvPr/>
        </p:nvSpPr>
        <p:spPr>
          <a:xfrm>
            <a:off x="7589520" y="4233672"/>
            <a:ext cx="4050792" cy="1097280"/>
          </a:xfrm>
          <a:prstGeom prst="roundRect">
            <a:avLst>
              <a:gd name="adj" fmla="val 10000"/>
            </a:avLst>
          </a:prstGeom>
          <a:solidFill>
            <a:schemeClr val="bg2">
              <a:alpha val="88000"/>
            </a:schemeClr>
          </a:solidFill>
          <a:ln w="9525">
            <a:solidFill>
              <a:srgbClr val="FFFFFF">
                <a:alpha val="12000"/>
              </a:srgbClr>
            </a:solidFill>
            <a:prstDash val="solid"/>
          </a:ln>
        </p:spPr>
      </p:sp>
      <p:sp>
        <p:nvSpPr>
          <p:cNvPr id="21" name="Step dot 3"/>
          <p:cNvSpPr/>
          <p:nvPr/>
        </p:nvSpPr>
        <p:spPr>
          <a:xfrm>
            <a:off x="7772400" y="4562856"/>
            <a:ext cx="438912" cy="438912"/>
          </a:xfrm>
          <a:prstGeom prst="ellipse">
            <a:avLst/>
          </a:prstGeom>
          <a:solidFill>
            <a:schemeClr val="accent1"/>
          </a:solidFill>
          <a:ln w="12700">
            <a:solidFill>
              <a:schemeClr val="accent1"/>
            </a:solidFill>
            <a:prstDash val="solid"/>
          </a:ln>
        </p:spPr>
      </p:sp>
      <p:sp>
        <p:nvSpPr>
          <p:cNvPr id="22" name="Step number 3"/>
          <p:cNvSpPr txBox="1"/>
          <p:nvPr/>
        </p:nvSpPr>
        <p:spPr>
          <a:xfrm>
            <a:off x="7772400" y="4562856"/>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23" name="Step text 3"/>
          <p:cNvSpPr txBox="1"/>
          <p:nvPr/>
        </p:nvSpPr>
        <p:spPr>
          <a:xfrm>
            <a:off x="8366760" y="4233672"/>
            <a:ext cx="3090672" cy="1097280"/>
          </a:xfrm>
          <a:prstGeom prst="rect">
            <a:avLst/>
          </a:prstGeom>
          <a:noFill/>
          <a:ln/>
        </p:spPr>
        <p:txBody>
          <a:bodyPr wrap="square" lIns="0" tIns="0" rIns="0" bIns="0" rtlCol="0" anchor="ctr"/>
          <a:lstStyle/>
          <a:p>
            <a:pPr indent="0" marL="0">
              <a:buNone/>
            </a:pPr>
            <a:r>
              <a:rPr lang="en-US" sz="1400" b="1" dirty="0">
                <a:solidFill>
                  <a:schemeClr val="accent1"/>
                </a:solidFill>
              </a:rPr>
              <a:t>Audit  </a:t>
            </a:r>
            <a:pPr indent="0" marL="0">
              <a:buNone/>
            </a:pPr>
            <a:r>
              <a:rPr lang="en-US" sz="1400" dirty="0">
                <a:solidFill>
                  <a:schemeClr val="tx1"/>
                </a:solidFill>
              </a:rPr>
              <a:t>Central share of the map below 40% flags the prediction</a:t>
            </a:r>
            <a:endParaRPr lang="en-US" sz="1400" dirty="0"/>
          </a:p>
        </p:txBody>
      </p:sp>
      <p:sp>
        <p:nvSpPr>
          <p:cNvPr id="24" name="Audit stat"/>
          <p:cNvSpPr/>
          <p:nvPr/>
        </p:nvSpPr>
        <p:spPr>
          <a:xfrm>
            <a:off x="7589520" y="5486400"/>
            <a:ext cx="4050792" cy="731520"/>
          </a:xfrm>
          <a:prstGeom prst="roundRect">
            <a:avLst>
              <a:gd name="adj" fmla="val 15000"/>
            </a:avLst>
          </a:prstGeom>
          <a:solidFill>
            <a:schemeClr val="bg2">
              <a:alpha val="88000"/>
            </a:schemeClr>
          </a:solidFill>
          <a:ln w="9525">
            <a:solidFill>
              <a:srgbClr val="FFFFFF">
                <a:alpha val="12000"/>
              </a:srgbClr>
            </a:solidFill>
            <a:prstDash val="solid"/>
          </a:ln>
        </p:spPr>
      </p:sp>
      <p:sp>
        <p:nvSpPr>
          <p:cNvPr id="25" name="Audit stat value"/>
          <p:cNvSpPr txBox="1"/>
          <p:nvPr/>
        </p:nvSpPr>
        <p:spPr>
          <a:xfrm>
            <a:off x="7818120" y="5596128"/>
            <a:ext cx="3593592" cy="380390"/>
          </a:xfrm>
          <a:prstGeom prst="rect">
            <a:avLst/>
          </a:prstGeom>
          <a:noFill/>
          <a:ln/>
        </p:spPr>
        <p:txBody>
          <a:bodyPr wrap="square" lIns="0" tIns="0" rIns="0" bIns="0" rtlCol="0" anchor="ctr"/>
          <a:lstStyle/>
          <a:p>
            <a:pPr indent="0" marL="0">
              <a:buNone/>
            </a:pPr>
            <a:r>
              <a:rPr lang="en-US" sz="1800" b="1" dirty="0">
                <a:solidFill>
                  <a:schemeClr val="accent1"/>
                </a:solidFill>
                <a:latin typeface="+mj-lt" pitchFamily="34" charset="0"/>
                <a:ea typeface="+mj-lt" pitchFamily="34" charset="-122"/>
                <a:cs typeface="+mj-lt" pitchFamily="34" charset="-120"/>
              </a:rPr>
              <a:t>0 of 710 maps flagged</a:t>
            </a:r>
            <a:endParaRPr lang="en-US" sz="1800" dirty="0"/>
          </a:p>
        </p:txBody>
      </p:sp>
      <p:sp>
        <p:nvSpPr>
          <p:cNvPr id="26" name="Audit stat label"/>
          <p:cNvSpPr txBox="1"/>
          <p:nvPr/>
        </p:nvSpPr>
        <p:spPr>
          <a:xfrm>
            <a:off x="7818120" y="5910682"/>
            <a:ext cx="3593592" cy="277978"/>
          </a:xfrm>
          <a:prstGeom prst="rect">
            <a:avLst/>
          </a:prstGeom>
          <a:noFill/>
          <a:ln/>
        </p:spPr>
        <p:txBody>
          <a:bodyPr wrap="square" lIns="0" tIns="0" rIns="0" bIns="0" rtlCol="0" anchor="t"/>
          <a:lstStyle/>
          <a:p>
            <a:pPr indent="0" marL="0">
              <a:buNone/>
            </a:pPr>
            <a:endParaRPr lang="en-US" sz="1300" dirty="0"/>
          </a:p>
        </p:txBody>
      </p:sp>
      <p:sp>
        <p:nvSpPr>
          <p:cNvPr id="25" name="Slide Number Placeholder 0"/>
          <p:cNvSpPr>
            <a:spLocks noGrp="1"/>
          </p:cNvSpPr>
          <p:nvPr>
            <p:ph type="sldNum" sz="quarter" idx="4294967295"/>
          </p:nvPr>
        </p:nvSpPr>
        <p:spPr>
          <a:xfrm>
            <a:off x="11064240" y="6419088"/>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E7F9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Presenter badge"/>
          <p:cNvSpPr/>
          <p:nvPr/>
        </p:nvSpPr>
        <p:spPr>
          <a:xfrm>
            <a:off x="548640" y="384048"/>
            <a:ext cx="365760" cy="365760"/>
          </a:xfrm>
          <a:prstGeom prst="ellipse">
            <a:avLst/>
          </a:prstGeom>
          <a:solidFill>
            <a:schemeClr val="accent1"/>
          </a:solidFill>
          <a:ln w="12700">
            <a:solidFill>
              <a:schemeClr val="accent1"/>
            </a:solidFill>
            <a:prstDash val="solid"/>
          </a:ln>
        </p:spPr>
      </p:sp>
      <p:sp>
        <p:nvSpPr>
          <p:cNvPr id="3" name="Presenter initials"/>
          <p:cNvSpPr txBox="1"/>
          <p:nvPr/>
        </p:nvSpPr>
        <p:spPr>
          <a:xfrm>
            <a:off x="548640" y="384048"/>
            <a:ext cx="365760" cy="365760"/>
          </a:xfrm>
          <a:prstGeom prst="rect">
            <a:avLst/>
          </a:prstGeom>
          <a:noFill/>
          <a:ln/>
        </p:spPr>
        <p:txBody>
          <a:bodyPr wrap="square" lIns="0" tIns="0" rIns="0" bIns="0" rtlCol="0" anchor="ctr"/>
          <a:lstStyle/>
          <a:p>
            <a:pPr algn="ctr" indent="0" marL="0">
              <a:buNone/>
            </a:pPr>
            <a:r>
              <a:rPr lang="en-US" sz="1100" b="1" dirty="0">
                <a:solidFill>
                  <a:schemeClr val="bg1"/>
                </a:solidFill>
              </a:rPr>
              <a:t>TP</a:t>
            </a:r>
            <a:endParaRPr lang="en-US" sz="1100" dirty="0"/>
          </a:p>
        </p:txBody>
      </p:sp>
      <p:sp>
        <p:nvSpPr>
          <p:cNvPr id="4" name="Presenter line"/>
          <p:cNvSpPr txBox="1"/>
          <p:nvPr/>
        </p:nvSpPr>
        <p:spPr>
          <a:xfrm>
            <a:off x="1051560" y="384048"/>
            <a:ext cx="9601200" cy="365760"/>
          </a:xfrm>
          <a:prstGeom prst="rect">
            <a:avLst/>
          </a:prstGeom>
          <a:noFill/>
          <a:ln/>
        </p:spPr>
        <p:txBody>
          <a:bodyPr wrap="square" lIns="0" tIns="0" rIns="0" bIns="0" rtlCol="0" anchor="ctr"/>
          <a:lstStyle/>
          <a:p>
            <a:pPr indent="0" marL="0">
              <a:buNone/>
            </a:pPr>
            <a:r>
              <a:rPr lang="en-US" sz="1200" b="1" spc="200" kern="0" dirty="0">
                <a:solidFill>
                  <a:schemeClr val="accent1"/>
                </a:solidFill>
              </a:rPr>
              <a:t>TANEESHA RAJIV PRASAD</a:t>
            </a:r>
            <a:pPr indent="0" marL="0">
              <a:buNone/>
            </a:pPr>
            <a:r>
              <a:rPr lang="en-US" sz="1200" dirty="0">
                <a:solidFill>
                  <a:schemeClr val="tx2"/>
                </a:solidFill>
              </a:rPr>
              <a:t>   ·   Explainability and robustness</a:t>
            </a:r>
            <a:endParaRPr lang="en-US" sz="1200" dirty="0"/>
          </a:p>
        </p:txBody>
      </p:sp>
      <p:sp>
        <p:nvSpPr>
          <p:cNvPr id="5" name="Text 0"/>
          <p:cNvSpPr/>
          <p:nvPr>
            <p:ph idx="100" type="title" hasCustomPrompt="1"/>
          </p:nvPr>
        </p:nvSpPr>
        <p:spPr>
          <a:xfrm>
            <a:off x="548640" y="868680"/>
            <a:ext cx="11091672" cy="731520"/>
          </a:xfrm>
          <a:prstGeom prst="rect">
            <a:avLst/>
          </a:prstGeom>
          <a:noFill/>
          <a:ln/>
        </p:spPr>
        <p:txBody>
          <a:bodyPr wrap="square" lIns="0" tIns="0" rIns="0" bIns="0" rtlCol="0" anchor="ctr"/>
          <a:lstStyle/>
          <a:p>
            <a:pPr algn="l" indent="0" marL="0">
              <a:buNone/>
            </a:pPr>
            <a:r>
              <a:rPr lang="en-US" sz="3400" b="1" dirty="0">
                <a:solidFill>
                  <a:schemeClr val="tx1"/>
                </a:solidFill>
              </a:rPr>
              <a:t>Clean-data scores do not survive degraded images</a:t>
            </a:r>
            <a:endParaRPr lang="en-US" sz="3400" dirty="0"/>
          </a:p>
        </p:txBody>
      </p:sp>
      <p:sp>
        <p:nvSpPr>
          <p:cNvPr id="6" name="Robustness chart card"/>
          <p:cNvSpPr/>
          <p:nvPr/>
        </p:nvSpPr>
        <p:spPr>
          <a:xfrm>
            <a:off x="548640" y="1783080"/>
            <a:ext cx="6400800" cy="4434840"/>
          </a:xfrm>
          <a:prstGeom prst="roundRect">
            <a:avLst>
              <a:gd name="adj" fmla="val 2474"/>
            </a:avLst>
          </a:prstGeom>
          <a:solidFill>
            <a:schemeClr val="bg2">
              <a:alpha val="88000"/>
            </a:schemeClr>
          </a:solidFill>
          <a:ln w="9525">
            <a:solidFill>
              <a:srgbClr val="FFFFFF">
                <a:alpha val="12000"/>
              </a:srgbClr>
            </a:solidFill>
            <a:prstDash val="solid"/>
          </a:ln>
        </p:spPr>
      </p:sp>
      <p:graphicFrame>
        <p:nvGraphicFramePr>
          <p:cNvPr id="7" name="Chart 0" descr=""/>
          <p:cNvGraphicFramePr/>
          <p:nvPr/>
        </p:nvGraphicFramePr>
        <p:xfrm>
          <a:off x="685800" y="1874520"/>
          <a:ext cx="6126480" cy="4251960"/>
        </p:xfrm>
        <a:graphic xmlns:a="http://schemas.openxmlformats.org/drawingml/2006/main">
          <a:graphicData uri="http://schemas.openxmlformats.org/drawingml/2006/chart">
            <c:chart xmlns:c="http://schemas.openxmlformats.org/drawingml/2006/chart" r:id="rId1"/>
          </a:graphicData>
        </a:graphic>
      </p:graphicFrame>
      <p:sp>
        <p:nvSpPr>
          <p:cNvPr id="8" name="Noise stat"/>
          <p:cNvSpPr/>
          <p:nvPr/>
        </p:nvSpPr>
        <p:spPr>
          <a:xfrm>
            <a:off x="7223760" y="1783080"/>
            <a:ext cx="4416552" cy="1371600"/>
          </a:xfrm>
          <a:prstGeom prst="roundRect">
            <a:avLst>
              <a:gd name="adj" fmla="val 8000"/>
            </a:avLst>
          </a:prstGeom>
          <a:solidFill>
            <a:schemeClr val="bg2">
              <a:alpha val="88000"/>
            </a:schemeClr>
          </a:solidFill>
          <a:ln w="9525">
            <a:solidFill>
              <a:srgbClr val="FFFFFF">
                <a:alpha val="12000"/>
              </a:srgbClr>
            </a:solidFill>
            <a:prstDash val="solid"/>
          </a:ln>
        </p:spPr>
      </p:sp>
      <p:sp>
        <p:nvSpPr>
          <p:cNvPr id="9" name="Noise stat value"/>
          <p:cNvSpPr txBox="1"/>
          <p:nvPr/>
        </p:nvSpPr>
        <p:spPr>
          <a:xfrm>
            <a:off x="7452360" y="1892808"/>
            <a:ext cx="3959352" cy="713232"/>
          </a:xfrm>
          <a:prstGeom prst="rect">
            <a:avLst/>
          </a:prstGeom>
          <a:noFill/>
          <a:ln/>
        </p:spPr>
        <p:txBody>
          <a:bodyPr wrap="square" lIns="0" tIns="0" rIns="0" bIns="0" rtlCol="0" anchor="ctr"/>
          <a:lstStyle/>
          <a:p>
            <a:pPr indent="0" marL="0">
              <a:buNone/>
            </a:pPr>
            <a:r>
              <a:rPr lang="en-US" sz="3000" b="1" dirty="0">
                <a:solidFill>
                  <a:schemeClr val="accent2"/>
                </a:solidFill>
                <a:latin typeface="+mj-lt" pitchFamily="34" charset="0"/>
                <a:ea typeface="+mj-lt" pitchFamily="34" charset="-122"/>
                <a:cs typeface="+mj-lt" pitchFamily="34" charset="-120"/>
              </a:rPr>
              <a:t>0.987 → 0.648</a:t>
            </a:r>
            <a:endParaRPr lang="en-US" sz="3000" dirty="0"/>
          </a:p>
        </p:txBody>
      </p:sp>
      <p:sp>
        <p:nvSpPr>
          <p:cNvPr id="10" name="Noise stat label"/>
          <p:cNvSpPr txBox="1"/>
          <p:nvPr/>
        </p:nvSpPr>
        <p:spPr>
          <a:xfrm>
            <a:off x="7452360" y="2578608"/>
            <a:ext cx="3959352" cy="521208"/>
          </a:xfrm>
          <a:prstGeom prst="rect">
            <a:avLst/>
          </a:prstGeom>
          <a:noFill/>
          <a:ln/>
        </p:spPr>
        <p:txBody>
          <a:bodyPr wrap="square" lIns="0" tIns="0" rIns="0" bIns="0" rtlCol="0" anchor="t"/>
          <a:lstStyle/>
          <a:p>
            <a:pPr indent="0" marL="0">
              <a:buNone/>
            </a:pPr>
            <a:r>
              <a:rPr lang="en-US" sz="1300" dirty="0">
                <a:solidFill>
                  <a:schemeClr val="tx2"/>
                </a:solidFill>
              </a:rPr>
              <a:t>macro F1 with Gaussian noise σ = 0.10</a:t>
            </a:r>
            <a:endParaRPr lang="en-US" sz="1300" dirty="0"/>
          </a:p>
        </p:txBody>
      </p:sp>
      <p:sp>
        <p:nvSpPr>
          <p:cNvPr id="11" name="Recall stat"/>
          <p:cNvSpPr/>
          <p:nvPr/>
        </p:nvSpPr>
        <p:spPr>
          <a:xfrm>
            <a:off x="7223760" y="3291840"/>
            <a:ext cx="4416552" cy="1371600"/>
          </a:xfrm>
          <a:prstGeom prst="roundRect">
            <a:avLst>
              <a:gd name="adj" fmla="val 8000"/>
            </a:avLst>
          </a:prstGeom>
          <a:solidFill>
            <a:schemeClr val="bg2">
              <a:alpha val="88000"/>
            </a:schemeClr>
          </a:solidFill>
          <a:ln w="9525">
            <a:solidFill>
              <a:srgbClr val="FFFFFF">
                <a:alpha val="12000"/>
              </a:srgbClr>
            </a:solidFill>
            <a:prstDash val="solid"/>
          </a:ln>
        </p:spPr>
      </p:sp>
      <p:sp>
        <p:nvSpPr>
          <p:cNvPr id="12" name="Recall stat value"/>
          <p:cNvSpPr txBox="1"/>
          <p:nvPr/>
        </p:nvSpPr>
        <p:spPr>
          <a:xfrm>
            <a:off x="7452360" y="3401568"/>
            <a:ext cx="3959352" cy="713232"/>
          </a:xfrm>
          <a:prstGeom prst="rect">
            <a:avLst/>
          </a:prstGeom>
          <a:noFill/>
          <a:ln/>
        </p:spPr>
        <p:txBody>
          <a:bodyPr wrap="square" lIns="0" tIns="0" rIns="0" bIns="0" rtlCol="0" anchor="ctr"/>
          <a:lstStyle/>
          <a:p>
            <a:pPr indent="0" marL="0">
              <a:buNone/>
            </a:pPr>
            <a:r>
              <a:rPr lang="en-US" sz="3200" b="1" dirty="0">
                <a:solidFill>
                  <a:schemeClr val="accent4"/>
                </a:solidFill>
                <a:latin typeface="+mj-lt" pitchFamily="34" charset="0"/>
                <a:ea typeface="+mj-lt" pitchFamily="34" charset="-122"/>
                <a:cs typeface="+mj-lt" pitchFamily="34" charset="-120"/>
              </a:rPr>
              <a:t>≈ 0.89</a:t>
            </a:r>
            <a:endParaRPr lang="en-US" sz="3200" dirty="0"/>
          </a:p>
        </p:txBody>
      </p:sp>
      <p:sp>
        <p:nvSpPr>
          <p:cNvPr id="13" name="Recall stat label"/>
          <p:cNvSpPr txBox="1"/>
          <p:nvPr/>
        </p:nvSpPr>
        <p:spPr>
          <a:xfrm>
            <a:off x="7452360" y="4087368"/>
            <a:ext cx="3959352" cy="521208"/>
          </a:xfrm>
          <a:prstGeom prst="rect">
            <a:avLst/>
          </a:prstGeom>
          <a:noFill/>
          <a:ln/>
        </p:spPr>
        <p:txBody>
          <a:bodyPr wrap="square" lIns="0" tIns="0" rIns="0" bIns="0" rtlCol="0" anchor="t"/>
          <a:lstStyle/>
          <a:p>
            <a:pPr indent="0" marL="0">
              <a:buNone/>
            </a:pPr>
            <a:r>
              <a:rPr lang="en-US" sz="1300" dirty="0">
                <a:solidFill>
                  <a:schemeClr val="tx2"/>
                </a:solidFill>
              </a:rPr>
              <a:t>early-detection recall under brightness or contrast shifts: impaired read as normal</a:t>
            </a:r>
            <a:endParaRPr lang="en-US" sz="1300" dirty="0"/>
          </a:p>
        </p:txBody>
      </p:sp>
      <p:sp>
        <p:nvSpPr>
          <p:cNvPr id="14" name="Misread screenshot frame"/>
          <p:cNvSpPr/>
          <p:nvPr/>
        </p:nvSpPr>
        <p:spPr>
          <a:xfrm>
            <a:off x="7223760" y="4873752"/>
            <a:ext cx="4416552" cy="883340"/>
          </a:xfrm>
          <a:prstGeom prst="roundRect">
            <a:avLst>
              <a:gd name="adj" fmla="val 12422"/>
            </a:avLst>
          </a:prstGeom>
          <a:solidFill>
            <a:schemeClr val="bg2"/>
          </a:solidFill>
          <a:ln w="9525">
            <a:solidFill>
              <a:srgbClr val="FFFFFF">
                <a:alpha val="20000"/>
              </a:srgbClr>
            </a:solidFill>
            <a:prstDash val="solid"/>
          </a:ln>
        </p:spPr>
      </p:sp>
      <p:pic>
        <p:nvPicPr>
          <p:cNvPr id="15" name="Misread screenshot" descr="Screenshot: a true early-MCI slice predicted as normal cognition with 78 percent confidence">    </p:cNvPr>
          <p:cNvPicPr>
            <a:picLocks noChangeAspect="1"/>
          </p:cNvPicPr>
          <p:nvPr/>
        </p:nvPicPr>
        <p:blipFill>
          <a:blip r:embed="rId2"/>
          <a:stretch>
            <a:fillRect/>
          </a:stretch>
        </p:blipFill>
        <p:spPr>
          <a:xfrm>
            <a:off x="7296912" y="4946904"/>
            <a:ext cx="4270248" cy="737036"/>
          </a:xfrm>
          <a:prstGeom prst="rect">
            <a:avLst/>
          </a:prstGeom>
        </p:spPr>
      </p:pic>
      <p:sp>
        <p:nvSpPr>
          <p:cNvPr id="16" name="Misread caption"/>
          <p:cNvSpPr txBox="1"/>
          <p:nvPr/>
        </p:nvSpPr>
        <p:spPr>
          <a:xfrm>
            <a:off x="7223760" y="5897880"/>
            <a:ext cx="4416552" cy="320040"/>
          </a:xfrm>
          <a:prstGeom prst="rect">
            <a:avLst/>
          </a:prstGeom>
          <a:noFill/>
          <a:ln/>
        </p:spPr>
        <p:txBody>
          <a:bodyPr wrap="square" lIns="0" tIns="0" rIns="0" bIns="0" rtlCol="0" anchor="t"/>
          <a:lstStyle/>
          <a:p>
            <a:pPr indent="0" marL="0">
              <a:buNone/>
            </a:pPr>
            <a:r>
              <a:rPr lang="en-US" sz="1200" dirty="0">
                <a:solidFill>
                  <a:schemeClr val="tx2"/>
                </a:solidFill>
              </a:rPr>
              <a:t>A real miss from the prototype: true EMCI read as NC</a:t>
            </a:r>
            <a:endParaRPr lang="en-US" sz="1200" dirty="0"/>
          </a:p>
        </p:txBody>
      </p:sp>
      <p:sp>
        <p:nvSpPr>
          <p:cNvPr id="25" name="Slide Number Placeholder 0"/>
          <p:cNvSpPr>
            <a:spLocks noGrp="1"/>
          </p:cNvSpPr>
          <p:nvPr>
            <p:ph type="sldNum" sz="quarter" idx="4294967295"/>
          </p:nvPr>
        </p:nvSpPr>
        <p:spPr>
          <a:xfrm>
            <a:off x="11064240" y="6419088"/>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E7F9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Presenter badge"/>
          <p:cNvSpPr/>
          <p:nvPr/>
        </p:nvSpPr>
        <p:spPr>
          <a:xfrm>
            <a:off x="548640" y="384048"/>
            <a:ext cx="365760" cy="365760"/>
          </a:xfrm>
          <a:prstGeom prst="ellipse">
            <a:avLst/>
          </a:prstGeom>
          <a:solidFill>
            <a:schemeClr val="accent1"/>
          </a:solidFill>
          <a:ln w="12700">
            <a:solidFill>
              <a:schemeClr val="accent1"/>
            </a:solidFill>
            <a:prstDash val="solid"/>
          </a:ln>
        </p:spPr>
      </p:sp>
      <p:sp>
        <p:nvSpPr>
          <p:cNvPr id="3" name="Presenter initials"/>
          <p:cNvSpPr txBox="1"/>
          <p:nvPr/>
        </p:nvSpPr>
        <p:spPr>
          <a:xfrm>
            <a:off x="548640" y="384048"/>
            <a:ext cx="365760" cy="365760"/>
          </a:xfrm>
          <a:prstGeom prst="rect">
            <a:avLst/>
          </a:prstGeom>
          <a:noFill/>
          <a:ln/>
        </p:spPr>
        <p:txBody>
          <a:bodyPr wrap="square" lIns="0" tIns="0" rIns="0" bIns="0" rtlCol="0" anchor="ctr"/>
          <a:lstStyle/>
          <a:p>
            <a:pPr algn="ctr" indent="0" marL="0">
              <a:buNone/>
            </a:pPr>
            <a:r>
              <a:rPr lang="en-US" sz="1100" b="1" dirty="0">
                <a:solidFill>
                  <a:schemeClr val="bg1"/>
                </a:solidFill>
              </a:rPr>
              <a:t>NH</a:t>
            </a:r>
            <a:endParaRPr lang="en-US" sz="1100" dirty="0"/>
          </a:p>
        </p:txBody>
      </p:sp>
      <p:sp>
        <p:nvSpPr>
          <p:cNvPr id="4" name="Presenter line"/>
          <p:cNvSpPr txBox="1"/>
          <p:nvPr/>
        </p:nvSpPr>
        <p:spPr>
          <a:xfrm>
            <a:off x="1051560" y="384048"/>
            <a:ext cx="9601200" cy="365760"/>
          </a:xfrm>
          <a:prstGeom prst="rect">
            <a:avLst/>
          </a:prstGeom>
          <a:noFill/>
          <a:ln/>
        </p:spPr>
        <p:txBody>
          <a:bodyPr wrap="square" lIns="0" tIns="0" rIns="0" bIns="0" rtlCol="0" anchor="ctr"/>
          <a:lstStyle/>
          <a:p>
            <a:pPr indent="0" marL="0">
              <a:buNone/>
            </a:pPr>
            <a:r>
              <a:rPr lang="en-US" sz="1200" b="1" spc="200" kern="0" dirty="0">
                <a:solidFill>
                  <a:schemeClr val="accent1"/>
                </a:solidFill>
              </a:rPr>
              <a:t>NITHYASHREE HEBBAR</a:t>
            </a:r>
            <a:pPr indent="0" marL="0">
              <a:buNone/>
            </a:pPr>
            <a:r>
              <a:rPr lang="en-US" sz="1200" dirty="0">
                <a:solidFill>
                  <a:schemeClr val="tx2"/>
                </a:solidFill>
              </a:rPr>
              <a:t>   ·   The handwriting module</a:t>
            </a:r>
            <a:endParaRPr lang="en-US" sz="1200" dirty="0"/>
          </a:p>
        </p:txBody>
      </p:sp>
      <p:sp>
        <p:nvSpPr>
          <p:cNvPr id="5" name="Text 0"/>
          <p:cNvSpPr/>
          <p:nvPr>
            <p:ph idx="100" type="title" hasCustomPrompt="1"/>
          </p:nvPr>
        </p:nvSpPr>
        <p:spPr>
          <a:xfrm>
            <a:off x="548640" y="868680"/>
            <a:ext cx="11091672" cy="731520"/>
          </a:xfrm>
          <a:prstGeom prst="rect">
            <a:avLst/>
          </a:prstGeom>
          <a:noFill/>
          <a:ln/>
        </p:spPr>
        <p:txBody>
          <a:bodyPr wrap="square" lIns="0" tIns="0" rIns="0" bIns="0" rtlCol="0" anchor="ctr"/>
          <a:lstStyle/>
          <a:p>
            <a:pPr algn="l" indent="0" marL="0">
              <a:buNone/>
            </a:pPr>
            <a:r>
              <a:rPr lang="en-US" sz="3400" b="1" dirty="0">
                <a:solidFill>
                  <a:schemeClr val="tx1"/>
                </a:solidFill>
              </a:rPr>
              <a:t>Handwriting: the pen's motion, not the picture</a:t>
            </a:r>
            <a:endParaRPr lang="en-US" sz="3400" dirty="0"/>
          </a:p>
        </p:txBody>
      </p:sp>
      <p:sp>
        <p:nvSpPr>
          <p:cNvPr id="6" name="Live canvas screenshot frame"/>
          <p:cNvSpPr/>
          <p:nvPr/>
        </p:nvSpPr>
        <p:spPr>
          <a:xfrm>
            <a:off x="548640" y="1783080"/>
            <a:ext cx="4992624" cy="4157271"/>
          </a:xfrm>
          <a:prstGeom prst="roundRect">
            <a:avLst>
              <a:gd name="adj" fmla="val 2639"/>
            </a:avLst>
          </a:prstGeom>
          <a:solidFill>
            <a:schemeClr val="bg2"/>
          </a:solidFill>
          <a:ln w="9525">
            <a:solidFill>
              <a:srgbClr val="FFFFFF">
                <a:alpha val="20000"/>
              </a:srgbClr>
            </a:solidFill>
            <a:prstDash val="solid"/>
          </a:ln>
        </p:spPr>
      </p:sp>
      <p:pic>
        <p:nvPicPr>
          <p:cNvPr id="7" name="Live canvas screenshot" descr="Screenshot: a spiral drawn live on the handwriting canvas">    </p:cNvPr>
          <p:cNvPicPr>
            <a:picLocks noChangeAspect="1"/>
          </p:cNvPicPr>
          <p:nvPr/>
        </p:nvPicPr>
        <p:blipFill>
          <a:blip r:embed="rId1"/>
          <a:stretch>
            <a:fillRect/>
          </a:stretch>
        </p:blipFill>
        <p:spPr>
          <a:xfrm>
            <a:off x="621792" y="1856232"/>
            <a:ext cx="4846320" cy="4010967"/>
          </a:xfrm>
          <a:prstGeom prst="rect">
            <a:avLst/>
          </a:prstGeom>
        </p:spPr>
      </p:pic>
      <p:sp>
        <p:nvSpPr>
          <p:cNvPr id="8" name="Canvas caption"/>
          <p:cNvSpPr txBox="1"/>
          <p:nvPr/>
        </p:nvSpPr>
        <p:spPr>
          <a:xfrm>
            <a:off x="621792" y="6004359"/>
            <a:ext cx="4846320" cy="274320"/>
          </a:xfrm>
          <a:prstGeom prst="rect">
            <a:avLst/>
          </a:prstGeom>
          <a:noFill/>
          <a:ln/>
        </p:spPr>
        <p:txBody>
          <a:bodyPr wrap="square" lIns="0" tIns="0" rIns="0" bIns="0" rtlCol="0" anchor="t"/>
          <a:lstStyle/>
          <a:p>
            <a:pPr indent="0" marL="0">
              <a:buNone/>
            </a:pPr>
            <a:r>
              <a:rPr lang="en-US" sz="1200" dirty="0">
                <a:solidFill>
                  <a:schemeClr val="tx2"/>
                </a:solidFill>
              </a:rPr>
              <a:t>A live drawing: every pen point is stored with its timestamp</a:t>
            </a:r>
            <a:endParaRPr lang="en-US" sz="1200" dirty="0"/>
          </a:p>
        </p:txBody>
      </p:sp>
      <p:sp>
        <p:nvSpPr>
          <p:cNvPr id="9" name="Features label"/>
          <p:cNvSpPr txBox="1"/>
          <p:nvPr/>
        </p:nvSpPr>
        <p:spPr>
          <a:xfrm>
            <a:off x="6446520" y="1783080"/>
            <a:ext cx="5120640" cy="274320"/>
          </a:xfrm>
          <a:prstGeom prst="rect">
            <a:avLst/>
          </a:prstGeom>
          <a:noFill/>
          <a:ln/>
        </p:spPr>
        <p:txBody>
          <a:bodyPr wrap="square" lIns="0" tIns="0" rIns="0" bIns="0" rtlCol="0" anchor="t"/>
          <a:lstStyle/>
          <a:p>
            <a:pPr indent="0" marL="0">
              <a:buNone/>
            </a:pPr>
            <a:r>
              <a:rPr lang="en-US" sz="1200" b="1" spc="300" kern="0" dirty="0">
                <a:solidFill>
                  <a:schemeClr val="accent1"/>
                </a:solidFill>
              </a:rPr>
              <a:t>NINE MEASUREMENTS FROM (x, y, t)</a:t>
            </a:r>
            <a:endParaRPr lang="en-US" sz="1200" dirty="0"/>
          </a:p>
        </p:txBody>
      </p:sp>
      <p:sp>
        <p:nvSpPr>
          <p:cNvPr id="10" name="Feature card 1"/>
          <p:cNvSpPr/>
          <p:nvPr/>
        </p:nvSpPr>
        <p:spPr>
          <a:xfrm>
            <a:off x="6446520" y="2148840"/>
            <a:ext cx="1627632" cy="987552"/>
          </a:xfrm>
          <a:prstGeom prst="roundRect">
            <a:avLst>
              <a:gd name="adj" fmla="val 11111"/>
            </a:avLst>
          </a:prstGeom>
          <a:solidFill>
            <a:schemeClr val="bg2">
              <a:alpha val="88000"/>
            </a:schemeClr>
          </a:solidFill>
          <a:ln w="9525">
            <a:solidFill>
              <a:srgbClr val="FFFFFF">
                <a:alpha val="12000"/>
              </a:srgbClr>
            </a:solidFill>
            <a:prstDash val="solid"/>
          </a:ln>
        </p:spPr>
      </p:sp>
      <p:sp>
        <p:nvSpPr>
          <p:cNvPr id="11" name="Feature name 1"/>
          <p:cNvSpPr txBox="1"/>
          <p:nvPr/>
        </p:nvSpPr>
        <p:spPr>
          <a:xfrm>
            <a:off x="6556248" y="2258568"/>
            <a:ext cx="1408176" cy="457200"/>
          </a:xfrm>
          <a:prstGeom prst="rect">
            <a:avLst/>
          </a:prstGeom>
          <a:noFill/>
          <a:ln/>
        </p:spPr>
        <p:txBody>
          <a:bodyPr wrap="square" lIns="0" tIns="0" rIns="0" bIns="0" rtlCol="0" anchor="t"/>
          <a:lstStyle/>
          <a:p>
            <a:pPr indent="0" marL="0">
              <a:buNone/>
            </a:pPr>
            <a:r>
              <a:rPr lang="en-US" sz="1400" b="1" dirty="0">
                <a:solidFill>
                  <a:schemeClr val="tx1"/>
                </a:solidFill>
              </a:rPr>
              <a:t>Drawing time</a:t>
            </a:r>
            <a:endParaRPr lang="en-US" sz="1400" dirty="0"/>
          </a:p>
        </p:txBody>
      </p:sp>
      <p:sp>
        <p:nvSpPr>
          <p:cNvPr id="12" name="Feature unit 1"/>
          <p:cNvSpPr txBox="1"/>
          <p:nvPr/>
        </p:nvSpPr>
        <p:spPr>
          <a:xfrm>
            <a:off x="6556248" y="2752344"/>
            <a:ext cx="1408176" cy="274320"/>
          </a:xfrm>
          <a:prstGeom prst="rect">
            <a:avLst/>
          </a:prstGeom>
          <a:noFill/>
          <a:ln/>
        </p:spPr>
        <p:txBody>
          <a:bodyPr wrap="square" lIns="0" tIns="0" rIns="0" bIns="0" rtlCol="0" anchor="t"/>
          <a:lstStyle/>
          <a:p>
            <a:pPr indent="0" marL="0">
              <a:buNone/>
            </a:pPr>
            <a:r>
              <a:rPr lang="en-US" sz="1200" dirty="0">
                <a:solidFill>
                  <a:schemeClr val="tx2"/>
                </a:solidFill>
              </a:rPr>
              <a:t>seconds</a:t>
            </a:r>
            <a:endParaRPr lang="en-US" sz="1200" dirty="0"/>
          </a:p>
        </p:txBody>
      </p:sp>
      <p:sp>
        <p:nvSpPr>
          <p:cNvPr id="13" name="Feature card 2"/>
          <p:cNvSpPr/>
          <p:nvPr/>
        </p:nvSpPr>
        <p:spPr>
          <a:xfrm>
            <a:off x="8183880" y="2148840"/>
            <a:ext cx="1627632" cy="987552"/>
          </a:xfrm>
          <a:prstGeom prst="roundRect">
            <a:avLst>
              <a:gd name="adj" fmla="val 11111"/>
            </a:avLst>
          </a:prstGeom>
          <a:solidFill>
            <a:schemeClr val="bg2">
              <a:alpha val="88000"/>
            </a:schemeClr>
          </a:solidFill>
          <a:ln w="9525">
            <a:solidFill>
              <a:srgbClr val="FFFFFF">
                <a:alpha val="12000"/>
              </a:srgbClr>
            </a:solidFill>
            <a:prstDash val="solid"/>
          </a:ln>
        </p:spPr>
      </p:sp>
      <p:sp>
        <p:nvSpPr>
          <p:cNvPr id="14" name="Feature name 2"/>
          <p:cNvSpPr txBox="1"/>
          <p:nvPr/>
        </p:nvSpPr>
        <p:spPr>
          <a:xfrm>
            <a:off x="8293608" y="2258568"/>
            <a:ext cx="1408176" cy="457200"/>
          </a:xfrm>
          <a:prstGeom prst="rect">
            <a:avLst/>
          </a:prstGeom>
          <a:noFill/>
          <a:ln/>
        </p:spPr>
        <p:txBody>
          <a:bodyPr wrap="square" lIns="0" tIns="0" rIns="0" bIns="0" rtlCol="0" anchor="t"/>
          <a:lstStyle/>
          <a:p>
            <a:pPr indent="0" marL="0">
              <a:buNone/>
            </a:pPr>
            <a:r>
              <a:rPr lang="en-US" sz="1400" b="1" dirty="0">
                <a:solidFill>
                  <a:schemeClr val="tx1"/>
                </a:solidFill>
              </a:rPr>
              <a:t>Mean pen speed</a:t>
            </a:r>
            <a:endParaRPr lang="en-US" sz="1400" dirty="0"/>
          </a:p>
        </p:txBody>
      </p:sp>
      <p:sp>
        <p:nvSpPr>
          <p:cNvPr id="15" name="Feature unit 2"/>
          <p:cNvSpPr txBox="1"/>
          <p:nvPr/>
        </p:nvSpPr>
        <p:spPr>
          <a:xfrm>
            <a:off x="8293608" y="2752344"/>
            <a:ext cx="1408176" cy="274320"/>
          </a:xfrm>
          <a:prstGeom prst="rect">
            <a:avLst/>
          </a:prstGeom>
          <a:noFill/>
          <a:ln/>
        </p:spPr>
        <p:txBody>
          <a:bodyPr wrap="square" lIns="0" tIns="0" rIns="0" bIns="0" rtlCol="0" anchor="t"/>
          <a:lstStyle/>
          <a:p>
            <a:pPr indent="0" marL="0">
              <a:buNone/>
            </a:pPr>
            <a:r>
              <a:rPr lang="en-US" sz="1200" dirty="0">
                <a:solidFill>
                  <a:schemeClr val="tx2"/>
                </a:solidFill>
              </a:rPr>
              <a:t>path per second</a:t>
            </a:r>
            <a:endParaRPr lang="en-US" sz="1200" dirty="0"/>
          </a:p>
        </p:txBody>
      </p:sp>
      <p:sp>
        <p:nvSpPr>
          <p:cNvPr id="16" name="Feature card 3"/>
          <p:cNvSpPr/>
          <p:nvPr/>
        </p:nvSpPr>
        <p:spPr>
          <a:xfrm>
            <a:off x="9921240" y="2148840"/>
            <a:ext cx="1627632" cy="987552"/>
          </a:xfrm>
          <a:prstGeom prst="roundRect">
            <a:avLst>
              <a:gd name="adj" fmla="val 11111"/>
            </a:avLst>
          </a:prstGeom>
          <a:solidFill>
            <a:schemeClr val="bg2">
              <a:alpha val="88000"/>
            </a:schemeClr>
          </a:solidFill>
          <a:ln w="9525">
            <a:solidFill>
              <a:srgbClr val="FFFFFF">
                <a:alpha val="12000"/>
              </a:srgbClr>
            </a:solidFill>
            <a:prstDash val="solid"/>
          </a:ln>
        </p:spPr>
      </p:sp>
      <p:sp>
        <p:nvSpPr>
          <p:cNvPr id="17" name="Feature name 3"/>
          <p:cNvSpPr txBox="1"/>
          <p:nvPr/>
        </p:nvSpPr>
        <p:spPr>
          <a:xfrm>
            <a:off x="10030968" y="2258568"/>
            <a:ext cx="1408176" cy="457200"/>
          </a:xfrm>
          <a:prstGeom prst="rect">
            <a:avLst/>
          </a:prstGeom>
          <a:noFill/>
          <a:ln/>
        </p:spPr>
        <p:txBody>
          <a:bodyPr wrap="square" lIns="0" tIns="0" rIns="0" bIns="0" rtlCol="0" anchor="t"/>
          <a:lstStyle/>
          <a:p>
            <a:pPr indent="0" marL="0">
              <a:buNone/>
            </a:pPr>
            <a:r>
              <a:rPr lang="en-US" sz="1400" b="1" dirty="0">
                <a:solidFill>
                  <a:schemeClr val="tx1"/>
                </a:solidFill>
              </a:rPr>
              <a:t>Speed variability</a:t>
            </a:r>
            <a:endParaRPr lang="en-US" sz="1400" dirty="0"/>
          </a:p>
        </p:txBody>
      </p:sp>
      <p:sp>
        <p:nvSpPr>
          <p:cNvPr id="18" name="Feature unit 3"/>
          <p:cNvSpPr txBox="1"/>
          <p:nvPr/>
        </p:nvSpPr>
        <p:spPr>
          <a:xfrm>
            <a:off x="10030968" y="2752344"/>
            <a:ext cx="1408176" cy="274320"/>
          </a:xfrm>
          <a:prstGeom prst="rect">
            <a:avLst/>
          </a:prstGeom>
          <a:noFill/>
          <a:ln/>
        </p:spPr>
        <p:txBody>
          <a:bodyPr wrap="square" lIns="0" tIns="0" rIns="0" bIns="0" rtlCol="0" anchor="t"/>
          <a:lstStyle/>
          <a:p>
            <a:pPr indent="0" marL="0">
              <a:buNone/>
            </a:pPr>
            <a:r>
              <a:rPr lang="en-US" sz="1200" dirty="0">
                <a:solidFill>
                  <a:schemeClr val="tx2"/>
                </a:solidFill>
              </a:rPr>
              <a:t>stop-start motion</a:t>
            </a:r>
            <a:endParaRPr lang="en-US" sz="1200" dirty="0"/>
          </a:p>
        </p:txBody>
      </p:sp>
      <p:sp>
        <p:nvSpPr>
          <p:cNvPr id="19" name="Feature card 4"/>
          <p:cNvSpPr/>
          <p:nvPr/>
        </p:nvSpPr>
        <p:spPr>
          <a:xfrm>
            <a:off x="6446520" y="3246120"/>
            <a:ext cx="1627632" cy="987552"/>
          </a:xfrm>
          <a:prstGeom prst="roundRect">
            <a:avLst>
              <a:gd name="adj" fmla="val 11111"/>
            </a:avLst>
          </a:prstGeom>
          <a:solidFill>
            <a:schemeClr val="bg2">
              <a:alpha val="88000"/>
            </a:schemeClr>
          </a:solidFill>
          <a:ln w="9525">
            <a:solidFill>
              <a:srgbClr val="FFFFFF">
                <a:alpha val="12000"/>
              </a:srgbClr>
            </a:solidFill>
            <a:prstDash val="solid"/>
          </a:ln>
        </p:spPr>
      </p:sp>
      <p:sp>
        <p:nvSpPr>
          <p:cNvPr id="20" name="Feature name 4"/>
          <p:cNvSpPr txBox="1"/>
          <p:nvPr/>
        </p:nvSpPr>
        <p:spPr>
          <a:xfrm>
            <a:off x="6556248" y="3355848"/>
            <a:ext cx="1408176" cy="457200"/>
          </a:xfrm>
          <a:prstGeom prst="rect">
            <a:avLst/>
          </a:prstGeom>
          <a:noFill/>
          <a:ln/>
        </p:spPr>
        <p:txBody>
          <a:bodyPr wrap="square" lIns="0" tIns="0" rIns="0" bIns="0" rtlCol="0" anchor="t"/>
          <a:lstStyle/>
          <a:p>
            <a:pPr indent="0" marL="0">
              <a:buNone/>
            </a:pPr>
            <a:r>
              <a:rPr lang="en-US" sz="1400" b="1" dirty="0">
                <a:solidFill>
                  <a:schemeClr val="tx1"/>
                </a:solidFill>
              </a:rPr>
              <a:t>Stalled time</a:t>
            </a:r>
            <a:endParaRPr lang="en-US" sz="1400" dirty="0"/>
          </a:p>
        </p:txBody>
      </p:sp>
      <p:sp>
        <p:nvSpPr>
          <p:cNvPr id="21" name="Feature unit 4"/>
          <p:cNvSpPr txBox="1"/>
          <p:nvPr/>
        </p:nvSpPr>
        <p:spPr>
          <a:xfrm>
            <a:off x="6556248" y="3849624"/>
            <a:ext cx="1408176" cy="274320"/>
          </a:xfrm>
          <a:prstGeom prst="rect">
            <a:avLst/>
          </a:prstGeom>
          <a:noFill/>
          <a:ln/>
        </p:spPr>
        <p:txBody>
          <a:bodyPr wrap="square" lIns="0" tIns="0" rIns="0" bIns="0" rtlCol="0" anchor="t"/>
          <a:lstStyle/>
          <a:p>
            <a:pPr indent="0" marL="0">
              <a:buNone/>
            </a:pPr>
            <a:r>
              <a:rPr lang="en-US" sz="1200" dirty="0">
                <a:solidFill>
                  <a:schemeClr val="tx2"/>
                </a:solidFill>
              </a:rPr>
              <a:t>hesitation</a:t>
            </a:r>
            <a:endParaRPr lang="en-US" sz="1200" dirty="0"/>
          </a:p>
        </p:txBody>
      </p:sp>
      <p:sp>
        <p:nvSpPr>
          <p:cNvPr id="22" name="Feature card 5"/>
          <p:cNvSpPr/>
          <p:nvPr/>
        </p:nvSpPr>
        <p:spPr>
          <a:xfrm>
            <a:off x="8183880" y="3246120"/>
            <a:ext cx="1627632" cy="987552"/>
          </a:xfrm>
          <a:prstGeom prst="roundRect">
            <a:avLst>
              <a:gd name="adj" fmla="val 11111"/>
            </a:avLst>
          </a:prstGeom>
          <a:solidFill>
            <a:schemeClr val="bg2">
              <a:alpha val="88000"/>
            </a:schemeClr>
          </a:solidFill>
          <a:ln w="9525">
            <a:solidFill>
              <a:srgbClr val="FFFFFF">
                <a:alpha val="12000"/>
              </a:srgbClr>
            </a:solidFill>
            <a:prstDash val="solid"/>
          </a:ln>
        </p:spPr>
      </p:sp>
      <p:sp>
        <p:nvSpPr>
          <p:cNvPr id="23" name="Feature name 5"/>
          <p:cNvSpPr txBox="1"/>
          <p:nvPr/>
        </p:nvSpPr>
        <p:spPr>
          <a:xfrm>
            <a:off x="8293608" y="3355848"/>
            <a:ext cx="1408176" cy="457200"/>
          </a:xfrm>
          <a:prstGeom prst="rect">
            <a:avLst/>
          </a:prstGeom>
          <a:noFill/>
          <a:ln/>
        </p:spPr>
        <p:txBody>
          <a:bodyPr wrap="square" lIns="0" tIns="0" rIns="0" bIns="0" rtlCol="0" anchor="t"/>
          <a:lstStyle/>
          <a:p>
            <a:pPr indent="0" marL="0">
              <a:buNone/>
            </a:pPr>
            <a:r>
              <a:rPr lang="en-US" sz="1400" b="1" dirty="0">
                <a:solidFill>
                  <a:schemeClr val="tx1"/>
                </a:solidFill>
              </a:rPr>
              <a:t>Pen-up time</a:t>
            </a:r>
            <a:endParaRPr lang="en-US" sz="1400" dirty="0"/>
          </a:p>
        </p:txBody>
      </p:sp>
      <p:sp>
        <p:nvSpPr>
          <p:cNvPr id="24" name="Feature unit 5"/>
          <p:cNvSpPr txBox="1"/>
          <p:nvPr/>
        </p:nvSpPr>
        <p:spPr>
          <a:xfrm>
            <a:off x="8293608" y="3849624"/>
            <a:ext cx="1408176" cy="274320"/>
          </a:xfrm>
          <a:prstGeom prst="rect">
            <a:avLst/>
          </a:prstGeom>
          <a:noFill/>
          <a:ln/>
        </p:spPr>
        <p:txBody>
          <a:bodyPr wrap="square" lIns="0" tIns="0" rIns="0" bIns="0" rtlCol="0" anchor="t"/>
          <a:lstStyle/>
          <a:p>
            <a:pPr indent="0" marL="0">
              <a:buNone/>
            </a:pPr>
            <a:r>
              <a:rPr lang="en-US" sz="1200" dirty="0">
                <a:solidFill>
                  <a:schemeClr val="tx2"/>
                </a:solidFill>
              </a:rPr>
              <a:t>pen lifted</a:t>
            </a:r>
            <a:endParaRPr lang="en-US" sz="1200" dirty="0"/>
          </a:p>
        </p:txBody>
      </p:sp>
      <p:sp>
        <p:nvSpPr>
          <p:cNvPr id="25" name="Feature card 6"/>
          <p:cNvSpPr/>
          <p:nvPr/>
        </p:nvSpPr>
        <p:spPr>
          <a:xfrm>
            <a:off x="9921240" y="3246120"/>
            <a:ext cx="1627632" cy="987552"/>
          </a:xfrm>
          <a:prstGeom prst="roundRect">
            <a:avLst>
              <a:gd name="adj" fmla="val 11111"/>
            </a:avLst>
          </a:prstGeom>
          <a:solidFill>
            <a:schemeClr val="bg2">
              <a:alpha val="88000"/>
            </a:schemeClr>
          </a:solidFill>
          <a:ln w="9525">
            <a:solidFill>
              <a:srgbClr val="FFFFFF">
                <a:alpha val="12000"/>
              </a:srgbClr>
            </a:solidFill>
            <a:prstDash val="solid"/>
          </a:ln>
        </p:spPr>
      </p:sp>
      <p:sp>
        <p:nvSpPr>
          <p:cNvPr id="26" name="Feature name 6"/>
          <p:cNvSpPr txBox="1"/>
          <p:nvPr/>
        </p:nvSpPr>
        <p:spPr>
          <a:xfrm>
            <a:off x="10030968" y="3355848"/>
            <a:ext cx="1408176" cy="457200"/>
          </a:xfrm>
          <a:prstGeom prst="rect">
            <a:avLst/>
          </a:prstGeom>
          <a:noFill/>
          <a:ln/>
        </p:spPr>
        <p:txBody>
          <a:bodyPr wrap="square" lIns="0" tIns="0" rIns="0" bIns="0" rtlCol="0" anchor="t"/>
          <a:lstStyle/>
          <a:p>
            <a:pPr indent="0" marL="0">
              <a:buNone/>
            </a:pPr>
            <a:r>
              <a:rPr lang="en-US" sz="1400" b="1" dirty="0">
                <a:solidFill>
                  <a:schemeClr val="tx1"/>
                </a:solidFill>
              </a:rPr>
              <a:t>Speed peaks</a:t>
            </a:r>
            <a:endParaRPr lang="en-US" sz="1400" dirty="0"/>
          </a:p>
        </p:txBody>
      </p:sp>
      <p:sp>
        <p:nvSpPr>
          <p:cNvPr id="27" name="Feature unit 6"/>
          <p:cNvSpPr txBox="1"/>
          <p:nvPr/>
        </p:nvSpPr>
        <p:spPr>
          <a:xfrm>
            <a:off x="10030968" y="3849624"/>
            <a:ext cx="1408176" cy="274320"/>
          </a:xfrm>
          <a:prstGeom prst="rect">
            <a:avLst/>
          </a:prstGeom>
          <a:noFill/>
          <a:ln/>
        </p:spPr>
        <p:txBody>
          <a:bodyPr wrap="square" lIns="0" tIns="0" rIns="0" bIns="0" rtlCol="0" anchor="t"/>
          <a:lstStyle/>
          <a:p>
            <a:pPr indent="0" marL="0">
              <a:buNone/>
            </a:pPr>
            <a:r>
              <a:rPr lang="en-US" sz="1200" dirty="0">
                <a:solidFill>
                  <a:schemeClr val="tx2"/>
                </a:solidFill>
              </a:rPr>
              <a:t>fluency</a:t>
            </a:r>
            <a:endParaRPr lang="en-US" sz="1200" dirty="0"/>
          </a:p>
        </p:txBody>
      </p:sp>
      <p:sp>
        <p:nvSpPr>
          <p:cNvPr id="28" name="Feature card 7"/>
          <p:cNvSpPr/>
          <p:nvPr/>
        </p:nvSpPr>
        <p:spPr>
          <a:xfrm>
            <a:off x="6446520" y="4343400"/>
            <a:ext cx="1627632" cy="987552"/>
          </a:xfrm>
          <a:prstGeom prst="roundRect">
            <a:avLst>
              <a:gd name="adj" fmla="val 11111"/>
            </a:avLst>
          </a:prstGeom>
          <a:solidFill>
            <a:schemeClr val="bg2">
              <a:alpha val="88000"/>
            </a:schemeClr>
          </a:solidFill>
          <a:ln w="9525">
            <a:solidFill>
              <a:srgbClr val="FFFFFF">
                <a:alpha val="12000"/>
              </a:srgbClr>
            </a:solidFill>
            <a:prstDash val="solid"/>
          </a:ln>
        </p:spPr>
      </p:sp>
      <p:sp>
        <p:nvSpPr>
          <p:cNvPr id="29" name="Feature name 7"/>
          <p:cNvSpPr txBox="1"/>
          <p:nvPr/>
        </p:nvSpPr>
        <p:spPr>
          <a:xfrm>
            <a:off x="6556248" y="4453128"/>
            <a:ext cx="1408176" cy="457200"/>
          </a:xfrm>
          <a:prstGeom prst="rect">
            <a:avLst/>
          </a:prstGeom>
          <a:noFill/>
          <a:ln/>
        </p:spPr>
        <p:txBody>
          <a:bodyPr wrap="square" lIns="0" tIns="0" rIns="0" bIns="0" rtlCol="0" anchor="t"/>
          <a:lstStyle/>
          <a:p>
            <a:pPr indent="0" marL="0">
              <a:buNone/>
            </a:pPr>
            <a:r>
              <a:rPr lang="en-US" sz="1400" b="1" dirty="0">
                <a:solidFill>
                  <a:schemeClr val="tx1"/>
                </a:solidFill>
              </a:rPr>
              <a:t>Tremor</a:t>
            </a:r>
            <a:endParaRPr lang="en-US" sz="1400" dirty="0"/>
          </a:p>
        </p:txBody>
      </p:sp>
      <p:sp>
        <p:nvSpPr>
          <p:cNvPr id="30" name="Feature unit 7"/>
          <p:cNvSpPr txBox="1"/>
          <p:nvPr/>
        </p:nvSpPr>
        <p:spPr>
          <a:xfrm>
            <a:off x="6556248" y="4946904"/>
            <a:ext cx="1408176" cy="274320"/>
          </a:xfrm>
          <a:prstGeom prst="rect">
            <a:avLst/>
          </a:prstGeom>
          <a:noFill/>
          <a:ln/>
        </p:spPr>
        <p:txBody>
          <a:bodyPr wrap="square" lIns="0" tIns="0" rIns="0" bIns="0" rtlCol="0" anchor="t"/>
          <a:lstStyle/>
          <a:p>
            <a:pPr indent="0" marL="0">
              <a:buNone/>
            </a:pPr>
            <a:r>
              <a:rPr lang="en-US" sz="1200" dirty="0">
                <a:solidFill>
                  <a:schemeClr val="tx2"/>
                </a:solidFill>
              </a:rPr>
              <a:t>4–12 Hz wobble</a:t>
            </a:r>
            <a:endParaRPr lang="en-US" sz="1200" dirty="0"/>
          </a:p>
        </p:txBody>
      </p:sp>
      <p:sp>
        <p:nvSpPr>
          <p:cNvPr id="31" name="Feature card 8"/>
          <p:cNvSpPr/>
          <p:nvPr/>
        </p:nvSpPr>
        <p:spPr>
          <a:xfrm>
            <a:off x="8183880" y="4343400"/>
            <a:ext cx="1627632" cy="987552"/>
          </a:xfrm>
          <a:prstGeom prst="roundRect">
            <a:avLst>
              <a:gd name="adj" fmla="val 11111"/>
            </a:avLst>
          </a:prstGeom>
          <a:solidFill>
            <a:schemeClr val="bg2">
              <a:alpha val="88000"/>
            </a:schemeClr>
          </a:solidFill>
          <a:ln w="9525">
            <a:solidFill>
              <a:srgbClr val="FFFFFF">
                <a:alpha val="12000"/>
              </a:srgbClr>
            </a:solidFill>
            <a:prstDash val="solid"/>
          </a:ln>
        </p:spPr>
      </p:sp>
      <p:sp>
        <p:nvSpPr>
          <p:cNvPr id="32" name="Feature name 8"/>
          <p:cNvSpPr txBox="1"/>
          <p:nvPr/>
        </p:nvSpPr>
        <p:spPr>
          <a:xfrm>
            <a:off x="8293608" y="4453128"/>
            <a:ext cx="1408176" cy="457200"/>
          </a:xfrm>
          <a:prstGeom prst="rect">
            <a:avLst/>
          </a:prstGeom>
          <a:noFill/>
          <a:ln/>
        </p:spPr>
        <p:txBody>
          <a:bodyPr wrap="square" lIns="0" tIns="0" rIns="0" bIns="0" rtlCol="0" anchor="t"/>
          <a:lstStyle/>
          <a:p>
            <a:pPr indent="0" marL="0">
              <a:buNone/>
            </a:pPr>
            <a:r>
              <a:rPr lang="en-US" sz="1400" b="1" dirty="0">
                <a:solidFill>
                  <a:schemeClr val="tx1"/>
                </a:solidFill>
              </a:rPr>
              <a:t>Spiral irregularity</a:t>
            </a:r>
            <a:endParaRPr lang="en-US" sz="1400" dirty="0"/>
          </a:p>
        </p:txBody>
      </p:sp>
      <p:sp>
        <p:nvSpPr>
          <p:cNvPr id="33" name="Feature unit 8"/>
          <p:cNvSpPr txBox="1"/>
          <p:nvPr/>
        </p:nvSpPr>
        <p:spPr>
          <a:xfrm>
            <a:off x="8293608" y="4946904"/>
            <a:ext cx="1408176" cy="274320"/>
          </a:xfrm>
          <a:prstGeom prst="rect">
            <a:avLst/>
          </a:prstGeom>
          <a:noFill/>
          <a:ln/>
        </p:spPr>
        <p:txBody>
          <a:bodyPr wrap="square" lIns="0" tIns="0" rIns="0" bIns="0" rtlCol="0" anchor="t"/>
          <a:lstStyle/>
          <a:p>
            <a:pPr indent="0" marL="0">
              <a:buNone/>
            </a:pPr>
            <a:r>
              <a:rPr lang="en-US" sz="1200" dirty="0">
                <a:solidFill>
                  <a:schemeClr val="tx2"/>
                </a:solidFill>
              </a:rPr>
              <a:t>radial residual</a:t>
            </a:r>
            <a:endParaRPr lang="en-US" sz="1200" dirty="0"/>
          </a:p>
        </p:txBody>
      </p:sp>
      <p:sp>
        <p:nvSpPr>
          <p:cNvPr id="34" name="Feature card 9"/>
          <p:cNvSpPr/>
          <p:nvPr/>
        </p:nvSpPr>
        <p:spPr>
          <a:xfrm>
            <a:off x="9921240" y="4343400"/>
            <a:ext cx="1627632" cy="987552"/>
          </a:xfrm>
          <a:prstGeom prst="roundRect">
            <a:avLst>
              <a:gd name="adj" fmla="val 11111"/>
            </a:avLst>
          </a:prstGeom>
          <a:solidFill>
            <a:schemeClr val="bg2">
              <a:alpha val="88000"/>
            </a:schemeClr>
          </a:solidFill>
          <a:ln w="9525">
            <a:solidFill>
              <a:srgbClr val="FFFFFF">
                <a:alpha val="12000"/>
              </a:srgbClr>
            </a:solidFill>
            <a:prstDash val="solid"/>
          </a:ln>
        </p:spPr>
      </p:sp>
      <p:sp>
        <p:nvSpPr>
          <p:cNvPr id="35" name="Feature name 9"/>
          <p:cNvSpPr txBox="1"/>
          <p:nvPr/>
        </p:nvSpPr>
        <p:spPr>
          <a:xfrm>
            <a:off x="10030968" y="4453128"/>
            <a:ext cx="1408176" cy="457200"/>
          </a:xfrm>
          <a:prstGeom prst="rect">
            <a:avLst/>
          </a:prstGeom>
          <a:noFill/>
          <a:ln/>
        </p:spPr>
        <p:txBody>
          <a:bodyPr wrap="square" lIns="0" tIns="0" rIns="0" bIns="0" rtlCol="0" anchor="t"/>
          <a:lstStyle/>
          <a:p>
            <a:pPr indent="0" marL="0">
              <a:buNone/>
            </a:pPr>
            <a:r>
              <a:rPr lang="en-US" sz="1400" b="1" dirty="0">
                <a:solidFill>
                  <a:schemeClr val="tx1"/>
                </a:solidFill>
              </a:rPr>
              <a:t>Drawing size</a:t>
            </a:r>
            <a:endParaRPr lang="en-US" sz="1400" dirty="0"/>
          </a:p>
        </p:txBody>
      </p:sp>
      <p:sp>
        <p:nvSpPr>
          <p:cNvPr id="36" name="Feature unit 9"/>
          <p:cNvSpPr txBox="1"/>
          <p:nvPr/>
        </p:nvSpPr>
        <p:spPr>
          <a:xfrm>
            <a:off x="10030968" y="4946904"/>
            <a:ext cx="1408176" cy="274320"/>
          </a:xfrm>
          <a:prstGeom prst="rect">
            <a:avLst/>
          </a:prstGeom>
          <a:noFill/>
          <a:ln/>
        </p:spPr>
        <p:txBody>
          <a:bodyPr wrap="square" lIns="0" tIns="0" rIns="0" bIns="0" rtlCol="0" anchor="t"/>
          <a:lstStyle/>
          <a:p>
            <a:pPr indent="0" marL="0">
              <a:buNone/>
            </a:pPr>
            <a:r>
              <a:rPr lang="en-US" sz="1200" dirty="0">
                <a:solidFill>
                  <a:schemeClr val="tx2"/>
                </a:solidFill>
              </a:rPr>
              <a:t>micrographia</a:t>
            </a:r>
            <a:endParaRPr lang="en-US" sz="1200" dirty="0"/>
          </a:p>
        </p:txBody>
      </p:sp>
      <p:sp>
        <p:nvSpPr>
          <p:cNvPr id="37" name="Scale note"/>
          <p:cNvSpPr/>
          <p:nvPr/>
        </p:nvSpPr>
        <p:spPr>
          <a:xfrm>
            <a:off x="6446520" y="5486400"/>
            <a:ext cx="5193792" cy="731520"/>
          </a:xfrm>
          <a:prstGeom prst="roundRect">
            <a:avLst>
              <a:gd name="adj" fmla="val 15000"/>
            </a:avLst>
          </a:prstGeom>
          <a:solidFill>
            <a:schemeClr val="bg2">
              <a:alpha val="88000"/>
            </a:schemeClr>
          </a:solidFill>
          <a:ln w="9525">
            <a:solidFill>
              <a:srgbClr val="FFFFFF">
                <a:alpha val="12000"/>
              </a:srgbClr>
            </a:solidFill>
            <a:prstDash val="solid"/>
          </a:ln>
        </p:spPr>
      </p:sp>
      <p:sp>
        <p:nvSpPr>
          <p:cNvPr id="38" name="Scale note text"/>
          <p:cNvSpPr txBox="1"/>
          <p:nvPr/>
        </p:nvSpPr>
        <p:spPr>
          <a:xfrm>
            <a:off x="6629400" y="5486400"/>
            <a:ext cx="4846320" cy="731520"/>
          </a:xfrm>
          <a:prstGeom prst="rect">
            <a:avLst/>
          </a:prstGeom>
          <a:noFill/>
          <a:ln/>
        </p:spPr>
        <p:txBody>
          <a:bodyPr wrap="square" lIns="0" tIns="0" rIns="0" bIns="0" rtlCol="0" anchor="ctr"/>
          <a:lstStyle/>
          <a:p>
            <a:pPr indent="0" marL="0">
              <a:buNone/>
            </a:pPr>
            <a:r>
              <a:rPr lang="en-US" sz="1300" dirty="0">
                <a:solidFill>
                  <a:schemeClr val="tx1"/>
                </a:solidFill>
              </a:rPr>
              <a:t>Lengths are relative to the canvas diagonal, so screen size does not matter. A mouse or finger gives no pressure.</a:t>
            </a:r>
            <a:endParaRPr lang="en-US" sz="1300" dirty="0"/>
          </a:p>
        </p:txBody>
      </p:sp>
      <p:sp>
        <p:nvSpPr>
          <p:cNvPr id="25" name="Slide Number Placeholder 0"/>
          <p:cNvSpPr>
            <a:spLocks noGrp="1"/>
          </p:cNvSpPr>
          <p:nvPr>
            <p:ph type="sldNum" sz="quarter" idx="4294967295"/>
          </p:nvPr>
        </p:nvSpPr>
        <p:spPr>
          <a:xfrm>
            <a:off x="11064240" y="6419088"/>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E7F9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Presenter badge"/>
          <p:cNvSpPr/>
          <p:nvPr/>
        </p:nvSpPr>
        <p:spPr>
          <a:xfrm>
            <a:off x="548640" y="384048"/>
            <a:ext cx="365760" cy="365760"/>
          </a:xfrm>
          <a:prstGeom prst="ellipse">
            <a:avLst/>
          </a:prstGeom>
          <a:solidFill>
            <a:schemeClr val="accent1"/>
          </a:solidFill>
          <a:ln w="12700">
            <a:solidFill>
              <a:schemeClr val="accent1"/>
            </a:solidFill>
            <a:prstDash val="solid"/>
          </a:ln>
        </p:spPr>
      </p:sp>
      <p:sp>
        <p:nvSpPr>
          <p:cNvPr id="3" name="Presenter initials"/>
          <p:cNvSpPr txBox="1"/>
          <p:nvPr/>
        </p:nvSpPr>
        <p:spPr>
          <a:xfrm>
            <a:off x="548640" y="384048"/>
            <a:ext cx="365760" cy="365760"/>
          </a:xfrm>
          <a:prstGeom prst="rect">
            <a:avLst/>
          </a:prstGeom>
          <a:noFill/>
          <a:ln/>
        </p:spPr>
        <p:txBody>
          <a:bodyPr wrap="square" lIns="0" tIns="0" rIns="0" bIns="0" rtlCol="0" anchor="ctr"/>
          <a:lstStyle/>
          <a:p>
            <a:pPr algn="ctr" indent="0" marL="0">
              <a:buNone/>
            </a:pPr>
            <a:r>
              <a:rPr lang="en-US" sz="1100" b="1" dirty="0">
                <a:solidFill>
                  <a:schemeClr val="bg1"/>
                </a:solidFill>
              </a:rPr>
              <a:t>NH</a:t>
            </a:r>
            <a:endParaRPr lang="en-US" sz="1100" dirty="0"/>
          </a:p>
        </p:txBody>
      </p:sp>
      <p:sp>
        <p:nvSpPr>
          <p:cNvPr id="4" name="Presenter line"/>
          <p:cNvSpPr txBox="1"/>
          <p:nvPr/>
        </p:nvSpPr>
        <p:spPr>
          <a:xfrm>
            <a:off x="1051560" y="384048"/>
            <a:ext cx="9601200" cy="365760"/>
          </a:xfrm>
          <a:prstGeom prst="rect">
            <a:avLst/>
          </a:prstGeom>
          <a:noFill/>
          <a:ln/>
        </p:spPr>
        <p:txBody>
          <a:bodyPr wrap="square" lIns="0" tIns="0" rIns="0" bIns="0" rtlCol="0" anchor="ctr"/>
          <a:lstStyle/>
          <a:p>
            <a:pPr indent="0" marL="0">
              <a:buNone/>
            </a:pPr>
            <a:r>
              <a:rPr lang="en-US" sz="1200" b="1" spc="200" kern="0" dirty="0">
                <a:solidFill>
                  <a:schemeClr val="accent1"/>
                </a:solidFill>
              </a:rPr>
              <a:t>NITHYASHREE HEBBAR</a:t>
            </a:r>
            <a:pPr indent="0" marL="0">
              <a:buNone/>
            </a:pPr>
            <a:r>
              <a:rPr lang="en-US" sz="1200" dirty="0">
                <a:solidFill>
                  <a:schemeClr val="tx2"/>
                </a:solidFill>
              </a:rPr>
              <a:t>   ·   The handwriting module</a:t>
            </a:r>
            <a:endParaRPr lang="en-US" sz="1200" dirty="0"/>
          </a:p>
        </p:txBody>
      </p:sp>
      <p:sp>
        <p:nvSpPr>
          <p:cNvPr id="5" name="Text 0"/>
          <p:cNvSpPr/>
          <p:nvPr>
            <p:ph idx="100" type="title" hasCustomPrompt="1"/>
          </p:nvPr>
        </p:nvSpPr>
        <p:spPr>
          <a:xfrm>
            <a:off x="548640" y="868680"/>
            <a:ext cx="11091672" cy="731520"/>
          </a:xfrm>
          <a:prstGeom prst="rect">
            <a:avLst/>
          </a:prstGeom>
          <a:noFill/>
          <a:ln/>
        </p:spPr>
        <p:txBody>
          <a:bodyPr wrap="square" lIns="0" tIns="0" rIns="0" bIns="0" rtlCol="0" anchor="ctr"/>
          <a:lstStyle/>
          <a:p>
            <a:pPr algn="l" indent="0" marL="0">
              <a:buNone/>
            </a:pPr>
            <a:r>
              <a:rPr lang="en-US" sz="3400" b="1" dirty="0">
                <a:solidFill>
                  <a:schemeClr val="tx1"/>
                </a:solidFill>
              </a:rPr>
              <a:t>An interpretable score, with one big caveat</a:t>
            </a:r>
            <a:endParaRPr lang="en-US" sz="3400" dirty="0"/>
          </a:p>
        </p:txBody>
      </p:sp>
      <p:sp>
        <p:nvSpPr>
          <p:cNvPr id="6" name="Speed trace screenshot frame"/>
          <p:cNvSpPr/>
          <p:nvPr/>
        </p:nvSpPr>
        <p:spPr>
          <a:xfrm>
            <a:off x="548640" y="1783080"/>
            <a:ext cx="3161270" cy="4261104"/>
          </a:xfrm>
          <a:prstGeom prst="roundRect">
            <a:avLst>
              <a:gd name="adj" fmla="val 3471"/>
            </a:avLst>
          </a:prstGeom>
          <a:solidFill>
            <a:schemeClr val="bg2"/>
          </a:solidFill>
          <a:ln w="9525">
            <a:solidFill>
              <a:srgbClr val="FFFFFF">
                <a:alpha val="20000"/>
              </a:srgbClr>
            </a:solidFill>
            <a:prstDash val="solid"/>
          </a:ln>
        </p:spPr>
      </p:sp>
      <p:pic>
        <p:nvPicPr>
          <p:cNvPr id="7" name="Speed trace screenshot" descr="Screenshot: the drawing coloured by pen speed">    </p:cNvPr>
          <p:cNvPicPr>
            <a:picLocks noChangeAspect="1"/>
          </p:cNvPicPr>
          <p:nvPr/>
        </p:nvPicPr>
        <p:blipFill>
          <a:blip r:embed="rId1"/>
          <a:stretch>
            <a:fillRect/>
          </a:stretch>
        </p:blipFill>
        <p:spPr>
          <a:xfrm>
            <a:off x="621792" y="1856232"/>
            <a:ext cx="3014966" cy="4114800"/>
          </a:xfrm>
          <a:prstGeom prst="rect">
            <a:avLst/>
          </a:prstGeom>
        </p:spPr>
      </p:pic>
      <p:sp>
        <p:nvSpPr>
          <p:cNvPr id="8" name="Feature contributions screenshot frame"/>
          <p:cNvSpPr/>
          <p:nvPr/>
        </p:nvSpPr>
        <p:spPr>
          <a:xfrm>
            <a:off x="3837926" y="1783080"/>
            <a:ext cx="3161270" cy="4261104"/>
          </a:xfrm>
          <a:prstGeom prst="roundRect">
            <a:avLst>
              <a:gd name="adj" fmla="val 3471"/>
            </a:avLst>
          </a:prstGeom>
          <a:solidFill>
            <a:schemeClr val="bg2"/>
          </a:solidFill>
          <a:ln w="9525">
            <a:solidFill>
              <a:srgbClr val="FFFFFF">
                <a:alpha val="20000"/>
              </a:srgbClr>
            </a:solidFill>
            <a:prstDash val="solid"/>
          </a:ln>
        </p:spPr>
      </p:sp>
      <p:pic>
        <p:nvPicPr>
          <p:cNvPr id="9" name="Feature contributions screenshot" descr="Screenshot: bar chart of each feature's contribution to the score">    </p:cNvPr>
          <p:cNvPicPr>
            <a:picLocks noChangeAspect="1"/>
          </p:cNvPicPr>
          <p:nvPr/>
        </p:nvPicPr>
        <p:blipFill>
          <a:blip r:embed="rId2"/>
          <a:stretch>
            <a:fillRect/>
          </a:stretch>
        </p:blipFill>
        <p:spPr>
          <a:xfrm>
            <a:off x="3911078" y="1856232"/>
            <a:ext cx="3014966" cy="4114800"/>
          </a:xfrm>
          <a:prstGeom prst="rect">
            <a:avLst/>
          </a:prstGeom>
        </p:spPr>
      </p:pic>
      <p:sp>
        <p:nvSpPr>
          <p:cNvPr id="10" name="AUC stat"/>
          <p:cNvSpPr/>
          <p:nvPr/>
        </p:nvSpPr>
        <p:spPr>
          <a:xfrm>
            <a:off x="7086600" y="1783080"/>
            <a:ext cx="2194560" cy="1325880"/>
          </a:xfrm>
          <a:prstGeom prst="roundRect">
            <a:avLst>
              <a:gd name="adj" fmla="val 8276"/>
            </a:avLst>
          </a:prstGeom>
          <a:solidFill>
            <a:schemeClr val="bg2">
              <a:alpha val="88000"/>
            </a:schemeClr>
          </a:solidFill>
          <a:ln w="9525">
            <a:solidFill>
              <a:srgbClr val="FFFFFF">
                <a:alpha val="12000"/>
              </a:srgbClr>
            </a:solidFill>
            <a:prstDash val="solid"/>
          </a:ln>
        </p:spPr>
      </p:sp>
      <p:sp>
        <p:nvSpPr>
          <p:cNvPr id="11" name="AUC stat value"/>
          <p:cNvSpPr txBox="1"/>
          <p:nvPr/>
        </p:nvSpPr>
        <p:spPr>
          <a:xfrm>
            <a:off x="7315200" y="1892808"/>
            <a:ext cx="1737360" cy="689458"/>
          </a:xfrm>
          <a:prstGeom prst="rect">
            <a:avLst/>
          </a:prstGeom>
          <a:noFill/>
          <a:ln/>
        </p:spPr>
        <p:txBody>
          <a:bodyPr wrap="square" lIns="0" tIns="0" rIns="0" bIns="0" rtlCol="0" anchor="ctr"/>
          <a:lstStyle/>
          <a:p>
            <a:pPr indent="0" marL="0">
              <a:buNone/>
            </a:pPr>
            <a:r>
              <a:rPr lang="en-US" sz="3400" b="1" dirty="0">
                <a:solidFill>
                  <a:schemeClr val="accent1"/>
                </a:solidFill>
                <a:latin typeface="+mj-lt" pitchFamily="34" charset="0"/>
                <a:ea typeface="+mj-lt" pitchFamily="34" charset="-122"/>
                <a:cs typeface="+mj-lt" pitchFamily="34" charset="-120"/>
              </a:rPr>
              <a:t>0.962</a:t>
            </a:r>
            <a:endParaRPr lang="en-US" sz="3400" dirty="0"/>
          </a:p>
        </p:txBody>
      </p:sp>
      <p:sp>
        <p:nvSpPr>
          <p:cNvPr id="12" name="AUC stat label"/>
          <p:cNvSpPr txBox="1"/>
          <p:nvPr/>
        </p:nvSpPr>
        <p:spPr>
          <a:xfrm>
            <a:off x="7315200" y="2552090"/>
            <a:ext cx="1737360" cy="503834"/>
          </a:xfrm>
          <a:prstGeom prst="rect">
            <a:avLst/>
          </a:prstGeom>
          <a:noFill/>
          <a:ln/>
        </p:spPr>
        <p:txBody>
          <a:bodyPr wrap="square" lIns="0" tIns="0" rIns="0" bIns="0" rtlCol="0" anchor="t"/>
          <a:lstStyle/>
          <a:p>
            <a:pPr indent="0" marL="0">
              <a:buNone/>
            </a:pPr>
            <a:r>
              <a:rPr lang="en-US" sz="1300" dirty="0">
                <a:solidFill>
                  <a:schemeClr val="tx2"/>
                </a:solidFill>
              </a:rPr>
              <a:t>AUC · 600 held-out drawings</a:t>
            </a:r>
            <a:endParaRPr lang="en-US" sz="1300" dirty="0"/>
          </a:p>
        </p:txBody>
      </p:sp>
      <p:sp>
        <p:nvSpPr>
          <p:cNvPr id="13" name="Accuracy stat"/>
          <p:cNvSpPr/>
          <p:nvPr/>
        </p:nvSpPr>
        <p:spPr>
          <a:xfrm>
            <a:off x="9445752" y="1783080"/>
            <a:ext cx="2194560" cy="1325880"/>
          </a:xfrm>
          <a:prstGeom prst="roundRect">
            <a:avLst>
              <a:gd name="adj" fmla="val 8276"/>
            </a:avLst>
          </a:prstGeom>
          <a:solidFill>
            <a:schemeClr val="bg2">
              <a:alpha val="88000"/>
            </a:schemeClr>
          </a:solidFill>
          <a:ln w="9525">
            <a:solidFill>
              <a:srgbClr val="FFFFFF">
                <a:alpha val="12000"/>
              </a:srgbClr>
            </a:solidFill>
            <a:prstDash val="solid"/>
          </a:ln>
        </p:spPr>
      </p:sp>
      <p:sp>
        <p:nvSpPr>
          <p:cNvPr id="14" name="Accuracy stat value"/>
          <p:cNvSpPr txBox="1"/>
          <p:nvPr/>
        </p:nvSpPr>
        <p:spPr>
          <a:xfrm>
            <a:off x="9674352" y="1892808"/>
            <a:ext cx="1737360" cy="689458"/>
          </a:xfrm>
          <a:prstGeom prst="rect">
            <a:avLst/>
          </a:prstGeom>
          <a:noFill/>
          <a:ln/>
        </p:spPr>
        <p:txBody>
          <a:bodyPr wrap="square" lIns="0" tIns="0" rIns="0" bIns="0" rtlCol="0" anchor="ctr"/>
          <a:lstStyle/>
          <a:p>
            <a:pPr indent="0" marL="0">
              <a:buNone/>
            </a:pPr>
            <a:r>
              <a:rPr lang="en-US" sz="3400" b="1" dirty="0">
                <a:solidFill>
                  <a:schemeClr val="accent1"/>
                </a:solidFill>
                <a:latin typeface="+mj-lt" pitchFamily="34" charset="0"/>
                <a:ea typeface="+mj-lt" pitchFamily="34" charset="-122"/>
                <a:cs typeface="+mj-lt" pitchFamily="34" charset="-120"/>
              </a:rPr>
              <a:t>89.3%</a:t>
            </a:r>
            <a:endParaRPr lang="en-US" sz="3400" dirty="0"/>
          </a:p>
        </p:txBody>
      </p:sp>
      <p:sp>
        <p:nvSpPr>
          <p:cNvPr id="15" name="Accuracy stat label"/>
          <p:cNvSpPr txBox="1"/>
          <p:nvPr/>
        </p:nvSpPr>
        <p:spPr>
          <a:xfrm>
            <a:off x="9674352" y="2552090"/>
            <a:ext cx="1737360" cy="503834"/>
          </a:xfrm>
          <a:prstGeom prst="rect">
            <a:avLst/>
          </a:prstGeom>
          <a:noFill/>
          <a:ln/>
        </p:spPr>
        <p:txBody>
          <a:bodyPr wrap="square" lIns="0" tIns="0" rIns="0" bIns="0" rtlCol="0" anchor="t"/>
          <a:lstStyle/>
          <a:p>
            <a:pPr indent="0" marL="0">
              <a:buNone/>
            </a:pPr>
            <a:r>
              <a:rPr lang="en-US" sz="1300" dirty="0">
                <a:solidFill>
                  <a:schemeClr val="tx2"/>
                </a:solidFill>
              </a:rPr>
              <a:t>accuracy at threshold 0.5</a:t>
            </a:r>
            <a:endParaRPr lang="en-US" sz="1300" dirty="0"/>
          </a:p>
        </p:txBody>
      </p:sp>
      <p:sp>
        <p:nvSpPr>
          <p:cNvPr id="16" name="Noise chart card"/>
          <p:cNvSpPr/>
          <p:nvPr/>
        </p:nvSpPr>
        <p:spPr>
          <a:xfrm>
            <a:off x="7086600" y="3246120"/>
            <a:ext cx="4553712" cy="2468880"/>
          </a:xfrm>
          <a:prstGeom prst="roundRect">
            <a:avLst>
              <a:gd name="adj" fmla="val 4444"/>
            </a:avLst>
          </a:prstGeom>
          <a:solidFill>
            <a:schemeClr val="bg2">
              <a:alpha val="88000"/>
            </a:schemeClr>
          </a:solidFill>
          <a:ln w="9525">
            <a:solidFill>
              <a:srgbClr val="FFFFFF">
                <a:alpha val="12000"/>
              </a:srgbClr>
            </a:solidFill>
            <a:prstDash val="solid"/>
          </a:ln>
        </p:spPr>
      </p:sp>
      <p:graphicFrame>
        <p:nvGraphicFramePr>
          <p:cNvPr id="17" name="Chart 0" descr=""/>
          <p:cNvGraphicFramePr/>
          <p:nvPr/>
        </p:nvGraphicFramePr>
        <p:xfrm>
          <a:off x="7178040" y="3291840"/>
          <a:ext cx="4370832" cy="2377440"/>
        </p:xfrm>
        <a:graphic xmlns:a="http://schemas.openxmlformats.org/drawingml/2006/main">
          <a:graphicData uri="http://schemas.openxmlformats.org/drawingml/2006/chart">
            <c:chart xmlns:c="http://schemas.openxmlformats.org/drawingml/2006/chart" r:id="rId3"/>
          </a:graphicData>
        </a:graphic>
      </p:graphicFrame>
      <p:sp>
        <p:nvSpPr>
          <p:cNvPr id="18" name="Caveat card"/>
          <p:cNvSpPr/>
          <p:nvPr/>
        </p:nvSpPr>
        <p:spPr>
          <a:xfrm>
            <a:off x="7086600" y="5852160"/>
            <a:ext cx="4553712" cy="411480"/>
          </a:xfrm>
          <a:prstGeom prst="roundRect">
            <a:avLst>
              <a:gd name="adj" fmla="val 26667"/>
            </a:avLst>
          </a:prstGeom>
          <a:solidFill>
            <a:schemeClr val="accent4">
              <a:alpha val="12000"/>
            </a:schemeClr>
          </a:solidFill>
          <a:ln w="9525">
            <a:solidFill>
              <a:srgbClr val="FBBF24">
                <a:alpha val="45000"/>
              </a:srgbClr>
            </a:solidFill>
            <a:prstDash val="solid"/>
          </a:ln>
        </p:spPr>
      </p:sp>
      <p:sp>
        <p:nvSpPr>
          <p:cNvPr id="19" name="Caveat text"/>
          <p:cNvSpPr txBox="1"/>
          <p:nvPr/>
        </p:nvSpPr>
        <p:spPr>
          <a:xfrm>
            <a:off x="7223760" y="5852160"/>
            <a:ext cx="4279392" cy="411480"/>
          </a:xfrm>
          <a:prstGeom prst="rect">
            <a:avLst/>
          </a:prstGeom>
          <a:noFill/>
          <a:ln/>
        </p:spPr>
        <p:txBody>
          <a:bodyPr wrap="square" lIns="0" tIns="0" rIns="0" bIns="0" rtlCol="0" anchor="ctr"/>
          <a:lstStyle/>
          <a:p>
            <a:pPr indent="0" marL="0">
              <a:buNone/>
            </a:pPr>
            <a:r>
              <a:rPr lang="en-US" sz="1300" b="1" dirty="0">
                <a:solidFill>
                  <a:schemeClr val="tx1"/>
                </a:solidFill>
              </a:rPr>
              <a:t>Trained on simulated drawings: it learned our assumptions</a:t>
            </a:r>
            <a:endParaRPr lang="en-US" sz="1300" dirty="0"/>
          </a:p>
        </p:txBody>
      </p:sp>
      <p:sp>
        <p:nvSpPr>
          <p:cNvPr id="25" name="Slide Number Placeholder 0"/>
          <p:cNvSpPr>
            <a:spLocks noGrp="1"/>
          </p:cNvSpPr>
          <p:nvPr>
            <p:ph type="sldNum" sz="quarter" idx="4294967295"/>
          </p:nvPr>
        </p:nvSpPr>
        <p:spPr>
          <a:xfrm>
            <a:off x="11064240" y="6419088"/>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E7F9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Presenter badge"/>
          <p:cNvSpPr/>
          <p:nvPr/>
        </p:nvSpPr>
        <p:spPr>
          <a:xfrm>
            <a:off x="548640" y="384048"/>
            <a:ext cx="365760" cy="365760"/>
          </a:xfrm>
          <a:prstGeom prst="ellipse">
            <a:avLst/>
          </a:prstGeom>
          <a:solidFill>
            <a:schemeClr val="accent1"/>
          </a:solidFill>
          <a:ln w="12700">
            <a:solidFill>
              <a:schemeClr val="accent1"/>
            </a:solidFill>
            <a:prstDash val="solid"/>
          </a:ln>
        </p:spPr>
      </p:sp>
      <p:sp>
        <p:nvSpPr>
          <p:cNvPr id="3" name="Presenter initials"/>
          <p:cNvSpPr txBox="1"/>
          <p:nvPr/>
        </p:nvSpPr>
        <p:spPr>
          <a:xfrm>
            <a:off x="548640" y="384048"/>
            <a:ext cx="365760" cy="365760"/>
          </a:xfrm>
          <a:prstGeom prst="rect">
            <a:avLst/>
          </a:prstGeom>
          <a:noFill/>
          <a:ln/>
        </p:spPr>
        <p:txBody>
          <a:bodyPr wrap="square" lIns="0" tIns="0" rIns="0" bIns="0" rtlCol="0" anchor="ctr"/>
          <a:lstStyle/>
          <a:p>
            <a:pPr algn="ctr" indent="0" marL="0">
              <a:buNone/>
            </a:pPr>
            <a:r>
              <a:rPr lang="en-US" sz="1100" b="1" dirty="0">
                <a:solidFill>
                  <a:schemeClr val="bg1"/>
                </a:solidFill>
              </a:rPr>
              <a:t>AG</a:t>
            </a:r>
            <a:endParaRPr lang="en-US" sz="1100" dirty="0"/>
          </a:p>
        </p:txBody>
      </p:sp>
      <p:sp>
        <p:nvSpPr>
          <p:cNvPr id="4" name="Presenter line"/>
          <p:cNvSpPr txBox="1"/>
          <p:nvPr/>
        </p:nvSpPr>
        <p:spPr>
          <a:xfrm>
            <a:off x="1051560" y="384048"/>
            <a:ext cx="9601200" cy="365760"/>
          </a:xfrm>
          <a:prstGeom prst="rect">
            <a:avLst/>
          </a:prstGeom>
          <a:noFill/>
          <a:ln/>
        </p:spPr>
        <p:txBody>
          <a:bodyPr wrap="square" lIns="0" tIns="0" rIns="0" bIns="0" rtlCol="0" anchor="ctr"/>
          <a:lstStyle/>
          <a:p>
            <a:pPr indent="0" marL="0">
              <a:buNone/>
            </a:pPr>
            <a:r>
              <a:rPr lang="en-US" sz="1200" b="1" spc="200" kern="0" dirty="0">
                <a:solidFill>
                  <a:schemeClr val="accent1"/>
                </a:solidFill>
              </a:rPr>
              <a:t>ARSHI GARG</a:t>
            </a:r>
            <a:pPr indent="0" marL="0">
              <a:buNone/>
            </a:pPr>
            <a:r>
              <a:rPr lang="en-US" sz="1200" dirty="0">
                <a:solidFill>
                  <a:schemeClr val="tx2"/>
                </a:solidFill>
              </a:rPr>
              <a:t>   ·   Performance, limits and next steps</a:t>
            </a:r>
            <a:endParaRPr lang="en-US" sz="1200" dirty="0"/>
          </a:p>
        </p:txBody>
      </p:sp>
      <p:sp>
        <p:nvSpPr>
          <p:cNvPr id="5" name="Text 0"/>
          <p:cNvSpPr/>
          <p:nvPr>
            <p:ph idx="100" type="title" hasCustomPrompt="1"/>
          </p:nvPr>
        </p:nvSpPr>
        <p:spPr>
          <a:xfrm>
            <a:off x="548640" y="868680"/>
            <a:ext cx="11091672" cy="731520"/>
          </a:xfrm>
          <a:prstGeom prst="rect">
            <a:avLst/>
          </a:prstGeom>
          <a:noFill/>
          <a:ln/>
        </p:spPr>
        <p:txBody>
          <a:bodyPr wrap="square" lIns="0" tIns="0" rIns="0" bIns="0" rtlCol="0" anchor="ctr"/>
          <a:lstStyle/>
          <a:p>
            <a:pPr algn="l" indent="0" marL="0">
              <a:buNone/>
            </a:pPr>
            <a:r>
              <a:rPr lang="en-US" sz="3400" b="1" dirty="0">
                <a:solidFill>
                  <a:schemeClr val="tx1"/>
                </a:solidFill>
              </a:rPr>
              <a:t>Responsive on four CPU cores, with one bottleneck</a:t>
            </a:r>
            <a:endParaRPr lang="en-US" sz="3400" dirty="0"/>
          </a:p>
        </p:txBody>
      </p:sp>
      <p:sp>
        <p:nvSpPr>
          <p:cNvPr id="6" name="Latency card"/>
          <p:cNvSpPr/>
          <p:nvPr/>
        </p:nvSpPr>
        <p:spPr>
          <a:xfrm>
            <a:off x="548640" y="1783080"/>
            <a:ext cx="5120640" cy="2834640"/>
          </a:xfrm>
          <a:prstGeom prst="roundRect">
            <a:avLst>
              <a:gd name="adj" fmla="val 3871"/>
            </a:avLst>
          </a:prstGeom>
          <a:solidFill>
            <a:schemeClr val="bg2">
              <a:alpha val="88000"/>
            </a:schemeClr>
          </a:solidFill>
          <a:ln w="9525">
            <a:solidFill>
              <a:srgbClr val="FFFFFF">
                <a:alpha val="12000"/>
              </a:srgbClr>
            </a:solidFill>
            <a:prstDash val="solid"/>
          </a:ln>
        </p:spPr>
      </p:sp>
      <p:graphicFrame>
        <p:nvGraphicFramePr>
          <p:cNvPr id="7" name="Chart 0" descr=""/>
          <p:cNvGraphicFramePr/>
          <p:nvPr/>
        </p:nvGraphicFramePr>
        <p:xfrm>
          <a:off x="640080" y="1828800"/>
          <a:ext cx="4937760" cy="2743200"/>
        </p:xfrm>
        <a:graphic xmlns:a="http://schemas.openxmlformats.org/drawingml/2006/main">
          <a:graphicData uri="http://schemas.openxmlformats.org/drawingml/2006/chart">
            <c:chart xmlns:c="http://schemas.openxmlformats.org/drawingml/2006/chart" r:id="rId1"/>
          </a:graphicData>
        </a:graphic>
      </p:graphicFrame>
      <p:sp>
        <p:nvSpPr>
          <p:cNvPr id="8" name="Stat predictions"/>
          <p:cNvSpPr/>
          <p:nvPr/>
        </p:nvSpPr>
        <p:spPr>
          <a:xfrm>
            <a:off x="548640" y="4800600"/>
            <a:ext cx="1645920" cy="1417320"/>
          </a:xfrm>
          <a:prstGeom prst="roundRect">
            <a:avLst>
              <a:gd name="adj" fmla="val 7742"/>
            </a:avLst>
          </a:prstGeom>
          <a:solidFill>
            <a:schemeClr val="bg2">
              <a:alpha val="88000"/>
            </a:schemeClr>
          </a:solidFill>
          <a:ln w="9525">
            <a:solidFill>
              <a:srgbClr val="FFFFFF">
                <a:alpha val="12000"/>
              </a:srgbClr>
            </a:solidFill>
            <a:prstDash val="solid"/>
          </a:ln>
        </p:spPr>
      </p:sp>
      <p:sp>
        <p:nvSpPr>
          <p:cNvPr id="9" name="Stat predictions value"/>
          <p:cNvSpPr txBox="1"/>
          <p:nvPr/>
        </p:nvSpPr>
        <p:spPr>
          <a:xfrm>
            <a:off x="777240" y="4910328"/>
            <a:ext cx="1188720" cy="737006"/>
          </a:xfrm>
          <a:prstGeom prst="rect">
            <a:avLst/>
          </a:prstGeom>
          <a:noFill/>
          <a:ln/>
        </p:spPr>
        <p:txBody>
          <a:bodyPr wrap="square" lIns="0" tIns="0" rIns="0" bIns="0" rtlCol="0" anchor="ctr"/>
          <a:lstStyle/>
          <a:p>
            <a:pPr indent="0" marL="0">
              <a:buNone/>
            </a:pPr>
            <a:r>
              <a:rPr lang="en-US" sz="3000" b="1" dirty="0">
                <a:solidFill>
                  <a:schemeClr val="accent1"/>
                </a:solidFill>
                <a:latin typeface="+mj-lt" pitchFamily="34" charset="0"/>
                <a:ea typeface="+mj-lt" pitchFamily="34" charset="-122"/>
                <a:cs typeface="+mj-lt" pitchFamily="34" charset="-120"/>
              </a:rPr>
              <a:t>9.4</a:t>
            </a:r>
            <a:endParaRPr lang="en-US" sz="3000" dirty="0"/>
          </a:p>
        </p:txBody>
      </p:sp>
      <p:sp>
        <p:nvSpPr>
          <p:cNvPr id="10" name="Stat predictions label"/>
          <p:cNvSpPr txBox="1"/>
          <p:nvPr/>
        </p:nvSpPr>
        <p:spPr>
          <a:xfrm>
            <a:off x="777240" y="5622646"/>
            <a:ext cx="1188720" cy="538582"/>
          </a:xfrm>
          <a:prstGeom prst="rect">
            <a:avLst/>
          </a:prstGeom>
          <a:noFill/>
          <a:ln/>
        </p:spPr>
        <p:txBody>
          <a:bodyPr wrap="square" lIns="0" tIns="0" rIns="0" bIns="0" rtlCol="0" anchor="t"/>
          <a:lstStyle/>
          <a:p>
            <a:pPr indent="0" marL="0">
              <a:buNone/>
            </a:pPr>
            <a:r>
              <a:rPr lang="en-US" sz="1300" dirty="0">
                <a:solidFill>
                  <a:schemeClr val="tx2"/>
                </a:solidFill>
              </a:rPr>
              <a:t>predictions / s per worker</a:t>
            </a:r>
            <a:endParaRPr lang="en-US" sz="1300" dirty="0"/>
          </a:p>
        </p:txBody>
      </p:sp>
      <p:sp>
        <p:nvSpPr>
          <p:cNvPr id="11" name="Stat explanations"/>
          <p:cNvSpPr/>
          <p:nvPr/>
        </p:nvSpPr>
        <p:spPr>
          <a:xfrm>
            <a:off x="2286000" y="4800600"/>
            <a:ext cx="1645920" cy="1417320"/>
          </a:xfrm>
          <a:prstGeom prst="roundRect">
            <a:avLst>
              <a:gd name="adj" fmla="val 7742"/>
            </a:avLst>
          </a:prstGeom>
          <a:solidFill>
            <a:schemeClr val="bg2">
              <a:alpha val="88000"/>
            </a:schemeClr>
          </a:solidFill>
          <a:ln w="9525">
            <a:solidFill>
              <a:srgbClr val="FFFFFF">
                <a:alpha val="12000"/>
              </a:srgbClr>
            </a:solidFill>
            <a:prstDash val="solid"/>
          </a:ln>
        </p:spPr>
      </p:sp>
      <p:sp>
        <p:nvSpPr>
          <p:cNvPr id="12" name="Stat explanations value"/>
          <p:cNvSpPr txBox="1"/>
          <p:nvPr/>
        </p:nvSpPr>
        <p:spPr>
          <a:xfrm>
            <a:off x="2514600" y="4910328"/>
            <a:ext cx="1188720" cy="737006"/>
          </a:xfrm>
          <a:prstGeom prst="rect">
            <a:avLst/>
          </a:prstGeom>
          <a:noFill/>
          <a:ln/>
        </p:spPr>
        <p:txBody>
          <a:bodyPr wrap="square" lIns="0" tIns="0" rIns="0" bIns="0" rtlCol="0" anchor="ctr"/>
          <a:lstStyle/>
          <a:p>
            <a:pPr indent="0" marL="0">
              <a:buNone/>
            </a:pPr>
            <a:r>
              <a:rPr lang="en-US" sz="3000" b="1" dirty="0">
                <a:solidFill>
                  <a:schemeClr val="accent1"/>
                </a:solidFill>
                <a:latin typeface="+mj-lt" pitchFamily="34" charset="0"/>
                <a:ea typeface="+mj-lt" pitchFamily="34" charset="-122"/>
                <a:cs typeface="+mj-lt" pitchFamily="34" charset="-120"/>
              </a:rPr>
              <a:t>3.6</a:t>
            </a:r>
            <a:endParaRPr lang="en-US" sz="3000" dirty="0"/>
          </a:p>
        </p:txBody>
      </p:sp>
      <p:sp>
        <p:nvSpPr>
          <p:cNvPr id="13" name="Stat explanations label"/>
          <p:cNvSpPr txBox="1"/>
          <p:nvPr/>
        </p:nvSpPr>
        <p:spPr>
          <a:xfrm>
            <a:off x="2514600" y="5622646"/>
            <a:ext cx="1188720" cy="538582"/>
          </a:xfrm>
          <a:prstGeom prst="rect">
            <a:avLst/>
          </a:prstGeom>
          <a:noFill/>
          <a:ln/>
        </p:spPr>
        <p:txBody>
          <a:bodyPr wrap="square" lIns="0" tIns="0" rIns="0" bIns="0" rtlCol="0" anchor="t"/>
          <a:lstStyle/>
          <a:p>
            <a:pPr indent="0" marL="0">
              <a:buNone/>
            </a:pPr>
            <a:r>
              <a:rPr lang="en-US" sz="1300" dirty="0">
                <a:solidFill>
                  <a:schemeClr val="tx2"/>
                </a:solidFill>
              </a:rPr>
              <a:t>explanations / s per worker</a:t>
            </a:r>
            <a:endParaRPr lang="en-US" sz="1300" dirty="0"/>
          </a:p>
        </p:txBody>
      </p:sp>
      <p:sp>
        <p:nvSpPr>
          <p:cNvPr id="14" name="Stat cold start"/>
          <p:cNvSpPr/>
          <p:nvPr/>
        </p:nvSpPr>
        <p:spPr>
          <a:xfrm>
            <a:off x="4023360" y="4800600"/>
            <a:ext cx="1645920" cy="1417320"/>
          </a:xfrm>
          <a:prstGeom prst="roundRect">
            <a:avLst>
              <a:gd name="adj" fmla="val 7742"/>
            </a:avLst>
          </a:prstGeom>
          <a:solidFill>
            <a:schemeClr val="bg2">
              <a:alpha val="88000"/>
            </a:schemeClr>
          </a:solidFill>
          <a:ln w="9525">
            <a:solidFill>
              <a:srgbClr val="FFFFFF">
                <a:alpha val="12000"/>
              </a:srgbClr>
            </a:solidFill>
            <a:prstDash val="solid"/>
          </a:ln>
        </p:spPr>
      </p:sp>
      <p:sp>
        <p:nvSpPr>
          <p:cNvPr id="15" name="Stat cold start value"/>
          <p:cNvSpPr txBox="1"/>
          <p:nvPr/>
        </p:nvSpPr>
        <p:spPr>
          <a:xfrm>
            <a:off x="4251960" y="4910328"/>
            <a:ext cx="1188720" cy="737006"/>
          </a:xfrm>
          <a:prstGeom prst="rect">
            <a:avLst/>
          </a:prstGeom>
          <a:noFill/>
          <a:ln/>
        </p:spPr>
        <p:txBody>
          <a:bodyPr wrap="square" lIns="0" tIns="0" rIns="0" bIns="0" rtlCol="0" anchor="ctr"/>
          <a:lstStyle/>
          <a:p>
            <a:pPr indent="0" marL="0">
              <a:buNone/>
            </a:pPr>
            <a:r>
              <a:rPr lang="en-US" sz="2800" b="1" dirty="0">
                <a:solidFill>
                  <a:schemeClr val="accent1"/>
                </a:solidFill>
                <a:latin typeface="+mj-lt" pitchFamily="34" charset="0"/>
                <a:ea typeface="+mj-lt" pitchFamily="34" charset="-122"/>
                <a:cs typeface="+mj-lt" pitchFamily="34" charset="-120"/>
              </a:rPr>
              <a:t>11.6 s</a:t>
            </a:r>
            <a:endParaRPr lang="en-US" sz="2800" dirty="0"/>
          </a:p>
        </p:txBody>
      </p:sp>
      <p:sp>
        <p:nvSpPr>
          <p:cNvPr id="16" name="Stat cold start label"/>
          <p:cNvSpPr txBox="1"/>
          <p:nvPr/>
        </p:nvSpPr>
        <p:spPr>
          <a:xfrm>
            <a:off x="4251960" y="5622646"/>
            <a:ext cx="1188720" cy="538582"/>
          </a:xfrm>
          <a:prstGeom prst="rect">
            <a:avLst/>
          </a:prstGeom>
          <a:noFill/>
          <a:ln/>
        </p:spPr>
        <p:txBody>
          <a:bodyPr wrap="square" lIns="0" tIns="0" rIns="0" bIns="0" rtlCol="0" anchor="t"/>
          <a:lstStyle/>
          <a:p>
            <a:pPr indent="0" marL="0">
              <a:buNone/>
            </a:pPr>
            <a:r>
              <a:rPr lang="en-US" sz="1300" dirty="0">
                <a:solidFill>
                  <a:schemeClr val="tx2"/>
                </a:solidFill>
              </a:rPr>
              <a:t>cold start to ready</a:t>
            </a:r>
            <a:endParaRPr lang="en-US" sz="1300" dirty="0"/>
          </a:p>
        </p:txBody>
      </p:sp>
      <p:sp>
        <p:nvSpPr>
          <p:cNvPr id="17" name="Interface screenshot frame"/>
          <p:cNvSpPr/>
          <p:nvPr/>
        </p:nvSpPr>
        <p:spPr>
          <a:xfrm>
            <a:off x="6519672" y="1783080"/>
            <a:ext cx="5120640" cy="3255264"/>
          </a:xfrm>
          <a:prstGeom prst="roundRect">
            <a:avLst>
              <a:gd name="adj" fmla="val 3371"/>
            </a:avLst>
          </a:prstGeom>
          <a:solidFill>
            <a:schemeClr val="bg2"/>
          </a:solidFill>
          <a:ln w="9525">
            <a:solidFill>
              <a:srgbClr val="FFFFFF">
                <a:alpha val="20000"/>
              </a:srgbClr>
            </a:solidFill>
            <a:prstDash val="solid"/>
          </a:ln>
        </p:spPr>
      </p:sp>
      <p:pic>
        <p:nvPicPr>
          <p:cNvPr id="18" name="Interface screenshot" descr="Screenshot of a finished result: verdict, stage track, attribution slider and probabilities">    </p:cNvPr>
          <p:cNvPicPr>
            <a:picLocks noChangeAspect="1"/>
          </p:cNvPicPr>
          <p:nvPr/>
        </p:nvPicPr>
        <p:blipFill>
          <a:blip r:embed="rId2"/>
          <a:stretch>
            <a:fillRect/>
          </a:stretch>
        </p:blipFill>
        <p:spPr>
          <a:xfrm>
            <a:off x="6592824" y="1856232"/>
            <a:ext cx="4974336" cy="3108960"/>
          </a:xfrm>
          <a:prstGeom prst="rect">
            <a:avLst/>
          </a:prstGeom>
        </p:spPr>
      </p:pic>
      <p:sp>
        <p:nvSpPr>
          <p:cNvPr id="19" name="Interface caption"/>
          <p:cNvSpPr txBox="1"/>
          <p:nvPr/>
        </p:nvSpPr>
        <p:spPr>
          <a:xfrm>
            <a:off x="6592824" y="5093208"/>
            <a:ext cx="4974336" cy="274320"/>
          </a:xfrm>
          <a:prstGeom prst="rect">
            <a:avLst/>
          </a:prstGeom>
          <a:noFill/>
          <a:ln/>
        </p:spPr>
        <p:txBody>
          <a:bodyPr wrap="square" lIns="0" tIns="0" rIns="0" bIns="0" rtlCol="0" anchor="t"/>
          <a:lstStyle/>
          <a:p>
            <a:pPr indent="0" marL="0">
              <a:buNone/>
            </a:pPr>
            <a:r>
              <a:rPr lang="en-US" sz="1200" dirty="0">
                <a:solidFill>
                  <a:schemeClr val="tx2"/>
                </a:solidFill>
              </a:rPr>
              <a:t>The finished interface (real screenshot)</a:t>
            </a:r>
            <a:endParaRPr lang="en-US" sz="1200" dirty="0"/>
          </a:p>
        </p:txBody>
      </p:sp>
      <p:sp>
        <p:nvSpPr>
          <p:cNvPr id="20" name="Bottleneck note"/>
          <p:cNvSpPr/>
          <p:nvPr/>
        </p:nvSpPr>
        <p:spPr>
          <a:xfrm>
            <a:off x="6519672" y="5532120"/>
            <a:ext cx="5120640" cy="731520"/>
          </a:xfrm>
          <a:prstGeom prst="roundRect">
            <a:avLst>
              <a:gd name="adj" fmla="val 15000"/>
            </a:avLst>
          </a:prstGeom>
          <a:solidFill>
            <a:schemeClr val="accent4">
              <a:alpha val="12000"/>
            </a:schemeClr>
          </a:solidFill>
          <a:ln w="9525">
            <a:solidFill>
              <a:srgbClr val="FBBF24">
                <a:alpha val="45000"/>
              </a:srgbClr>
            </a:solidFill>
            <a:prstDash val="solid"/>
          </a:ln>
        </p:spPr>
      </p:sp>
      <p:sp>
        <p:nvSpPr>
          <p:cNvPr id="21" name="Bottleneck text"/>
          <p:cNvSpPr txBox="1"/>
          <p:nvPr/>
        </p:nvSpPr>
        <p:spPr>
          <a:xfrm>
            <a:off x="6656832" y="5532120"/>
            <a:ext cx="4846320" cy="731520"/>
          </a:xfrm>
          <a:prstGeom prst="rect">
            <a:avLst/>
          </a:prstGeom>
          <a:noFill/>
          <a:ln/>
        </p:spPr>
        <p:txBody>
          <a:bodyPr wrap="square" lIns="0" tIns="0" rIns="0" bIns="0" rtlCol="0" anchor="ctr"/>
          <a:lstStyle/>
          <a:p>
            <a:pPr indent="0" marL="0">
              <a:buNone/>
            </a:pPr>
            <a:r>
              <a:rPr lang="en-US" sz="1300" b="1" dirty="0">
                <a:solidFill>
                  <a:schemeClr val="tx1"/>
                </a:solidFill>
              </a:rPr>
              <a:t>Bottleneck: </a:t>
            </a:r>
            <a:pPr indent="0" marL="0">
              <a:buNone/>
            </a:pPr>
            <a:r>
              <a:rPr lang="en-US" sz="1300" dirty="0">
                <a:solidFill>
                  <a:schemeClr val="tx1"/>
                </a:solidFill>
              </a:rPr>
              <a:t>more clients do not add throughput; each request runs a blocking forward pass in one worker.</a:t>
            </a:r>
            <a:endParaRPr lang="en-US" sz="1300" dirty="0"/>
          </a:p>
        </p:txBody>
      </p:sp>
      <p:sp>
        <p:nvSpPr>
          <p:cNvPr id="25" name="Slide Number Placeholder 0"/>
          <p:cNvSpPr>
            <a:spLocks noGrp="1"/>
          </p:cNvSpPr>
          <p:nvPr>
            <p:ph type="sldNum" sz="quarter" idx="4294967295"/>
          </p:nvPr>
        </p:nvSpPr>
        <p:spPr>
          <a:xfrm>
            <a:off x="11064240" y="6419088"/>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E7F9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Presenter badge"/>
          <p:cNvSpPr/>
          <p:nvPr/>
        </p:nvSpPr>
        <p:spPr>
          <a:xfrm>
            <a:off x="548640" y="384048"/>
            <a:ext cx="365760" cy="365760"/>
          </a:xfrm>
          <a:prstGeom prst="ellipse">
            <a:avLst/>
          </a:prstGeom>
          <a:solidFill>
            <a:schemeClr val="accent1"/>
          </a:solidFill>
          <a:ln w="12700">
            <a:solidFill>
              <a:schemeClr val="accent1"/>
            </a:solidFill>
            <a:prstDash val="solid"/>
          </a:ln>
        </p:spPr>
      </p:sp>
      <p:sp>
        <p:nvSpPr>
          <p:cNvPr id="3" name="Presenter initials"/>
          <p:cNvSpPr txBox="1"/>
          <p:nvPr/>
        </p:nvSpPr>
        <p:spPr>
          <a:xfrm>
            <a:off x="548640" y="384048"/>
            <a:ext cx="365760" cy="365760"/>
          </a:xfrm>
          <a:prstGeom prst="rect">
            <a:avLst/>
          </a:prstGeom>
          <a:noFill/>
          <a:ln/>
        </p:spPr>
        <p:txBody>
          <a:bodyPr wrap="square" lIns="0" tIns="0" rIns="0" bIns="0" rtlCol="0" anchor="ctr"/>
          <a:lstStyle/>
          <a:p>
            <a:pPr algn="ctr" indent="0" marL="0">
              <a:buNone/>
            </a:pPr>
            <a:r>
              <a:rPr lang="en-US" sz="1100" b="1" dirty="0">
                <a:solidFill>
                  <a:schemeClr val="bg1"/>
                </a:solidFill>
              </a:rPr>
              <a:t>AG</a:t>
            </a:r>
            <a:endParaRPr lang="en-US" sz="1100" dirty="0"/>
          </a:p>
        </p:txBody>
      </p:sp>
      <p:sp>
        <p:nvSpPr>
          <p:cNvPr id="4" name="Presenter line"/>
          <p:cNvSpPr txBox="1"/>
          <p:nvPr/>
        </p:nvSpPr>
        <p:spPr>
          <a:xfrm>
            <a:off x="1051560" y="384048"/>
            <a:ext cx="9601200" cy="365760"/>
          </a:xfrm>
          <a:prstGeom prst="rect">
            <a:avLst/>
          </a:prstGeom>
          <a:noFill/>
          <a:ln/>
        </p:spPr>
        <p:txBody>
          <a:bodyPr wrap="square" lIns="0" tIns="0" rIns="0" bIns="0" rtlCol="0" anchor="ctr"/>
          <a:lstStyle/>
          <a:p>
            <a:pPr indent="0" marL="0">
              <a:buNone/>
            </a:pPr>
            <a:r>
              <a:rPr lang="en-US" sz="1200" b="1" spc="200" kern="0" dirty="0">
                <a:solidFill>
                  <a:schemeClr val="accent1"/>
                </a:solidFill>
              </a:rPr>
              <a:t>ARSHI GARG</a:t>
            </a:r>
            <a:pPr indent="0" marL="0">
              <a:buNone/>
            </a:pPr>
            <a:r>
              <a:rPr lang="en-US" sz="1200" dirty="0">
                <a:solidFill>
                  <a:schemeClr val="tx2"/>
                </a:solidFill>
              </a:rPr>
              <a:t>   ·   Performance, limits and next steps</a:t>
            </a:r>
            <a:endParaRPr lang="en-US" sz="1200" dirty="0"/>
          </a:p>
        </p:txBody>
      </p:sp>
      <p:sp>
        <p:nvSpPr>
          <p:cNvPr id="5" name="Text 0"/>
          <p:cNvSpPr/>
          <p:nvPr>
            <p:ph idx="100" type="title" hasCustomPrompt="1"/>
          </p:nvPr>
        </p:nvSpPr>
        <p:spPr>
          <a:xfrm>
            <a:off x="548640" y="868680"/>
            <a:ext cx="11091672" cy="731520"/>
          </a:xfrm>
          <a:prstGeom prst="rect">
            <a:avLst/>
          </a:prstGeom>
          <a:noFill/>
          <a:ln/>
        </p:spPr>
        <p:txBody>
          <a:bodyPr wrap="square" lIns="0" tIns="0" rIns="0" bIns="0" rtlCol="0" anchor="ctr"/>
          <a:lstStyle/>
          <a:p>
            <a:pPr algn="l" indent="0" marL="0">
              <a:buNone/>
            </a:pPr>
            <a:r>
              <a:rPr lang="en-US" sz="3400" b="1" dirty="0">
                <a:solidFill>
                  <a:schemeClr val="tx1"/>
                </a:solidFill>
              </a:rPr>
              <a:t>What we can claim, and what comes next</a:t>
            </a:r>
            <a:endParaRPr lang="en-US" sz="3400" dirty="0"/>
          </a:p>
        </p:txBody>
      </p:sp>
      <p:sp>
        <p:nvSpPr>
          <p:cNvPr id="6" name="Claim card"/>
          <p:cNvSpPr/>
          <p:nvPr/>
        </p:nvSpPr>
        <p:spPr>
          <a:xfrm>
            <a:off x="548640" y="1783080"/>
            <a:ext cx="5394960" cy="2286000"/>
          </a:xfrm>
          <a:prstGeom prst="roundRect">
            <a:avLst>
              <a:gd name="adj" fmla="val 4800"/>
            </a:avLst>
          </a:prstGeom>
          <a:solidFill>
            <a:schemeClr val="bg2">
              <a:alpha val="88000"/>
            </a:schemeClr>
          </a:solidFill>
          <a:ln w="9525">
            <a:solidFill>
              <a:srgbClr val="FFFFFF">
                <a:alpha val="12000"/>
              </a:srgbClr>
            </a:solidFill>
            <a:prstDash val="solid"/>
          </a:ln>
        </p:spPr>
      </p:sp>
      <p:sp>
        <p:nvSpPr>
          <p:cNvPr id="7" name="Claim label"/>
          <p:cNvSpPr txBox="1"/>
          <p:nvPr/>
        </p:nvSpPr>
        <p:spPr>
          <a:xfrm>
            <a:off x="822960" y="1920240"/>
            <a:ext cx="4572000" cy="274320"/>
          </a:xfrm>
          <a:prstGeom prst="rect">
            <a:avLst/>
          </a:prstGeom>
          <a:noFill/>
          <a:ln/>
        </p:spPr>
        <p:txBody>
          <a:bodyPr wrap="square" lIns="0" tIns="0" rIns="0" bIns="0" rtlCol="0" anchor="t"/>
          <a:lstStyle/>
          <a:p>
            <a:pPr indent="0" marL="0">
              <a:buNone/>
            </a:pPr>
            <a:r>
              <a:rPr lang="en-US" sz="1200" b="1" spc="300" kern="0" dirty="0">
                <a:solidFill>
                  <a:srgbClr val="34D399"/>
                </a:solidFill>
              </a:rPr>
              <a:t>WHAT WE CAN CLAIM</a:t>
            </a:r>
            <a:endParaRPr lang="en-US" sz="1200" dirty="0"/>
          </a:p>
        </p:txBody>
      </p:sp>
      <p:pic>
        <p:nvPicPr>
          <p:cNvPr id="8" name="Claim icon 1" descr="Check icon">    </p:cNvPr>
          <p:cNvPicPr>
            <a:picLocks noChangeAspect="1"/>
          </p:cNvPicPr>
          <p:nvPr/>
        </p:nvPicPr>
        <p:blipFill>
          <a:blip r:embed="rId1"/>
          <a:stretch>
            <a:fillRect/>
          </a:stretch>
        </p:blipFill>
        <p:spPr>
          <a:xfrm>
            <a:off x="822960" y="2377440"/>
            <a:ext cx="274320" cy="274320"/>
          </a:xfrm>
          <a:prstGeom prst="rect">
            <a:avLst/>
          </a:prstGeom>
        </p:spPr>
      </p:pic>
      <p:sp>
        <p:nvSpPr>
          <p:cNvPr id="9" name="Claim text 1"/>
          <p:cNvSpPr txBox="1"/>
          <p:nvPr/>
        </p:nvSpPr>
        <p:spPr>
          <a:xfrm>
            <a:off x="1234440" y="2331720"/>
            <a:ext cx="4480560" cy="365760"/>
          </a:xfrm>
          <a:prstGeom prst="rect">
            <a:avLst/>
          </a:prstGeom>
          <a:noFill/>
          <a:ln/>
        </p:spPr>
        <p:txBody>
          <a:bodyPr wrap="square" lIns="0" tIns="0" rIns="0" bIns="0" rtlCol="0" anchor="ctr"/>
          <a:lstStyle/>
          <a:p>
            <a:pPr indent="0" marL="0">
              <a:buNone/>
            </a:pPr>
            <a:r>
              <a:rPr lang="en-US" sz="1500" dirty="0">
                <a:solidFill>
                  <a:schemeClr val="tx1"/>
                </a:solidFill>
              </a:rPr>
              <a:t>Works end to end and reproduces exactly</a:t>
            </a:r>
            <a:endParaRPr lang="en-US" sz="1500" dirty="0"/>
          </a:p>
        </p:txBody>
      </p:sp>
      <p:pic>
        <p:nvPicPr>
          <p:cNvPr id="10" name="Claim icon 2" descr="Check icon">    </p:cNvPr>
          <p:cNvPicPr>
            <a:picLocks noChangeAspect="1"/>
          </p:cNvPicPr>
          <p:nvPr/>
        </p:nvPicPr>
        <p:blipFill>
          <a:blip r:embed="rId2"/>
          <a:stretch>
            <a:fillRect/>
          </a:stretch>
        </p:blipFill>
        <p:spPr>
          <a:xfrm>
            <a:off x="822960" y="2907792"/>
            <a:ext cx="274320" cy="274320"/>
          </a:xfrm>
          <a:prstGeom prst="rect">
            <a:avLst/>
          </a:prstGeom>
        </p:spPr>
      </p:pic>
      <p:sp>
        <p:nvSpPr>
          <p:cNvPr id="11" name="Claim text 2"/>
          <p:cNvSpPr txBox="1"/>
          <p:nvPr/>
        </p:nvSpPr>
        <p:spPr>
          <a:xfrm>
            <a:off x="1234440" y="2862072"/>
            <a:ext cx="4480560" cy="365760"/>
          </a:xfrm>
          <a:prstGeom prst="rect">
            <a:avLst/>
          </a:prstGeom>
          <a:noFill/>
          <a:ln/>
        </p:spPr>
        <p:txBody>
          <a:bodyPr wrap="square" lIns="0" tIns="0" rIns="0" bIns="0" rtlCol="0" anchor="ctr"/>
          <a:lstStyle/>
          <a:p>
            <a:pPr indent="0" marL="0">
              <a:buNone/>
            </a:pPr>
            <a:r>
              <a:rPr lang="en-US" sz="1500" dirty="0">
                <a:solidFill>
                  <a:schemeClr val="tx1"/>
                </a:solidFill>
              </a:rPr>
              <a:t>Handwriting explanation is exact; MRI map is checkable</a:t>
            </a:r>
            <a:endParaRPr lang="en-US" sz="1500" dirty="0"/>
          </a:p>
        </p:txBody>
      </p:sp>
      <p:pic>
        <p:nvPicPr>
          <p:cNvPr id="12" name="Claim icon 3" descr="Check icon">    </p:cNvPr>
          <p:cNvPicPr>
            <a:picLocks noChangeAspect="1"/>
          </p:cNvPicPr>
          <p:nvPr/>
        </p:nvPicPr>
        <p:blipFill>
          <a:blip r:embed="rId3"/>
          <a:stretch>
            <a:fillRect/>
          </a:stretch>
        </p:blipFill>
        <p:spPr>
          <a:xfrm>
            <a:off x="822960" y="3438144"/>
            <a:ext cx="274320" cy="274320"/>
          </a:xfrm>
          <a:prstGeom prst="rect">
            <a:avLst/>
          </a:prstGeom>
        </p:spPr>
      </p:pic>
      <p:sp>
        <p:nvSpPr>
          <p:cNvPr id="13" name="Claim text 3"/>
          <p:cNvSpPr txBox="1"/>
          <p:nvPr/>
        </p:nvSpPr>
        <p:spPr>
          <a:xfrm>
            <a:off x="1234440" y="3392424"/>
            <a:ext cx="4480560" cy="365760"/>
          </a:xfrm>
          <a:prstGeom prst="rect">
            <a:avLst/>
          </a:prstGeom>
          <a:noFill/>
          <a:ln/>
        </p:spPr>
        <p:txBody>
          <a:bodyPr wrap="square" lIns="0" tIns="0" rIns="0" bIns="0" rtlCol="0" anchor="ctr"/>
          <a:lstStyle/>
          <a:p>
            <a:pPr indent="0" marL="0">
              <a:buNone/>
            </a:pPr>
            <a:r>
              <a:rPr lang="en-US" sz="1500" dirty="0">
                <a:solidFill>
                  <a:schemeClr val="tx1"/>
                </a:solidFill>
              </a:rPr>
              <a:t>Fast enough to demo on a laptop</a:t>
            </a:r>
            <a:endParaRPr lang="en-US" sz="1500" dirty="0"/>
          </a:p>
        </p:txBody>
      </p:sp>
      <p:sp>
        <p:nvSpPr>
          <p:cNvPr id="14" name="Cannot claim card"/>
          <p:cNvSpPr/>
          <p:nvPr/>
        </p:nvSpPr>
        <p:spPr>
          <a:xfrm>
            <a:off x="548640" y="4206240"/>
            <a:ext cx="5394960" cy="2011680"/>
          </a:xfrm>
          <a:prstGeom prst="roundRect">
            <a:avLst>
              <a:gd name="adj" fmla="val 5455"/>
            </a:avLst>
          </a:prstGeom>
          <a:solidFill>
            <a:schemeClr val="bg2">
              <a:alpha val="88000"/>
            </a:schemeClr>
          </a:solidFill>
          <a:ln w="9525">
            <a:solidFill>
              <a:srgbClr val="FFFFFF">
                <a:alpha val="12000"/>
              </a:srgbClr>
            </a:solidFill>
            <a:prstDash val="solid"/>
          </a:ln>
        </p:spPr>
      </p:sp>
      <p:sp>
        <p:nvSpPr>
          <p:cNvPr id="15" name="Cannot label"/>
          <p:cNvSpPr txBox="1"/>
          <p:nvPr/>
        </p:nvSpPr>
        <p:spPr>
          <a:xfrm>
            <a:off x="822960" y="4343400"/>
            <a:ext cx="4572000" cy="274320"/>
          </a:xfrm>
          <a:prstGeom prst="rect">
            <a:avLst/>
          </a:prstGeom>
          <a:noFill/>
          <a:ln/>
        </p:spPr>
        <p:txBody>
          <a:bodyPr wrap="square" lIns="0" tIns="0" rIns="0" bIns="0" rtlCol="0" anchor="t"/>
          <a:lstStyle/>
          <a:p>
            <a:pPr indent="0" marL="0">
              <a:buNone/>
            </a:pPr>
            <a:r>
              <a:rPr lang="en-US" sz="1200" b="1" spc="300" kern="0" dirty="0">
                <a:solidFill>
                  <a:srgbClr val="FBBF24"/>
                </a:solidFill>
              </a:rPr>
              <a:t>WHAT WE CANNOT CLAIM</a:t>
            </a:r>
            <a:endParaRPr lang="en-US" sz="1200" dirty="0"/>
          </a:p>
        </p:txBody>
      </p:sp>
      <p:pic>
        <p:nvPicPr>
          <p:cNvPr id="16" name="Cannot icon 1" descr="Warning icon">    </p:cNvPr>
          <p:cNvPicPr>
            <a:picLocks noChangeAspect="1"/>
          </p:cNvPicPr>
          <p:nvPr/>
        </p:nvPicPr>
        <p:blipFill>
          <a:blip r:embed="rId4"/>
          <a:stretch>
            <a:fillRect/>
          </a:stretch>
        </p:blipFill>
        <p:spPr>
          <a:xfrm>
            <a:off x="822960" y="4773168"/>
            <a:ext cx="274320" cy="274320"/>
          </a:xfrm>
          <a:prstGeom prst="rect">
            <a:avLst/>
          </a:prstGeom>
        </p:spPr>
      </p:pic>
      <p:sp>
        <p:nvSpPr>
          <p:cNvPr id="17" name="Cannot text 1"/>
          <p:cNvSpPr txBox="1"/>
          <p:nvPr/>
        </p:nvSpPr>
        <p:spPr>
          <a:xfrm>
            <a:off x="1234440" y="4727448"/>
            <a:ext cx="4480560" cy="365760"/>
          </a:xfrm>
          <a:prstGeom prst="rect">
            <a:avLst/>
          </a:prstGeom>
          <a:noFill/>
          <a:ln/>
        </p:spPr>
        <p:txBody>
          <a:bodyPr wrap="square" lIns="0" tIns="0" rIns="0" bIns="0" rtlCol="0" anchor="ctr"/>
          <a:lstStyle/>
          <a:p>
            <a:pPr indent="0" marL="0">
              <a:buNone/>
            </a:pPr>
            <a:r>
              <a:rPr lang="en-US" sz="1400" dirty="0">
                <a:solidFill>
                  <a:schemeClr val="tx1"/>
                </a:solidFill>
              </a:rPr>
              <a:t>Clinical performance: all data are synthetic</a:t>
            </a:r>
            <a:endParaRPr lang="en-US" sz="1400" dirty="0"/>
          </a:p>
        </p:txBody>
      </p:sp>
      <p:pic>
        <p:nvPicPr>
          <p:cNvPr id="18" name="Cannot icon 2" descr="Warning icon">    </p:cNvPr>
          <p:cNvPicPr>
            <a:picLocks noChangeAspect="1"/>
          </p:cNvPicPr>
          <p:nvPr/>
        </p:nvPicPr>
        <p:blipFill>
          <a:blip r:embed="rId5"/>
          <a:stretch>
            <a:fillRect/>
          </a:stretch>
        </p:blipFill>
        <p:spPr>
          <a:xfrm>
            <a:off x="822960" y="5230368"/>
            <a:ext cx="274320" cy="274320"/>
          </a:xfrm>
          <a:prstGeom prst="rect">
            <a:avLst/>
          </a:prstGeom>
        </p:spPr>
      </p:pic>
      <p:sp>
        <p:nvSpPr>
          <p:cNvPr id="19" name="Cannot text 2"/>
          <p:cNvSpPr txBox="1"/>
          <p:nvPr/>
        </p:nvSpPr>
        <p:spPr>
          <a:xfrm>
            <a:off x="1234440" y="5184648"/>
            <a:ext cx="4480560" cy="365760"/>
          </a:xfrm>
          <a:prstGeom prst="rect">
            <a:avLst/>
          </a:prstGeom>
          <a:noFill/>
          <a:ln/>
        </p:spPr>
        <p:txBody>
          <a:bodyPr wrap="square" lIns="0" tIns="0" rIns="0" bIns="0" rtlCol="0" anchor="ctr"/>
          <a:lstStyle/>
          <a:p>
            <a:pPr indent="0" marL="0">
              <a:buNone/>
            </a:pPr>
            <a:r>
              <a:rPr lang="en-US" sz="1400" dirty="0">
                <a:solidFill>
                  <a:schemeClr val="tx1"/>
                </a:solidFill>
              </a:rPr>
              <a:t>Robustness: noise and blur break it</a:t>
            </a:r>
            <a:endParaRPr lang="en-US" sz="1400" dirty="0"/>
          </a:p>
        </p:txBody>
      </p:sp>
      <p:pic>
        <p:nvPicPr>
          <p:cNvPr id="20" name="Cannot icon 3" descr="Warning icon">    </p:cNvPr>
          <p:cNvPicPr>
            <a:picLocks noChangeAspect="1"/>
          </p:cNvPicPr>
          <p:nvPr/>
        </p:nvPicPr>
        <p:blipFill>
          <a:blip r:embed="rId6"/>
          <a:stretch>
            <a:fillRect/>
          </a:stretch>
        </p:blipFill>
        <p:spPr>
          <a:xfrm>
            <a:off x="822960" y="5687568"/>
            <a:ext cx="274320" cy="274320"/>
          </a:xfrm>
          <a:prstGeom prst="rect">
            <a:avLst/>
          </a:prstGeom>
        </p:spPr>
      </p:pic>
      <p:sp>
        <p:nvSpPr>
          <p:cNvPr id="21" name="Cannot text 3"/>
          <p:cNvSpPr txBox="1"/>
          <p:nvPr/>
        </p:nvSpPr>
        <p:spPr>
          <a:xfrm>
            <a:off x="1234440" y="5641848"/>
            <a:ext cx="4480560" cy="365760"/>
          </a:xfrm>
          <a:prstGeom prst="rect">
            <a:avLst/>
          </a:prstGeom>
          <a:noFill/>
          <a:ln/>
        </p:spPr>
        <p:txBody>
          <a:bodyPr wrap="square" lIns="0" tIns="0" rIns="0" bIns="0" rtlCol="0" anchor="ctr"/>
          <a:lstStyle/>
          <a:p>
            <a:pPr indent="0" marL="0">
              <a:buNone/>
            </a:pPr>
            <a:r>
              <a:rPr lang="en-US" sz="1400" dirty="0">
                <a:solidFill>
                  <a:schemeClr val="tx1"/>
                </a:solidFill>
              </a:rPr>
              <a:t>A trained multimodal model: the combined score is an average</a:t>
            </a:r>
            <a:endParaRPr lang="en-US" sz="1400" dirty="0"/>
          </a:p>
        </p:txBody>
      </p:sp>
      <p:sp>
        <p:nvSpPr>
          <p:cNvPr id="22" name="Next steps card"/>
          <p:cNvSpPr/>
          <p:nvPr/>
        </p:nvSpPr>
        <p:spPr>
          <a:xfrm>
            <a:off x="6172200" y="1783080"/>
            <a:ext cx="5468112" cy="4434840"/>
          </a:xfrm>
          <a:prstGeom prst="roundRect">
            <a:avLst>
              <a:gd name="adj" fmla="val 2474"/>
            </a:avLst>
          </a:prstGeom>
          <a:solidFill>
            <a:schemeClr val="bg2">
              <a:alpha val="88000"/>
            </a:schemeClr>
          </a:solidFill>
          <a:ln w="9525">
            <a:solidFill>
              <a:srgbClr val="FFFFFF">
                <a:alpha val="12000"/>
              </a:srgbClr>
            </a:solidFill>
            <a:prstDash val="solid"/>
          </a:ln>
        </p:spPr>
      </p:sp>
      <p:sp>
        <p:nvSpPr>
          <p:cNvPr id="23" name="Next label"/>
          <p:cNvSpPr txBox="1"/>
          <p:nvPr/>
        </p:nvSpPr>
        <p:spPr>
          <a:xfrm>
            <a:off x="6446520" y="1920240"/>
            <a:ext cx="4572000" cy="274320"/>
          </a:xfrm>
          <a:prstGeom prst="rect">
            <a:avLst/>
          </a:prstGeom>
          <a:noFill/>
          <a:ln/>
        </p:spPr>
        <p:txBody>
          <a:bodyPr wrap="square" lIns="0" tIns="0" rIns="0" bIns="0" rtlCol="0" anchor="t"/>
          <a:lstStyle/>
          <a:p>
            <a:pPr indent="0" marL="0">
              <a:buNone/>
            </a:pPr>
            <a:r>
              <a:rPr lang="en-US" sz="1200" b="1" spc="300" kern="0" dirty="0">
                <a:solidFill>
                  <a:schemeClr val="accent1"/>
                </a:solidFill>
              </a:rPr>
              <a:t>NEXT STEPS, IN ORDER</a:t>
            </a:r>
            <a:endParaRPr lang="en-US" sz="1200" dirty="0"/>
          </a:p>
        </p:txBody>
      </p:sp>
      <p:sp>
        <p:nvSpPr>
          <p:cNvPr id="24" name="Next dot 1"/>
          <p:cNvSpPr/>
          <p:nvPr/>
        </p:nvSpPr>
        <p:spPr>
          <a:xfrm>
            <a:off x="6446520" y="2404872"/>
            <a:ext cx="402336" cy="402336"/>
          </a:xfrm>
          <a:prstGeom prst="ellipse">
            <a:avLst/>
          </a:prstGeom>
          <a:solidFill>
            <a:schemeClr val="accent1"/>
          </a:solidFill>
          <a:ln w="12700">
            <a:solidFill>
              <a:schemeClr val="accent1"/>
            </a:solidFill>
            <a:prstDash val="solid"/>
          </a:ln>
        </p:spPr>
      </p:sp>
      <p:sp>
        <p:nvSpPr>
          <p:cNvPr id="25" name="Next number 1"/>
          <p:cNvSpPr txBox="1"/>
          <p:nvPr/>
        </p:nvSpPr>
        <p:spPr>
          <a:xfrm>
            <a:off x="6446520" y="240487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26" name="Next text 1"/>
          <p:cNvSpPr txBox="1"/>
          <p:nvPr/>
        </p:nvSpPr>
        <p:spPr>
          <a:xfrm>
            <a:off x="7040880" y="2331720"/>
            <a:ext cx="4434840" cy="548640"/>
          </a:xfrm>
          <a:prstGeom prst="rect">
            <a:avLst/>
          </a:prstGeom>
          <a:noFill/>
          <a:ln/>
        </p:spPr>
        <p:txBody>
          <a:bodyPr wrap="square" lIns="0" tIns="0" rIns="0" bIns="0" rtlCol="0" anchor="ctr"/>
          <a:lstStyle/>
          <a:p>
            <a:pPr indent="0" marL="0">
              <a:buNone/>
            </a:pPr>
            <a:r>
              <a:rPr lang="en-US" sz="1500" dirty="0">
                <a:solidFill>
                  <a:schemeClr val="tx1"/>
                </a:solidFill>
              </a:rPr>
              <a:t>Real data (ADNI, DARWIN) with subject-level splits</a:t>
            </a:r>
            <a:endParaRPr lang="en-US" sz="1500" dirty="0"/>
          </a:p>
        </p:txBody>
      </p:sp>
      <p:sp>
        <p:nvSpPr>
          <p:cNvPr id="27" name="Next dot 2"/>
          <p:cNvSpPr/>
          <p:nvPr/>
        </p:nvSpPr>
        <p:spPr>
          <a:xfrm>
            <a:off x="6446520" y="3044952"/>
            <a:ext cx="402336" cy="402336"/>
          </a:xfrm>
          <a:prstGeom prst="ellipse">
            <a:avLst/>
          </a:prstGeom>
          <a:solidFill>
            <a:schemeClr val="accent1"/>
          </a:solidFill>
          <a:ln w="12700">
            <a:solidFill>
              <a:schemeClr val="accent1"/>
            </a:solidFill>
            <a:prstDash val="solid"/>
          </a:ln>
        </p:spPr>
      </p:sp>
      <p:sp>
        <p:nvSpPr>
          <p:cNvPr id="28" name="Next number 2"/>
          <p:cNvSpPr txBox="1"/>
          <p:nvPr/>
        </p:nvSpPr>
        <p:spPr>
          <a:xfrm>
            <a:off x="6446520" y="304495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9" name="Next text 2"/>
          <p:cNvSpPr txBox="1"/>
          <p:nvPr/>
        </p:nvSpPr>
        <p:spPr>
          <a:xfrm>
            <a:off x="7040880" y="2971800"/>
            <a:ext cx="4434840" cy="548640"/>
          </a:xfrm>
          <a:prstGeom prst="rect">
            <a:avLst/>
          </a:prstGeom>
          <a:noFill/>
          <a:ln/>
        </p:spPr>
        <p:txBody>
          <a:bodyPr wrap="square" lIns="0" tIns="0" rIns="0" bIns="0" rtlCol="0" anchor="ctr"/>
          <a:lstStyle/>
          <a:p>
            <a:pPr indent="0" marL="0">
              <a:buNone/>
            </a:pPr>
            <a:r>
              <a:rPr lang="en-US" sz="1500" dirty="0">
                <a:solidFill>
                  <a:schemeClr val="tx1"/>
                </a:solidFill>
              </a:rPr>
              <a:t>Calibration and thresholds for the cost of a miss</a:t>
            </a:r>
            <a:endParaRPr lang="en-US" sz="1500" dirty="0"/>
          </a:p>
        </p:txBody>
      </p:sp>
      <p:sp>
        <p:nvSpPr>
          <p:cNvPr id="30" name="Next dot 3"/>
          <p:cNvSpPr/>
          <p:nvPr/>
        </p:nvSpPr>
        <p:spPr>
          <a:xfrm>
            <a:off x="6446520" y="3685032"/>
            <a:ext cx="402336" cy="402336"/>
          </a:xfrm>
          <a:prstGeom prst="ellipse">
            <a:avLst/>
          </a:prstGeom>
          <a:solidFill>
            <a:schemeClr val="accent1"/>
          </a:solidFill>
          <a:ln w="12700">
            <a:solidFill>
              <a:schemeClr val="accent1"/>
            </a:solidFill>
            <a:prstDash val="solid"/>
          </a:ln>
        </p:spPr>
      </p:sp>
      <p:sp>
        <p:nvSpPr>
          <p:cNvPr id="31" name="Next number 3"/>
          <p:cNvSpPr txBox="1"/>
          <p:nvPr/>
        </p:nvSpPr>
        <p:spPr>
          <a:xfrm>
            <a:off x="6446520" y="368503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32" name="Next text 3"/>
          <p:cNvSpPr txBox="1"/>
          <p:nvPr/>
        </p:nvSpPr>
        <p:spPr>
          <a:xfrm>
            <a:off x="7040880" y="3611880"/>
            <a:ext cx="4434840" cy="548640"/>
          </a:xfrm>
          <a:prstGeom prst="rect">
            <a:avLst/>
          </a:prstGeom>
          <a:noFill/>
          <a:ln/>
        </p:spPr>
        <p:txBody>
          <a:bodyPr wrap="square" lIns="0" tIns="0" rIns="0" bIns="0" rtlCol="0" anchor="ctr"/>
          <a:lstStyle/>
          <a:p>
            <a:pPr indent="0" marL="0">
              <a:buNone/>
            </a:pPr>
            <a:r>
              <a:rPr lang="en-US" sz="1500" dirty="0">
                <a:solidFill>
                  <a:schemeClr val="tx1"/>
                </a:solidFill>
              </a:rPr>
              <a:t>Robustness training: noise, blur, compression</a:t>
            </a:r>
            <a:endParaRPr lang="en-US" sz="1500" dirty="0"/>
          </a:p>
        </p:txBody>
      </p:sp>
      <p:sp>
        <p:nvSpPr>
          <p:cNvPr id="33" name="Next dot 4"/>
          <p:cNvSpPr/>
          <p:nvPr/>
        </p:nvSpPr>
        <p:spPr>
          <a:xfrm>
            <a:off x="6446520" y="4325112"/>
            <a:ext cx="402336" cy="402336"/>
          </a:xfrm>
          <a:prstGeom prst="ellipse">
            <a:avLst/>
          </a:prstGeom>
          <a:solidFill>
            <a:schemeClr val="accent1"/>
          </a:solidFill>
          <a:ln w="12700">
            <a:solidFill>
              <a:schemeClr val="accent1"/>
            </a:solidFill>
            <a:prstDash val="solid"/>
          </a:ln>
        </p:spPr>
      </p:sp>
      <p:sp>
        <p:nvSpPr>
          <p:cNvPr id="34" name="Next number 4"/>
          <p:cNvSpPr txBox="1"/>
          <p:nvPr/>
        </p:nvSpPr>
        <p:spPr>
          <a:xfrm>
            <a:off x="6446520" y="432511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35" name="Next text 4"/>
          <p:cNvSpPr txBox="1"/>
          <p:nvPr/>
        </p:nvSpPr>
        <p:spPr>
          <a:xfrm>
            <a:off x="7040880" y="4251960"/>
            <a:ext cx="4434840" cy="548640"/>
          </a:xfrm>
          <a:prstGeom prst="rect">
            <a:avLst/>
          </a:prstGeom>
          <a:noFill/>
          <a:ln/>
        </p:spPr>
        <p:txBody>
          <a:bodyPr wrap="square" lIns="0" tIns="0" rIns="0" bIns="0" rtlCol="0" anchor="ctr"/>
          <a:lstStyle/>
          <a:p>
            <a:pPr indent="0" marL="0">
              <a:buNone/>
            </a:pPr>
            <a:r>
              <a:rPr lang="en-US" sz="1500" dirty="0">
                <a:solidFill>
                  <a:schemeClr val="tx1"/>
                </a:solidFill>
              </a:rPr>
              <a:t>Faithfulness tests for the explanations</a:t>
            </a:r>
            <a:endParaRPr lang="en-US" sz="1500" dirty="0"/>
          </a:p>
        </p:txBody>
      </p:sp>
      <p:sp>
        <p:nvSpPr>
          <p:cNvPr id="36" name="Next dot 5"/>
          <p:cNvSpPr/>
          <p:nvPr/>
        </p:nvSpPr>
        <p:spPr>
          <a:xfrm>
            <a:off x="6446520" y="4965192"/>
            <a:ext cx="402336" cy="402336"/>
          </a:xfrm>
          <a:prstGeom prst="ellipse">
            <a:avLst/>
          </a:prstGeom>
          <a:solidFill>
            <a:schemeClr val="accent1"/>
          </a:solidFill>
          <a:ln w="12700">
            <a:solidFill>
              <a:schemeClr val="accent1"/>
            </a:solidFill>
            <a:prstDash val="solid"/>
          </a:ln>
        </p:spPr>
      </p:sp>
      <p:sp>
        <p:nvSpPr>
          <p:cNvPr id="37" name="Next number 5"/>
          <p:cNvSpPr txBox="1"/>
          <p:nvPr/>
        </p:nvSpPr>
        <p:spPr>
          <a:xfrm>
            <a:off x="6446520" y="496519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38" name="Next text 5"/>
          <p:cNvSpPr txBox="1"/>
          <p:nvPr/>
        </p:nvSpPr>
        <p:spPr>
          <a:xfrm>
            <a:off x="7040880" y="4892040"/>
            <a:ext cx="4434840" cy="548640"/>
          </a:xfrm>
          <a:prstGeom prst="rect">
            <a:avLst/>
          </a:prstGeom>
          <a:noFill/>
          <a:ln/>
        </p:spPr>
        <p:txBody>
          <a:bodyPr wrap="square" lIns="0" tIns="0" rIns="0" bIns="0" rtlCol="0" anchor="ctr"/>
          <a:lstStyle/>
          <a:p>
            <a:pPr indent="0" marL="0">
              <a:buNone/>
            </a:pPr>
            <a:r>
              <a:rPr lang="en-US" sz="1500" dirty="0">
                <a:solidFill>
                  <a:schemeClr val="tx1"/>
                </a:solidFill>
              </a:rPr>
              <a:t>A learned fusion once paired data exists</a:t>
            </a:r>
            <a:endParaRPr lang="en-US" sz="1500" dirty="0"/>
          </a:p>
        </p:txBody>
      </p:sp>
      <p:sp>
        <p:nvSpPr>
          <p:cNvPr id="39" name="Next dot 6"/>
          <p:cNvSpPr/>
          <p:nvPr/>
        </p:nvSpPr>
        <p:spPr>
          <a:xfrm>
            <a:off x="6446520" y="5605272"/>
            <a:ext cx="402336" cy="402336"/>
          </a:xfrm>
          <a:prstGeom prst="ellipse">
            <a:avLst/>
          </a:prstGeom>
          <a:solidFill>
            <a:schemeClr val="accent1"/>
          </a:solidFill>
          <a:ln w="12700">
            <a:solidFill>
              <a:schemeClr val="accent1"/>
            </a:solidFill>
            <a:prstDash val="solid"/>
          </a:ln>
        </p:spPr>
      </p:sp>
      <p:sp>
        <p:nvSpPr>
          <p:cNvPr id="40" name="Next number 6"/>
          <p:cNvSpPr txBox="1"/>
          <p:nvPr/>
        </p:nvSpPr>
        <p:spPr>
          <a:xfrm>
            <a:off x="6446520" y="560527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41" name="Next text 6"/>
          <p:cNvSpPr txBox="1"/>
          <p:nvPr/>
        </p:nvSpPr>
        <p:spPr>
          <a:xfrm>
            <a:off x="7040880" y="5532120"/>
            <a:ext cx="4434840" cy="548640"/>
          </a:xfrm>
          <a:prstGeom prst="rect">
            <a:avLst/>
          </a:prstGeom>
          <a:noFill/>
          <a:ln/>
        </p:spPr>
        <p:txBody>
          <a:bodyPr wrap="square" lIns="0" tIns="0" rIns="0" bIns="0" rtlCol="0" anchor="ctr"/>
          <a:lstStyle/>
          <a:p>
            <a:pPr indent="0" marL="0">
              <a:buNone/>
            </a:pPr>
            <a:r>
              <a:rPr lang="en-US" sz="1500" dirty="0">
                <a:solidFill>
                  <a:schemeClr val="tx1"/>
                </a:solidFill>
              </a:rPr>
              <a:t>Engineering: browser tests, CI, pinned versions</a:t>
            </a:r>
            <a:endParaRPr lang="en-US" sz="1500" dirty="0"/>
          </a:p>
        </p:txBody>
      </p:sp>
      <p:sp>
        <p:nvSpPr>
          <p:cNvPr id="25" name="Slide Number Placeholder 0"/>
          <p:cNvSpPr>
            <a:spLocks noGrp="1"/>
          </p:cNvSpPr>
          <p:nvPr>
            <p:ph type="sldNum" sz="quarter" idx="4294967295"/>
          </p:nvPr>
        </p:nvSpPr>
        <p:spPr>
          <a:xfrm>
            <a:off x="11064240" y="6419088"/>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E7F9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Closing title"/>
          <p:cNvSpPr txBox="1"/>
          <p:nvPr/>
        </p:nvSpPr>
        <p:spPr>
          <a:xfrm>
            <a:off x="548640" y="1371600"/>
            <a:ext cx="7315200" cy="1188720"/>
          </a:xfrm>
          <a:prstGeom prst="rect">
            <a:avLst/>
          </a:prstGeom>
          <a:noFill/>
          <a:ln/>
        </p:spPr>
        <p:txBody>
          <a:bodyPr wrap="square" lIns="0" tIns="0" rIns="0" bIns="0" rtlCol="0" anchor="ctr"/>
          <a:lstStyle/>
          <a:p>
            <a:pPr indent="0" marL="0">
              <a:buNone/>
            </a:pPr>
            <a:r>
              <a:rPr lang="en-US" sz="6000" b="1" dirty="0">
                <a:solidFill>
                  <a:schemeClr val="tx1"/>
                </a:solidFill>
                <a:latin typeface="+mj-lt" pitchFamily="34" charset="0"/>
                <a:ea typeface="+mj-lt" pitchFamily="34" charset="-122"/>
                <a:cs typeface="+mj-lt" pitchFamily="34" charset="-120"/>
              </a:rPr>
              <a:t>Thank you</a:t>
            </a:r>
            <a:endParaRPr lang="en-US" sz="6000" dirty="0"/>
          </a:p>
        </p:txBody>
      </p:sp>
      <p:sp>
        <p:nvSpPr>
          <p:cNvPr id="3" name="Closing subtitle"/>
          <p:cNvSpPr txBox="1"/>
          <p:nvPr/>
        </p:nvSpPr>
        <p:spPr>
          <a:xfrm>
            <a:off x="548640" y="2606040"/>
            <a:ext cx="7315200" cy="640080"/>
          </a:xfrm>
          <a:prstGeom prst="rect">
            <a:avLst/>
          </a:prstGeom>
          <a:noFill/>
          <a:ln/>
        </p:spPr>
        <p:txBody>
          <a:bodyPr wrap="square" lIns="0" tIns="0" rIns="0" bIns="0" rtlCol="0" anchor="t"/>
          <a:lstStyle/>
          <a:p>
            <a:pPr indent="0" marL="0">
              <a:buNone/>
            </a:pPr>
            <a:r>
              <a:rPr lang="en-US" sz="2600" dirty="0">
                <a:solidFill>
                  <a:schemeClr val="accent1"/>
                </a:solidFill>
              </a:rPr>
              <a:t>Questions, and a live demo</a:t>
            </a:r>
            <a:endParaRPr lang="en-US" sz="2600" dirty="0"/>
          </a:p>
        </p:txBody>
      </p:sp>
      <p:sp>
        <p:nvSpPr>
          <p:cNvPr id="4" name="Closing chip MS"/>
          <p:cNvSpPr/>
          <p:nvPr/>
        </p:nvSpPr>
        <p:spPr>
          <a:xfrm>
            <a:off x="548640" y="3977640"/>
            <a:ext cx="2606040" cy="502920"/>
          </a:xfrm>
          <a:prstGeom prst="roundRect">
            <a:avLst>
              <a:gd name="adj" fmla="val 49091"/>
            </a:avLst>
          </a:prstGeom>
          <a:solidFill>
            <a:schemeClr val="bg2">
              <a:alpha val="82000"/>
            </a:schemeClr>
          </a:solidFill>
          <a:ln w="9525">
            <a:solidFill>
              <a:srgbClr val="FFFFFF">
                <a:alpha val="18000"/>
              </a:srgbClr>
            </a:solidFill>
            <a:prstDash val="solid"/>
          </a:ln>
        </p:spPr>
      </p:sp>
      <p:sp>
        <p:nvSpPr>
          <p:cNvPr id="5" name="Closing name MS"/>
          <p:cNvSpPr txBox="1"/>
          <p:nvPr/>
        </p:nvSpPr>
        <p:spPr>
          <a:xfrm>
            <a:off x="731520" y="3977640"/>
            <a:ext cx="2331720" cy="502920"/>
          </a:xfrm>
          <a:prstGeom prst="rect">
            <a:avLst/>
          </a:prstGeom>
          <a:noFill/>
          <a:ln/>
        </p:spPr>
        <p:txBody>
          <a:bodyPr wrap="square" lIns="0" tIns="0" rIns="0" bIns="0" rtlCol="0" anchor="ctr"/>
          <a:lstStyle/>
          <a:p>
            <a:pPr indent="0" marL="0">
              <a:buNone/>
            </a:pPr>
            <a:r>
              <a:rPr lang="en-US" sz="1400" b="1" dirty="0">
                <a:solidFill>
                  <a:schemeClr val="tx1"/>
                </a:solidFill>
              </a:rPr>
              <a:t>Malhar Srivatsav</a:t>
            </a:r>
            <a:endParaRPr lang="en-US" sz="1400" dirty="0"/>
          </a:p>
        </p:txBody>
      </p:sp>
      <p:sp>
        <p:nvSpPr>
          <p:cNvPr id="6" name="Closing chip SB"/>
          <p:cNvSpPr/>
          <p:nvPr/>
        </p:nvSpPr>
        <p:spPr>
          <a:xfrm>
            <a:off x="3310128" y="3977640"/>
            <a:ext cx="2606040" cy="502920"/>
          </a:xfrm>
          <a:prstGeom prst="roundRect">
            <a:avLst>
              <a:gd name="adj" fmla="val 49091"/>
            </a:avLst>
          </a:prstGeom>
          <a:solidFill>
            <a:schemeClr val="bg2">
              <a:alpha val="82000"/>
            </a:schemeClr>
          </a:solidFill>
          <a:ln w="9525">
            <a:solidFill>
              <a:srgbClr val="FFFFFF">
                <a:alpha val="18000"/>
              </a:srgbClr>
            </a:solidFill>
            <a:prstDash val="solid"/>
          </a:ln>
        </p:spPr>
      </p:sp>
      <p:sp>
        <p:nvSpPr>
          <p:cNvPr id="7" name="Closing name SB"/>
          <p:cNvSpPr txBox="1"/>
          <p:nvPr/>
        </p:nvSpPr>
        <p:spPr>
          <a:xfrm>
            <a:off x="3493008" y="3977640"/>
            <a:ext cx="2331720" cy="502920"/>
          </a:xfrm>
          <a:prstGeom prst="rect">
            <a:avLst/>
          </a:prstGeom>
          <a:noFill/>
          <a:ln/>
        </p:spPr>
        <p:txBody>
          <a:bodyPr wrap="square" lIns="0" tIns="0" rIns="0" bIns="0" rtlCol="0" anchor="ctr"/>
          <a:lstStyle/>
          <a:p>
            <a:pPr indent="0" marL="0">
              <a:buNone/>
            </a:pPr>
            <a:r>
              <a:rPr lang="en-US" sz="1400" b="1" dirty="0">
                <a:solidFill>
                  <a:schemeClr val="tx1"/>
                </a:solidFill>
              </a:rPr>
              <a:t>Sathwik Hejamady Bhat</a:t>
            </a:r>
            <a:endParaRPr lang="en-US" sz="1400" dirty="0"/>
          </a:p>
        </p:txBody>
      </p:sp>
      <p:sp>
        <p:nvSpPr>
          <p:cNvPr id="8" name="Closing chip HR"/>
          <p:cNvSpPr/>
          <p:nvPr/>
        </p:nvSpPr>
        <p:spPr>
          <a:xfrm>
            <a:off x="6071616" y="3977640"/>
            <a:ext cx="2606040" cy="502920"/>
          </a:xfrm>
          <a:prstGeom prst="roundRect">
            <a:avLst>
              <a:gd name="adj" fmla="val 49091"/>
            </a:avLst>
          </a:prstGeom>
          <a:solidFill>
            <a:schemeClr val="bg2">
              <a:alpha val="82000"/>
            </a:schemeClr>
          </a:solidFill>
          <a:ln w="9525">
            <a:solidFill>
              <a:srgbClr val="FFFFFF">
                <a:alpha val="18000"/>
              </a:srgbClr>
            </a:solidFill>
            <a:prstDash val="solid"/>
          </a:ln>
        </p:spPr>
      </p:sp>
      <p:sp>
        <p:nvSpPr>
          <p:cNvPr id="9" name="Closing name HR"/>
          <p:cNvSpPr txBox="1"/>
          <p:nvPr/>
        </p:nvSpPr>
        <p:spPr>
          <a:xfrm>
            <a:off x="6254496" y="3977640"/>
            <a:ext cx="2331720" cy="502920"/>
          </a:xfrm>
          <a:prstGeom prst="rect">
            <a:avLst/>
          </a:prstGeom>
          <a:noFill/>
          <a:ln/>
        </p:spPr>
        <p:txBody>
          <a:bodyPr wrap="square" lIns="0" tIns="0" rIns="0" bIns="0" rtlCol="0" anchor="ctr"/>
          <a:lstStyle/>
          <a:p>
            <a:pPr indent="0" marL="0">
              <a:buNone/>
            </a:pPr>
            <a:r>
              <a:rPr lang="en-US" sz="1400" b="1" dirty="0">
                <a:solidFill>
                  <a:schemeClr val="tx1"/>
                </a:solidFill>
              </a:rPr>
              <a:t>Harit Raval</a:t>
            </a:r>
            <a:endParaRPr lang="en-US" sz="1400" dirty="0"/>
          </a:p>
        </p:txBody>
      </p:sp>
      <p:sp>
        <p:nvSpPr>
          <p:cNvPr id="10" name="Closing chip SJ"/>
          <p:cNvSpPr/>
          <p:nvPr/>
        </p:nvSpPr>
        <p:spPr>
          <a:xfrm>
            <a:off x="8833104" y="3977640"/>
            <a:ext cx="2606040" cy="502920"/>
          </a:xfrm>
          <a:prstGeom prst="roundRect">
            <a:avLst>
              <a:gd name="adj" fmla="val 49091"/>
            </a:avLst>
          </a:prstGeom>
          <a:solidFill>
            <a:schemeClr val="bg2">
              <a:alpha val="82000"/>
            </a:schemeClr>
          </a:solidFill>
          <a:ln w="9525">
            <a:solidFill>
              <a:srgbClr val="FFFFFF">
                <a:alpha val="18000"/>
              </a:srgbClr>
            </a:solidFill>
            <a:prstDash val="solid"/>
          </a:ln>
        </p:spPr>
      </p:sp>
      <p:sp>
        <p:nvSpPr>
          <p:cNvPr id="11" name="Closing name SJ"/>
          <p:cNvSpPr txBox="1"/>
          <p:nvPr/>
        </p:nvSpPr>
        <p:spPr>
          <a:xfrm>
            <a:off x="9015984" y="3977640"/>
            <a:ext cx="2331720" cy="502920"/>
          </a:xfrm>
          <a:prstGeom prst="rect">
            <a:avLst/>
          </a:prstGeom>
          <a:noFill/>
          <a:ln/>
        </p:spPr>
        <p:txBody>
          <a:bodyPr wrap="square" lIns="0" tIns="0" rIns="0" bIns="0" rtlCol="0" anchor="ctr"/>
          <a:lstStyle/>
          <a:p>
            <a:pPr indent="0" marL="0">
              <a:buNone/>
            </a:pPr>
            <a:r>
              <a:rPr lang="en-US" sz="1400" b="1" dirty="0">
                <a:solidFill>
                  <a:schemeClr val="tx1"/>
                </a:solidFill>
              </a:rPr>
              <a:t>Shreya Jain</a:t>
            </a:r>
            <a:endParaRPr lang="en-US" sz="1400" dirty="0"/>
          </a:p>
        </p:txBody>
      </p:sp>
      <p:sp>
        <p:nvSpPr>
          <p:cNvPr id="12" name="Closing chip TP"/>
          <p:cNvSpPr/>
          <p:nvPr/>
        </p:nvSpPr>
        <p:spPr>
          <a:xfrm>
            <a:off x="548640" y="4636008"/>
            <a:ext cx="2606040" cy="502920"/>
          </a:xfrm>
          <a:prstGeom prst="roundRect">
            <a:avLst>
              <a:gd name="adj" fmla="val 49091"/>
            </a:avLst>
          </a:prstGeom>
          <a:solidFill>
            <a:schemeClr val="bg2">
              <a:alpha val="82000"/>
            </a:schemeClr>
          </a:solidFill>
          <a:ln w="9525">
            <a:solidFill>
              <a:srgbClr val="FFFFFF">
                <a:alpha val="18000"/>
              </a:srgbClr>
            </a:solidFill>
            <a:prstDash val="solid"/>
          </a:ln>
        </p:spPr>
      </p:sp>
      <p:sp>
        <p:nvSpPr>
          <p:cNvPr id="13" name="Closing name TP"/>
          <p:cNvSpPr txBox="1"/>
          <p:nvPr/>
        </p:nvSpPr>
        <p:spPr>
          <a:xfrm>
            <a:off x="731520" y="4636008"/>
            <a:ext cx="2331720" cy="502920"/>
          </a:xfrm>
          <a:prstGeom prst="rect">
            <a:avLst/>
          </a:prstGeom>
          <a:noFill/>
          <a:ln/>
        </p:spPr>
        <p:txBody>
          <a:bodyPr wrap="square" lIns="0" tIns="0" rIns="0" bIns="0" rtlCol="0" anchor="ctr"/>
          <a:lstStyle/>
          <a:p>
            <a:pPr indent="0" marL="0">
              <a:buNone/>
            </a:pPr>
            <a:r>
              <a:rPr lang="en-US" sz="1400" b="1" dirty="0">
                <a:solidFill>
                  <a:schemeClr val="tx1"/>
                </a:solidFill>
              </a:rPr>
              <a:t>Taneesha Rajiv Prasad</a:t>
            </a:r>
            <a:endParaRPr lang="en-US" sz="1400" dirty="0"/>
          </a:p>
        </p:txBody>
      </p:sp>
      <p:sp>
        <p:nvSpPr>
          <p:cNvPr id="14" name="Closing chip NH"/>
          <p:cNvSpPr/>
          <p:nvPr/>
        </p:nvSpPr>
        <p:spPr>
          <a:xfrm>
            <a:off x="3310128" y="4636008"/>
            <a:ext cx="2606040" cy="502920"/>
          </a:xfrm>
          <a:prstGeom prst="roundRect">
            <a:avLst>
              <a:gd name="adj" fmla="val 49091"/>
            </a:avLst>
          </a:prstGeom>
          <a:solidFill>
            <a:schemeClr val="bg2">
              <a:alpha val="82000"/>
            </a:schemeClr>
          </a:solidFill>
          <a:ln w="9525">
            <a:solidFill>
              <a:srgbClr val="FFFFFF">
                <a:alpha val="18000"/>
              </a:srgbClr>
            </a:solidFill>
            <a:prstDash val="solid"/>
          </a:ln>
        </p:spPr>
      </p:sp>
      <p:sp>
        <p:nvSpPr>
          <p:cNvPr id="15" name="Closing name NH"/>
          <p:cNvSpPr txBox="1"/>
          <p:nvPr/>
        </p:nvSpPr>
        <p:spPr>
          <a:xfrm>
            <a:off x="3493008" y="4636008"/>
            <a:ext cx="2331720" cy="502920"/>
          </a:xfrm>
          <a:prstGeom prst="rect">
            <a:avLst/>
          </a:prstGeom>
          <a:noFill/>
          <a:ln/>
        </p:spPr>
        <p:txBody>
          <a:bodyPr wrap="square" lIns="0" tIns="0" rIns="0" bIns="0" rtlCol="0" anchor="ctr"/>
          <a:lstStyle/>
          <a:p>
            <a:pPr indent="0" marL="0">
              <a:buNone/>
            </a:pPr>
            <a:r>
              <a:rPr lang="en-US" sz="1400" b="1" dirty="0">
                <a:solidFill>
                  <a:schemeClr val="tx1"/>
                </a:solidFill>
              </a:rPr>
              <a:t>Nithyashree Hebbar</a:t>
            </a:r>
            <a:endParaRPr lang="en-US" sz="1400" dirty="0"/>
          </a:p>
        </p:txBody>
      </p:sp>
      <p:sp>
        <p:nvSpPr>
          <p:cNvPr id="16" name="Closing chip AG"/>
          <p:cNvSpPr/>
          <p:nvPr/>
        </p:nvSpPr>
        <p:spPr>
          <a:xfrm>
            <a:off x="6071616" y="4636008"/>
            <a:ext cx="2606040" cy="502920"/>
          </a:xfrm>
          <a:prstGeom prst="roundRect">
            <a:avLst>
              <a:gd name="adj" fmla="val 49091"/>
            </a:avLst>
          </a:prstGeom>
          <a:solidFill>
            <a:schemeClr val="bg2">
              <a:alpha val="82000"/>
            </a:schemeClr>
          </a:solidFill>
          <a:ln w="9525">
            <a:solidFill>
              <a:srgbClr val="FFFFFF">
                <a:alpha val="18000"/>
              </a:srgbClr>
            </a:solidFill>
            <a:prstDash val="solid"/>
          </a:ln>
        </p:spPr>
      </p:sp>
      <p:sp>
        <p:nvSpPr>
          <p:cNvPr id="17" name="Closing name AG"/>
          <p:cNvSpPr txBox="1"/>
          <p:nvPr/>
        </p:nvSpPr>
        <p:spPr>
          <a:xfrm>
            <a:off x="6254496" y="4636008"/>
            <a:ext cx="2331720" cy="502920"/>
          </a:xfrm>
          <a:prstGeom prst="rect">
            <a:avLst/>
          </a:prstGeom>
          <a:noFill/>
          <a:ln/>
        </p:spPr>
        <p:txBody>
          <a:bodyPr wrap="square" lIns="0" tIns="0" rIns="0" bIns="0" rtlCol="0" anchor="ctr"/>
          <a:lstStyle/>
          <a:p>
            <a:pPr indent="0" marL="0">
              <a:buNone/>
            </a:pPr>
            <a:r>
              <a:rPr lang="en-US" sz="1400" b="1" dirty="0">
                <a:solidFill>
                  <a:schemeClr val="tx1"/>
                </a:solidFill>
              </a:rPr>
              <a:t>Arshi Garg</a:t>
            </a:r>
            <a:endParaRPr lang="en-US" sz="1400" dirty="0"/>
          </a:p>
        </p:txBody>
      </p:sp>
      <p:sp>
        <p:nvSpPr>
          <p:cNvPr id="18" name="Closing disclaimer"/>
          <p:cNvSpPr txBox="1"/>
          <p:nvPr/>
        </p:nvSpPr>
        <p:spPr>
          <a:xfrm>
            <a:off x="548640" y="6172200"/>
            <a:ext cx="8229600" cy="274320"/>
          </a:xfrm>
          <a:prstGeom prst="rect">
            <a:avLst/>
          </a:prstGeom>
          <a:noFill/>
          <a:ln/>
        </p:spPr>
        <p:txBody>
          <a:bodyPr wrap="square" lIns="0" tIns="0" rIns="0" bIns="0" rtlCol="0" anchor="t"/>
          <a:lstStyle/>
          <a:p>
            <a:pPr indent="0" marL="0">
              <a:buNone/>
            </a:pPr>
            <a:r>
              <a:rPr lang="en-US" sz="1200" dirty="0">
                <a:solidFill>
                  <a:schemeClr val="tx2"/>
                </a:solidFill>
              </a:rPr>
              <a:t>Research prototype · not a medical device · all data synthetic</a:t>
            </a:r>
            <a:endParaRPr lang="en-US" sz="1200" dirty="0"/>
          </a:p>
        </p:txBody>
      </p:sp>
      <p:sp>
        <p:nvSpPr>
          <p:cNvPr id="19" name="Closing link"/>
          <p:cNvSpPr txBox="1"/>
          <p:nvPr/>
        </p:nvSpPr>
        <p:spPr>
          <a:xfrm>
            <a:off x="548640" y="6446520"/>
            <a:ext cx="8229600" cy="274320"/>
          </a:xfrm>
          <a:prstGeom prst="rect">
            <a:avLst/>
          </a:prstGeom>
          <a:noFill/>
          <a:ln/>
        </p:spPr>
        <p:txBody>
          <a:bodyPr wrap="square" lIns="0" tIns="0" rIns="0" bIns="0" rtlCol="0" anchor="t"/>
          <a:lstStyle/>
          <a:p>
            <a:pPr indent="0" marL="0">
              <a:buNone/>
            </a:pPr>
            <a:r>
              <a:rPr lang="en-US" sz="1200" dirty="0">
                <a:solidFill>
                  <a:schemeClr val="accent1"/>
                </a:solidFill>
              </a:rPr>
              <a:t>github.com/ByteSizedMe/alzheimers-early-detection</a:t>
            </a:r>
            <a:endParaRPr lang="en-US" sz="1200" dirty="0"/>
          </a:p>
        </p:txBody>
      </p:sp>
    </p:spTree>
  </p:cSld>
  <p:clrMapOvr>
    <a:masterClrMapping/>
  </p:clrMapOvr>
</p:sld>
</file>

<file path=ppt/theme/theme1.xml><?xml version="1.0" encoding="utf-8"?>
<a:theme xmlns:a="http://schemas.openxmlformats.org/drawingml/2006/main" name="NeuroAD Mauve">
  <a:themeElements>
    <a:clrScheme name="NeuroAD Mauve">
      <a:dk1>
        <a:srgbClr val="F4F1F4"/>
      </a:dk1>
      <a:lt1>
        <a:srgbClr val="0E0A0F"/>
      </a:lt1>
      <a:dk2>
        <a:srgbClr val="B3A9B4"/>
      </a:dk2>
      <a:lt2>
        <a:srgbClr val="1E1720"/>
      </a:lt2>
      <a:accent1>
        <a:srgbClr val="C99BDB"/>
      </a:accent1>
      <a:accent2>
        <a:srgbClr val="F43F5E"/>
      </a:accent2>
      <a:accent3>
        <a:srgbClr val="34D399"/>
      </a:accent3>
      <a:accent4>
        <a:srgbClr val="FBBF24"/>
      </a:accent4>
      <a:accent5>
        <a:srgbClr val="FB923C"/>
      </a:accent5>
      <a:accent6>
        <a:srgbClr val="8E7F91"/>
      </a:accent6>
      <a:hlink>
        <a:srgbClr val="C99BDB"/>
      </a:hlink>
      <a:folHlink>
        <a:srgbClr val="8E7F91"/>
      </a:folHlink>
    </a:clrScheme>
    <a:fontScheme name="NeuroAD Mauv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Early Detection of Alzheimer's from MRI and Handwriting</dc:title>
  <dc:subject>PptxGenJS Presentation</dc:subject>
  <dc:creator>Malhar Srivatsav, Sathwik Hejamady Bhat, Harit Raval, Shreya Jain, Taneesha Rajiv Prasad, Nithyashree Hebbar, Arshi Garg</dc:creator>
  <cp:lastModifiedBy>Malhar Srivatsav, Sathwik Hejamady Bhat, Harit Raval, Shreya Jain, Taneesha Rajiv Prasad, Nithyashree Hebbar, Arshi Garg</cp:lastModifiedBy>
  <cp:revision>1</cp:revision>
  <dcterms:created xsi:type="dcterms:W3CDTF">2026-10-26T12:58:32Z</dcterms:created>
  <dcterms:modified xsi:type="dcterms:W3CDTF">2026-10-26T12:58:32Z</dcterms:modified>
</cp:coreProperties>
</file>